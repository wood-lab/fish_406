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480" r:id="rId2"/>
    <p:sldId id="712" r:id="rId3"/>
    <p:sldId id="720" r:id="rId4"/>
    <p:sldId id="725" r:id="rId5"/>
    <p:sldId id="721" r:id="rId6"/>
    <p:sldId id="715" r:id="rId7"/>
    <p:sldId id="723" r:id="rId8"/>
    <p:sldId id="728" r:id="rId9"/>
    <p:sldId id="727" r:id="rId10"/>
    <p:sldId id="714" r:id="rId11"/>
    <p:sldId id="729" r:id="rId12"/>
    <p:sldId id="72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884"/>
  </p:normalViewPr>
  <p:slideViewPr>
    <p:cSldViewPr snapToGrid="0" snapToObjects="1">
      <p:cViewPr varScale="1">
        <p:scale>
          <a:sx n="110" d="100"/>
          <a:sy n="110" d="100"/>
        </p:scale>
        <p:origin x="5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C7DB66-C6D6-B24E-B345-FA3772C924EA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18707C-A528-5347-B512-111D9A722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51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55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4886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oldest proglottid.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clickable_images</a:t>
            </a:r>
            <a:r>
              <a:rPr lang="en-US" dirty="0"/>
              <a:t>/EQEMkeN9T71ynIOLZce9T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270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0505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digestive tract.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clickable_images</a:t>
            </a:r>
            <a:r>
              <a:rPr lang="en-US" dirty="0"/>
              <a:t>/dlHV7n50yg4G6HPOKxAW7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255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6450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546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D8D8-1773-E03F-15EB-5C41C181C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F61712-75FC-2EB2-F987-8B42B288DB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E55EE-D1B0-AA67-242A-6EF313D748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13B5B-4977-68AA-8486-A3E38D9BEE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98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Would you rather host an adult or a larval tapeworm? Why?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/discourses/vBIAPqZVegpH4w7WjxPPm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07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7917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646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56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38A5-77CF-4444-B9C4-4E86A2AEB4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BB0CE-1E17-7E44-A60C-C4870D474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47BE3-EFDF-DA44-AA27-F0607BEF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F08DB-758A-CE42-BF14-C796921CA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D87E2-36DD-094B-976D-5D590803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0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727-A794-4042-BF97-D4E5E255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B6DC3-C8EA-0441-8F53-7878D4469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3028-8ABF-084B-958C-E5D9B41B3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0AB7C-ECF7-2E4C-924B-4E91B62D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AA8C5-6364-1B49-BF43-8C17388D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9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9ED12-49A7-1148-AA33-34CAB4FC4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3A772-1ECD-0342-8A17-4FABBAEE7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0C112-BD32-3746-A4C3-943B604FC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27BC-3697-B548-91F3-BCBF3F5CA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7D53-D2B9-684C-96F8-BB104413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12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F2D9E-643B-7E4B-872E-9412A7003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B80E6-8617-AA4D-B46F-9CC4896C8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DB783B-B1E8-C54D-8F59-3F89A76D1D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AD1F-F077-684C-825B-C70FB96BD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75C02-EF59-8A48-A2C8-380404CF1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292BB-8AAE-DE4E-AEA5-D84CEBB0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71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F12B8-927D-3440-A90F-CEE85721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37DF9-7AE9-244A-B880-477F51666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B2535-D060-6345-9A9D-248269C2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1F656-2CF8-3C40-BFA2-38D3E456A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9AB57-D4A7-A44B-9DC2-3238EBA3F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2D1E4-9846-5948-BE81-54250E2A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27541-6DB6-BF46-9566-A28E02A60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A06EEE-891D-834D-A782-1C80536A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88B81-6CFF-BB42-B48A-62FE961F0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95E796-21ED-0646-ACBF-271AEEB75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18FDD5-F21A-134E-AA9A-2830EBC81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D440-2197-894C-BBF5-275EB6A7E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9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4E7DC6-C98E-4D41-8312-C6A00B91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7D30B3-F181-1740-9B5B-0C72FEA4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48BF8-D524-E946-A5F8-6EDB8EC65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6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8C6B-44FC-DF4B-A8BD-B9B86A46C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0512D-A868-3942-8652-3DCABEFC8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1B6CDD-B55E-CF40-A890-84FFA90C28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9B9BC-EA10-2643-91D2-3C7BEB05A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1C55D-AE82-E348-AA9F-92C25203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800D4-D451-3941-ABED-C84A7503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17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4BDC-8058-8A4C-9BB2-057FDB839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7E264-76A7-5245-B655-C26D839129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22F39-AC8F-9242-8291-F11D54004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46B85-9220-174D-9DEE-0F36C1282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13209-F023-304D-B738-0493FEA8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A32D87-2351-334C-BE56-4B8A31CE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78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FA934-82C2-4642-9056-03D6888A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B7669D-25CA-F248-A4A3-81DBDBF73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7BB9E-51D5-534F-9A5F-0DE70E1D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600DF-C942-F44F-84F3-4E7BC2F0D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AEA3C-3249-9B4A-B424-1F83C20D4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13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50C8A5-DD27-8040-BD1A-86BF1F293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36609-7FEC-1340-94C8-5409F510C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A5258-5E66-DE42-A23B-E1D3C015A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8C25B-3FDB-BD4C-8299-934B911F0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138FA-EF83-EA42-9E21-8B8892B65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35E0A7-698E-D742-A4C4-45629B74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6F1A-825E-2B4D-8FFE-066CF32E2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61E9B-BC61-3141-8DBB-53CB9EC8D6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DE3A9-9D48-7D40-AF95-520AE186EA5D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4E5A4-CAAB-9C49-8EEB-830328D99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919D9-A8E0-C542-ADA8-7A31C9A61D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679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tiff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3013501"/>
            <a:ext cx="10896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7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Cestodes 1</a:t>
            </a:r>
          </a:p>
        </p:txBody>
      </p:sp>
    </p:spTree>
    <p:extLst>
      <p:ext uri="{BB962C8B-B14F-4D97-AF65-F5344CB8AC3E}">
        <p14:creationId xmlns:p14="http://schemas.microsoft.com/office/powerpoint/2010/main" val="1116647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251645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Q1. point to the oldest proglottid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ACBA41-11B5-F54D-A1B8-5709EE3A2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700" y="3484755"/>
            <a:ext cx="35306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01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B1373-2B21-E64D-B01D-76F305B1DA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8410D8-171F-A84B-899A-B669341780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clickable_images/EQEMkeN9T71ynIOLZce9T">
            <a:extLst>
              <a:ext uri="{FF2B5EF4-FFF2-40B4-BE49-F238E27FC236}">
                <a16:creationId xmlns:a16="http://schemas.microsoft.com/office/drawing/2014/main" id="{C1D05DEE-7C43-E441-B442-EAF7B4C70F2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009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2516451"/>
            <a:ext cx="1164906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Q2. point to the digestive tract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ACBA41-11B5-F54D-A1B8-5709EE3A2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700" y="3484755"/>
            <a:ext cx="35306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299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49A87-9D4D-9445-8918-25EBE51709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B12376-02B4-AC46-8BE1-CD922360CA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clickable_images/dlHV7n50yg4G6HPOKxAW7">
            <a:extLst>
              <a:ext uri="{FF2B5EF4-FFF2-40B4-BE49-F238E27FC236}">
                <a16:creationId xmlns:a16="http://schemas.microsoft.com/office/drawing/2014/main" id="{9BA26D9A-8878-C849-9080-96876878033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644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109943"/>
            <a:ext cx="731520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Q3. the vertebrate gut as habitat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3FB4870-4B97-3F4E-8EE6-AA8CBC341DE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3"/>
          <a:stretch/>
        </p:blipFill>
        <p:spPr bwMode="auto">
          <a:xfrm>
            <a:off x="2824856" y="740885"/>
            <a:ext cx="6542287" cy="58792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60559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106028"/>
            <a:ext cx="731520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Q3. the vertebrate gut as habitat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3FB4870-4B97-3F4E-8EE6-AA8CBC341DE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3"/>
          <a:stretch/>
        </p:blipFill>
        <p:spPr bwMode="auto">
          <a:xfrm>
            <a:off x="1002777" y="778474"/>
            <a:ext cx="4934114" cy="4434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171E09D-D5B4-3440-8015-552063EAF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5111" y="1830267"/>
            <a:ext cx="5699802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600" dirty="0">
                <a:latin typeface="Avenir"/>
                <a:cs typeface="Avenir"/>
              </a:rPr>
              <a:t>Imagine you are a tapeworm. Where would you choose to live and why?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ACF7BE-A912-524C-AD45-3381DA4E8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316914"/>
            <a:ext cx="8485079" cy="147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Chelsea will put you into NEW GROUPS for discussion. You’ll write your answers on the board (5 m), then share with the class (5 m).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D70B30-0637-3040-852E-BF4B78D0FE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8183" y="5436037"/>
            <a:ext cx="3037028" cy="123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059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455F6-3D0C-EF04-59A4-1738DE745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44A0BDB-4EE2-9383-DE78-B20699DC07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70" y="2322141"/>
            <a:ext cx="1164906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4000" b="1" dirty="0">
                <a:latin typeface="Avenir"/>
                <a:cs typeface="Avenir"/>
              </a:rPr>
              <a:t>Q4. Would you rather host an adult or larval tapeworm? Why?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68157E6-BC61-6769-9A1E-24C82AE14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700" y="3770505"/>
            <a:ext cx="3530600" cy="57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575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BBA59-19ED-125B-C1FB-F938072BCB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A8563E-5811-FDB0-0E87-277E60C6F6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discourses/vBIAPqZVegpH4w7WjxPPm">
            <a:extLst>
              <a:ext uri="{FF2B5EF4-FFF2-40B4-BE49-F238E27FC236}">
                <a16:creationId xmlns:a16="http://schemas.microsoft.com/office/drawing/2014/main" id="{9AE11D0E-408A-EDE2-F405-4102AF670B8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502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190858"/>
            <a:ext cx="1164906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Q5. crowding effects?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C76115-8B07-BF49-9DDC-5F3B697CE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4588" y="5481308"/>
            <a:ext cx="3037028" cy="1234618"/>
          </a:xfrm>
          <a:prstGeom prst="rect">
            <a:avLst/>
          </a:prstGeom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14318" y="914990"/>
            <a:ext cx="4157657" cy="44012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latin typeface="Avenir"/>
                <a:cs typeface="Avenir"/>
              </a:rPr>
              <a:t>A coroner keeps track of the distributions of two (made-up) tapeworms that occupy the intestines of bodies sent for autopsy. She counts the number of tapeworms with </a:t>
            </a:r>
            <a:r>
              <a:rPr lang="en-US" sz="2000" dirty="0" err="1">
                <a:latin typeface="Avenir"/>
                <a:cs typeface="Avenir"/>
              </a:rPr>
              <a:t>scolices</a:t>
            </a:r>
            <a:r>
              <a:rPr lang="en-US" sz="2000" dirty="0">
                <a:latin typeface="Avenir"/>
                <a:cs typeface="Avenir"/>
              </a:rPr>
              <a:t> attached in different sections of the intestinal tract (jejunum -&gt; ileum -&gt; ascending colon -&gt; transverse colon -&gt; descending colon). The table shows the distribution of worms she recovers. </a:t>
            </a:r>
            <a:r>
              <a:rPr lang="en-US" sz="2000" b="1" dirty="0">
                <a:latin typeface="Avenir"/>
                <a:cs typeface="Avenir"/>
              </a:rPr>
              <a:t>Is there evidence for interspecific competition?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EC2283-F88C-4349-85F5-205E15ECA03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456"/>
          <a:stretch/>
        </p:blipFill>
        <p:spPr>
          <a:xfrm>
            <a:off x="4486316" y="1328735"/>
            <a:ext cx="7562803" cy="350043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1833D9C-3B5B-7E47-89CD-4D008960C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9834" y="5588378"/>
            <a:ext cx="84850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(5 m), discuss with a partner (5 m), then share with the class (5 m).</a:t>
            </a:r>
          </a:p>
        </p:txBody>
      </p:sp>
    </p:spTree>
    <p:extLst>
      <p:ext uri="{BB962C8B-B14F-4D97-AF65-F5344CB8AC3E}">
        <p14:creationId xmlns:p14="http://schemas.microsoft.com/office/powerpoint/2010/main" val="2066110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443FDC1-ACE2-072A-3BDB-8177D87F96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9962" y="0"/>
            <a:ext cx="6812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941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282497" y="3013501"/>
            <a:ext cx="10896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7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Cestodes 1</a:t>
            </a:r>
          </a:p>
        </p:txBody>
      </p:sp>
    </p:spTree>
    <p:extLst>
      <p:ext uri="{BB962C8B-B14F-4D97-AF65-F5344CB8AC3E}">
        <p14:creationId xmlns:p14="http://schemas.microsoft.com/office/powerpoint/2010/main" val="2699468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9064</TotalTime>
  <Words>299</Words>
  <Application>Microsoft Macintosh PowerPoint</Application>
  <PresentationFormat>Widescreen</PresentationFormat>
  <Paragraphs>30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Avenir</vt:lpstr>
      <vt:lpstr>Avenir Book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Chelsea L. Wood</dc:creator>
  <cp:lastModifiedBy>Chelsea Wood</cp:lastModifiedBy>
  <cp:revision>97</cp:revision>
  <dcterms:created xsi:type="dcterms:W3CDTF">2020-04-03T14:55:00Z</dcterms:created>
  <dcterms:modified xsi:type="dcterms:W3CDTF">2026-10-16T22:00:15Z</dcterms:modified>
</cp:coreProperties>
</file>