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480" r:id="rId2"/>
    <p:sldId id="723" r:id="rId3"/>
    <p:sldId id="712" r:id="rId4"/>
    <p:sldId id="1560" r:id="rId5"/>
    <p:sldId id="1557" r:id="rId6"/>
    <p:sldId id="15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5884"/>
  </p:normalViewPr>
  <p:slideViewPr>
    <p:cSldViewPr snapToGrid="0" snapToObjects="1">
      <p:cViewPr varScale="1">
        <p:scale>
          <a:sx n="110" d="100"/>
          <a:sy n="110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55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546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0034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Can you think of a situation where conserving biodiversity leads to reductions in the transmission of a parasite?</a:t>
            </a:r>
          </a:p>
          <a:p>
            <a:r>
              <a:rPr lang="en-US"/>
              <a:t>https://www.polleverywhere.com/discourses/v8gpj6SsDMacqfeLvR63Y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7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845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77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tiff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tiff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39635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13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Nematodes 4</a:t>
            </a: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339" y="347842"/>
            <a:ext cx="11109322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Q1. why are there so many parasites in Africa?</a:t>
            </a:r>
            <a:endParaRPr lang="en-US" sz="3500" b="1" i="1" dirty="0">
              <a:latin typeface="Avenir"/>
              <a:cs typeface="Avenir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71E09D-D5B4-3440-8015-552063EAF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2479" y="1840116"/>
            <a:ext cx="5635627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latin typeface="Avenir"/>
                <a:cs typeface="Avenir"/>
              </a:rPr>
              <a:t>At this point in the course, we’ve discussed a dozen or so parasites that are found primarily in sub-Saharan Africa. Why do there seem to be so many parasite species in Africa?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ACF7BE-A912-524C-AD45-3381DA4E8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451" y="5550137"/>
            <a:ext cx="8485079" cy="892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600" b="1" dirty="0">
                <a:latin typeface="Avenir"/>
                <a:cs typeface="Avenir"/>
              </a:rPr>
              <a:t>Write on your own (2 m), hone a final answer with your group (4 m), then share with the class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70B30-0637-3040-852E-BF4B78D0F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2470" y="5379104"/>
            <a:ext cx="3037028" cy="12346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1D6B16-1962-A44B-A2F2-664A764F22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238" y="1131059"/>
            <a:ext cx="5537248" cy="421226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3016A5A-9734-2348-8ADB-4BD14A628466}"/>
              </a:ext>
            </a:extLst>
          </p:cNvPr>
          <p:cNvSpPr/>
          <p:nvPr/>
        </p:nvSpPr>
        <p:spPr>
          <a:xfrm>
            <a:off x="183881" y="828675"/>
            <a:ext cx="659080" cy="6000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F66EFD-5875-8645-938F-B9ABA978BBD1}"/>
              </a:ext>
            </a:extLst>
          </p:cNvPr>
          <p:cNvSpPr/>
          <p:nvPr/>
        </p:nvSpPr>
        <p:spPr>
          <a:xfrm>
            <a:off x="111032" y="4821893"/>
            <a:ext cx="659080" cy="6000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059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602897"/>
            <a:ext cx="1164906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000" b="1" dirty="0">
                <a:latin typeface="Avenir"/>
                <a:cs typeface="Avenir"/>
              </a:rPr>
              <a:t>Q2. </a:t>
            </a:r>
            <a:r>
              <a:rPr lang="en-US" sz="4000" b="1" i="1" dirty="0" err="1">
                <a:latin typeface="Avenir"/>
                <a:cs typeface="Avenir"/>
              </a:rPr>
              <a:t>Onchocerca</a:t>
            </a:r>
            <a:r>
              <a:rPr lang="en-US" sz="4000" b="1" i="1" dirty="0">
                <a:latin typeface="Avenir"/>
                <a:cs typeface="Avenir"/>
              </a:rPr>
              <a:t> volvulus </a:t>
            </a:r>
            <a:r>
              <a:rPr lang="en-US" sz="4000" b="1" dirty="0">
                <a:latin typeface="Avenir"/>
                <a:cs typeface="Avenir"/>
              </a:rPr>
              <a:t>declines in abundance as deforestation increases, setting up a “win-lose” outcome for people and nature. Mega bummer. Can you think of other parasites where there is instead a ”win-win” outcome? That is, situations where conserving biodiversity leads to reductions in transmission of a parasite?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991" y="5355606"/>
            <a:ext cx="5698018" cy="922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595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27D6D-138F-2523-23B2-891BF50F1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201A51-971A-FCAA-19A5-7A427AF4C4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discourses/v8gpj6SsDMacqfeLvR63Y">
            <a:extLst>
              <a:ext uri="{FF2B5EF4-FFF2-40B4-BE49-F238E27FC236}">
                <a16:creationId xmlns:a16="http://schemas.microsoft.com/office/drawing/2014/main" id="{3534D716-C10C-42E9-AF13-D10961BB1F9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78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339" y="347842"/>
            <a:ext cx="11109322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design a study to reveal one parasite’s history</a:t>
            </a:r>
            <a:endParaRPr lang="en-US" sz="3500" b="1" i="1" dirty="0">
              <a:latin typeface="Avenir"/>
              <a:cs typeface="Avenir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71E09D-D5B4-3440-8015-552063EAF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4902" y="1208073"/>
            <a:ext cx="7093217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latin typeface="Avenir"/>
                <a:cs typeface="Avenir"/>
              </a:rPr>
              <a:t>At this point in the course, we’ve discussed several parasites that were introduced into Latin America from Africa during the Atlantic slave trade. What we haven’t talked about is the </a:t>
            </a:r>
            <a:r>
              <a:rPr lang="en-US" sz="2800" b="1" dirty="0">
                <a:latin typeface="Avenir"/>
                <a:cs typeface="Avenir"/>
              </a:rPr>
              <a:t>evidence for this</a:t>
            </a:r>
            <a:r>
              <a:rPr lang="en-US" sz="2800" dirty="0">
                <a:latin typeface="Avenir"/>
                <a:cs typeface="Avenir"/>
              </a:rPr>
              <a:t>.</a:t>
            </a:r>
          </a:p>
          <a:p>
            <a:pPr>
              <a:defRPr/>
            </a:pPr>
            <a:endParaRPr lang="en-US" sz="2800" dirty="0">
              <a:latin typeface="Avenir"/>
              <a:cs typeface="Avenir"/>
            </a:endParaRPr>
          </a:p>
          <a:p>
            <a:pPr>
              <a:defRPr/>
            </a:pPr>
            <a:r>
              <a:rPr lang="en-US" sz="2800" dirty="0">
                <a:latin typeface="Avenir"/>
                <a:cs typeface="Avenir"/>
              </a:rPr>
              <a:t>How would you test whether </a:t>
            </a:r>
            <a:r>
              <a:rPr lang="en-US" sz="2800" i="1" dirty="0" err="1">
                <a:latin typeface="Avenir"/>
                <a:cs typeface="Avenir"/>
              </a:rPr>
              <a:t>Onchocerca</a:t>
            </a:r>
            <a:r>
              <a:rPr lang="en-US" sz="2800" i="1" dirty="0">
                <a:latin typeface="Avenir"/>
                <a:cs typeface="Avenir"/>
              </a:rPr>
              <a:t> volvulus</a:t>
            </a:r>
            <a:r>
              <a:rPr lang="en-US" sz="2800" dirty="0">
                <a:latin typeface="Avenir"/>
                <a:cs typeface="Avenir"/>
              </a:rPr>
              <a:t> was introduced into Latin America via the Atlantic slave trade?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ACF7BE-A912-524C-AD45-3381DA4E8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451" y="5578713"/>
            <a:ext cx="8485079" cy="892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600" b="1" dirty="0">
                <a:latin typeface="Avenir"/>
                <a:cs typeface="Avenir"/>
              </a:rPr>
              <a:t>Write on your </a:t>
            </a:r>
            <a:r>
              <a:rPr lang="en-US" sz="2600" b="1">
                <a:latin typeface="Avenir"/>
                <a:cs typeface="Avenir"/>
              </a:rPr>
              <a:t>own (2 </a:t>
            </a:r>
            <a:r>
              <a:rPr lang="en-US" sz="2600" b="1" dirty="0">
                <a:latin typeface="Avenir"/>
                <a:cs typeface="Avenir"/>
              </a:rPr>
              <a:t>m), hone a final answer with your </a:t>
            </a:r>
            <a:r>
              <a:rPr lang="en-US" sz="2600" b="1">
                <a:latin typeface="Avenir"/>
                <a:cs typeface="Avenir"/>
              </a:rPr>
              <a:t>group (4 </a:t>
            </a:r>
            <a:r>
              <a:rPr lang="en-US" sz="2600" b="1" dirty="0">
                <a:latin typeface="Avenir"/>
                <a:cs typeface="Avenir"/>
              </a:rPr>
              <a:t>m), then share with the class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70B30-0637-3040-852E-BF4B78D0F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2470" y="5407680"/>
            <a:ext cx="3037028" cy="12346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7192D29-8D3F-4747-982A-AAB767559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70" y="1584776"/>
            <a:ext cx="4330968" cy="32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789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39635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13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Nematodes 4</a:t>
            </a:r>
          </a:p>
        </p:txBody>
      </p:sp>
    </p:spTree>
    <p:extLst>
      <p:ext uri="{BB962C8B-B14F-4D97-AF65-F5344CB8AC3E}">
        <p14:creationId xmlns:p14="http://schemas.microsoft.com/office/powerpoint/2010/main" val="2130188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7701</TotalTime>
  <Words>298</Words>
  <Application>Microsoft Macintosh PowerPoint</Application>
  <PresentationFormat>Widescreen</PresentationFormat>
  <Paragraphs>19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Avenir</vt:lpstr>
      <vt:lpstr>Avenir Book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143</cp:revision>
  <dcterms:created xsi:type="dcterms:W3CDTF">2020-04-03T14:55:00Z</dcterms:created>
  <dcterms:modified xsi:type="dcterms:W3CDTF">2026-10-30T18:41:40Z</dcterms:modified>
</cp:coreProperties>
</file>