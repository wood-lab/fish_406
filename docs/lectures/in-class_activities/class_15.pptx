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80" r:id="rId2"/>
    <p:sldId id="723" r:id="rId3"/>
    <p:sldId id="712" r:id="rId4"/>
    <p:sldId id="1561" r:id="rId5"/>
    <p:sldId id="1562" r:id="rId6"/>
    <p:sldId id="1563" r:id="rId7"/>
    <p:sldId id="1564" r:id="rId8"/>
    <p:sldId id="1557" r:id="rId9"/>
    <p:sldId id="15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84"/>
  </p:normalViewPr>
  <p:slideViewPr>
    <p:cSldViewPr snapToGrid="0" snapToObjects="1">
      <p:cViewPr varScale="1">
        <p:scale>
          <a:sx n="98" d="100"/>
          <a:sy n="98" d="100"/>
        </p:scale>
        <p:origin x="101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0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Mosquito</a:t>
            </a:r>
          </a:p>
          <a:p>
            <a:r>
              <a:rPr lang="en-US"/>
              <a:t>https://www.polleverywhere.com/multiple_choice_polls/vjbNmi6kF7dtLLe6pw3o8?flow=Default&amp;onscreen=persist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20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Tick</a:t>
            </a:r>
          </a:p>
          <a:p>
            <a:r>
              <a:rPr lang="en-US"/>
              <a:t>https://www.polleverywhere.com/multiple_choice_polls/PQ3rm4XTz3wLU2sjPXf8B?flow=Default&amp;onscreen=persist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6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louse</a:t>
            </a:r>
          </a:p>
          <a:p>
            <a:r>
              <a:rPr lang="en-US"/>
              <a:t>https://www.polleverywhere.com/multiple_choice_polls/Ea7qNwU60hjsFocjTRzj8?flow=Default&amp;onscreen=persist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37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Deer fly</a:t>
            </a:r>
          </a:p>
          <a:p>
            <a:r>
              <a:rPr lang="en-US"/>
              <a:t>https://www.polleverywhere.com/multiple_choice_polls/J5mY1d2c8G8x3H7wL6mHA?flow=Default&amp;onscreen=persist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25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7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39635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15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Introduction to the arthropods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263318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Q1. why is Lyme disease increasing in the US?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903" y="1786044"/>
            <a:ext cx="5635627" cy="278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dirty="0">
                <a:latin typeface="Avenir"/>
                <a:cs typeface="Avenir"/>
              </a:rPr>
              <a:t>Lyme is now the most common vector-borne disease in North America, and the number of cases rises every year. Why??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(3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(4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72D17C-6236-624A-8453-ED8775769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61" y="981191"/>
            <a:ext cx="5693114" cy="43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09628" y="1388710"/>
            <a:ext cx="10572743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Q2. </a:t>
            </a:r>
            <a:r>
              <a:rPr lang="en-US" sz="4000" b="1" dirty="0" err="1">
                <a:latin typeface="Avenir"/>
                <a:cs typeface="Avenir"/>
              </a:rPr>
              <a:t>Micropredators</a:t>
            </a:r>
            <a:r>
              <a:rPr lang="en-US" sz="4000" b="1" dirty="0">
                <a:latin typeface="Avenir"/>
                <a:cs typeface="Avenir"/>
              </a:rPr>
              <a:t> are not parasites, and parasites are not </a:t>
            </a:r>
            <a:r>
              <a:rPr lang="en-US" sz="4000" b="1" dirty="0" err="1">
                <a:latin typeface="Avenir"/>
                <a:cs typeface="Avenir"/>
              </a:rPr>
              <a:t>micropredators</a:t>
            </a:r>
            <a:r>
              <a:rPr lang="en-US" sz="4000" b="1" dirty="0">
                <a:latin typeface="Avenir"/>
                <a:cs typeface="Avenir"/>
              </a:rPr>
              <a:t>. For each of the taxa that follow, decide: is it a </a:t>
            </a:r>
            <a:r>
              <a:rPr lang="en-US" sz="4000" b="1" dirty="0" err="1">
                <a:latin typeface="Avenir"/>
                <a:cs typeface="Avenir"/>
              </a:rPr>
              <a:t>micropredator</a:t>
            </a:r>
            <a:r>
              <a:rPr lang="en-US" sz="4000" b="1" dirty="0">
                <a:latin typeface="Avenir"/>
                <a:cs typeface="Avenir"/>
              </a:rPr>
              <a:t> or a parasite?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990" y="4269756"/>
            <a:ext cx="5698018" cy="92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61D2-F06A-DF4B-870B-2C46CF7DCF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267ED-3CDD-BD45-95BF-52F1535E0A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vjbNmi6kF7dtLLe6pw3o8?flow=Default&amp;onscreen=persist">
            <a:extLst>
              <a:ext uri="{FF2B5EF4-FFF2-40B4-BE49-F238E27FC236}">
                <a16:creationId xmlns:a16="http://schemas.microsoft.com/office/drawing/2014/main" id="{9A7DAE5D-16FD-624D-BDC4-DF78CF9224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8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FB1B-60F6-B14D-89ED-4BC7F4754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210AB-9BEE-5140-85D2-5C098A17E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PQ3rm4XTz3wLU2sjPXf8B?flow=Default&amp;onscreen=persist">
            <a:extLst>
              <a:ext uri="{FF2B5EF4-FFF2-40B4-BE49-F238E27FC236}">
                <a16:creationId xmlns:a16="http://schemas.microsoft.com/office/drawing/2014/main" id="{0ACF438F-2FCC-BB45-8B6E-3C19EC098CC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2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7CDA-ED86-E141-9EA1-5E380FB79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8625-D47C-BD48-AA01-08AA12E61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Ea7qNwU60hjsFocjTRzj8?flow=Default&amp;onscreen=persist">
            <a:extLst>
              <a:ext uri="{FF2B5EF4-FFF2-40B4-BE49-F238E27FC236}">
                <a16:creationId xmlns:a16="http://schemas.microsoft.com/office/drawing/2014/main" id="{FC7C82BF-F8ED-2B47-A8B4-05611431327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4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554E-7E28-A64D-8D59-0C0677523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8D626-94AE-4444-8ACA-C5F8B19B9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J5mY1d2c8G8x3H7wL6mHA?flow=Default&amp;onscreen=persist">
            <a:extLst>
              <a:ext uri="{FF2B5EF4-FFF2-40B4-BE49-F238E27FC236}">
                <a16:creationId xmlns:a16="http://schemas.microsoft.com/office/drawing/2014/main" id="{CCC6CC6D-9860-6340-A57F-F1F471A548C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8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70" y="376970"/>
            <a:ext cx="11567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why are are so many </a:t>
            </a:r>
            <a:r>
              <a:rPr lang="en-US" sz="3500" b="1" dirty="0" err="1">
                <a:latin typeface="Avenir"/>
                <a:cs typeface="Avenir"/>
              </a:rPr>
              <a:t>micropredators</a:t>
            </a:r>
            <a:r>
              <a:rPr lang="en-US" sz="3500" b="1" dirty="0">
                <a:latin typeface="Avenir"/>
                <a:cs typeface="Avenir"/>
              </a:rPr>
              <a:t> also vectors?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1276182"/>
            <a:ext cx="673603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Lots of </a:t>
            </a:r>
            <a:r>
              <a:rPr lang="en-US" sz="2800" dirty="0" err="1">
                <a:latin typeface="Avenir"/>
                <a:cs typeface="Avenir"/>
              </a:rPr>
              <a:t>micropredators</a:t>
            </a:r>
            <a:r>
              <a:rPr lang="en-US" sz="2800" dirty="0">
                <a:latin typeface="Avenir"/>
                <a:cs typeface="Avenir"/>
              </a:rPr>
              <a:t> serve as vectors for filarial nematodes like </a:t>
            </a:r>
            <a:r>
              <a:rPr lang="en-US" sz="2800" i="1" dirty="0" err="1">
                <a:latin typeface="Avenir"/>
                <a:cs typeface="Avenir"/>
              </a:rPr>
              <a:t>Onchocerca</a:t>
            </a:r>
            <a:r>
              <a:rPr lang="en-US" sz="2800" i="1" dirty="0">
                <a:latin typeface="Avenir"/>
                <a:cs typeface="Avenir"/>
              </a:rPr>
              <a:t> volvulus</a:t>
            </a:r>
            <a:r>
              <a:rPr lang="en-US" sz="2800" dirty="0">
                <a:latin typeface="Avenir"/>
                <a:cs typeface="Avenir"/>
              </a:rPr>
              <a:t>, bacteria like the Lyme disease spirochaete, protozoans like the one that causes malaria, or viruses like West Nile. Why do </a:t>
            </a:r>
            <a:r>
              <a:rPr lang="en-US" sz="2800" dirty="0" err="1">
                <a:latin typeface="Avenir"/>
                <a:cs typeface="Avenir"/>
              </a:rPr>
              <a:t>micropredators</a:t>
            </a:r>
            <a:r>
              <a:rPr lang="en-US" sz="2800" dirty="0">
                <a:latin typeface="Avenir"/>
                <a:cs typeface="Avenir"/>
              </a:rPr>
              <a:t> have to be such jerks? Can’t they just take their bloodmeal and leave it at that? Why add insult to injury?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78713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Write on your own (5 m), share with a partner (5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407680"/>
            <a:ext cx="3037028" cy="1234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19480F-BBDB-834D-B1F1-AD8C6C947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70" y="1819906"/>
            <a:ext cx="4529059" cy="254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8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39635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15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Introduction to the arthropods</a:t>
            </a:r>
          </a:p>
        </p:txBody>
      </p:sp>
    </p:spTree>
    <p:extLst>
      <p:ext uri="{BB962C8B-B14F-4D97-AF65-F5344CB8AC3E}">
        <p14:creationId xmlns:p14="http://schemas.microsoft.com/office/powerpoint/2010/main" val="166433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7740</TotalTime>
  <Words>308</Words>
  <Application>Microsoft Macintosh PowerPoint</Application>
  <PresentationFormat>Widescreen</PresentationFormat>
  <Paragraphs>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145</cp:revision>
  <dcterms:created xsi:type="dcterms:W3CDTF">2020-04-03T14:55:00Z</dcterms:created>
  <dcterms:modified xsi:type="dcterms:W3CDTF">2025-11-03T17:40:48Z</dcterms:modified>
</cp:coreProperties>
</file>