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480" r:id="rId2"/>
    <p:sldId id="723" r:id="rId3"/>
    <p:sldId id="1810" r:id="rId4"/>
    <p:sldId id="1605" r:id="rId5"/>
    <p:sldId id="1689" r:id="rId6"/>
    <p:sldId id="1587" r:id="rId7"/>
    <p:sldId id="1814" r:id="rId8"/>
    <p:sldId id="1812" r:id="rId9"/>
    <p:sldId id="1815" r:id="rId10"/>
    <p:sldId id="16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55"/>
    <p:restoredTop sz="95884"/>
  </p:normalViewPr>
  <p:slideViewPr>
    <p:cSldViewPr snapToGrid="0" snapToObjects="1">
      <p:cViewPr varScale="1">
        <p:scale>
          <a:sx n="109" d="100"/>
          <a:sy n="109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72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9F875-6418-9046-A7B9-64BEAE835B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62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71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99F875-6418-9046-A7B9-64BEAE835B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86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3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Which parasite species would you predict might have a positive response to conservation? In your answer, please briefly explain why!</a:t>
            </a:r>
          </a:p>
          <a:p>
            <a:r>
              <a:rPr lang="en-US"/>
              <a:t>https://www.polleverywhere.com/discourses/QLjW2muurzkLDW1FShV0F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63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12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Which parasite species would you predict might have a negative response to conservation? In your answer, please briefly explain why!</a:t>
            </a:r>
          </a:p>
          <a:p>
            <a:r>
              <a:rPr lang="en-US"/>
              <a:t>https://www.polleverywhere.com/discourses/Yt8obg4G8UOitTw6nL6m7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32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17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25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Nature’s services, nature’s disservices</a:t>
            </a:r>
            <a:endParaRPr lang="en-US" sz="4800" i="1" dirty="0">
              <a:solidFill>
                <a:srgbClr val="FFFFFF"/>
              </a:solidFill>
              <a:latin typeface="Avenir Book" panose="02000503020000020003" pitchFamily="2" charset="0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076" y="233572"/>
            <a:ext cx="711913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b="1" dirty="0">
                <a:latin typeface="Avenir"/>
                <a:cs typeface="Avenir"/>
              </a:rPr>
              <a:t>Q1a. how does the abundance of </a:t>
            </a:r>
          </a:p>
          <a:p>
            <a:pPr>
              <a:defRPr/>
            </a:pPr>
            <a:r>
              <a:rPr lang="en-US" sz="2800" b="1" dirty="0">
                <a:latin typeface="Avenir"/>
                <a:cs typeface="Avenir"/>
              </a:rPr>
              <a:t>human parasites respond to conservation?</a:t>
            </a:r>
            <a:endParaRPr lang="en-US" sz="28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539" y="1238885"/>
            <a:ext cx="6551566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You read Wood et al. 2017 in preparation for this practical session, but the figure at left is tricky to interpret. Take a second look. Go back to the paper if you need to. How would you explain this figure to a colleague? What does it say about how the abundance of human parasites response to urbanization? To conservation?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961A3-2B95-0A43-B11C-D68C6B37C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723560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(2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(3 m), then share with the class (7 m).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F39-A23A-9E47-BC8C-16103DF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552527"/>
            <a:ext cx="3037028" cy="12346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A9E12-FAF4-3245-BE9A-CF65CACBF3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240"/>
          <a:stretch/>
        </p:blipFill>
        <p:spPr>
          <a:xfrm>
            <a:off x="422830" y="496987"/>
            <a:ext cx="4203700" cy="47402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2A4B20-F0BF-EC49-AD89-3E5121FB22DE}"/>
              </a:ext>
            </a:extLst>
          </p:cNvPr>
          <p:cNvSpPr txBox="1"/>
          <p:nvPr/>
        </p:nvSpPr>
        <p:spPr>
          <a:xfrm>
            <a:off x="422831" y="1808215"/>
            <a:ext cx="950975" cy="192360"/>
          </a:xfrm>
          <a:prstGeom prst="rect">
            <a:avLst/>
          </a:prstGeom>
          <a:solidFill>
            <a:schemeClr val="bg1"/>
          </a:solidFill>
        </p:spPr>
        <p:txBody>
          <a:bodyPr wrap="square" lIns="0" tIns="45720" rIns="0" bIns="45720" rtlCol="0">
            <a:spAutoFit/>
          </a:bodyPr>
          <a:lstStyle/>
          <a:p>
            <a:pPr algn="ctr">
              <a:buNone/>
            </a:pPr>
            <a:r>
              <a:rPr lang="en-US" sz="650" dirty="0">
                <a:latin typeface="Arial"/>
                <a:cs typeface="Arial"/>
              </a:rPr>
              <a:t>Food-borne </a:t>
            </a:r>
            <a:r>
              <a:rPr lang="en-US" sz="650" dirty="0" err="1">
                <a:latin typeface="Arial"/>
                <a:cs typeface="Arial"/>
              </a:rPr>
              <a:t>trematodiasis</a:t>
            </a:r>
            <a:endParaRPr lang="en-US" sz="6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958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7240"/>
          <a:stretch/>
        </p:blipFill>
        <p:spPr>
          <a:xfrm>
            <a:off x="6324600" y="1203372"/>
            <a:ext cx="4203700" cy="474022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t="19629"/>
          <a:stretch/>
        </p:blipFill>
        <p:spPr>
          <a:xfrm>
            <a:off x="1778000" y="1187092"/>
            <a:ext cx="4546600" cy="47565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71800" y="381000"/>
            <a:ext cx="3276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3200" dirty="0">
                <a:latin typeface="Avenir"/>
                <a:cs typeface="Avenir"/>
              </a:rPr>
              <a:t>spatial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9324" y="6477001"/>
            <a:ext cx="86723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500" dirty="0">
                <a:latin typeface="Avenir"/>
                <a:cs typeface="Avenir"/>
              </a:rPr>
              <a:t>(Wood </a:t>
            </a:r>
            <a:r>
              <a:rPr lang="en-US" sz="1500" i="1" dirty="0">
                <a:latin typeface="Avenir"/>
                <a:cs typeface="Avenir"/>
              </a:rPr>
              <a:t>et al. </a:t>
            </a:r>
            <a:r>
              <a:rPr lang="en-US" sz="1500" dirty="0">
                <a:latin typeface="Avenir"/>
                <a:cs typeface="Avenir"/>
              </a:rPr>
              <a:t>2017, </a:t>
            </a:r>
            <a:r>
              <a:rPr lang="en-US" sz="1500" i="1" dirty="0">
                <a:latin typeface="Avenir"/>
                <a:cs typeface="Avenir"/>
              </a:rPr>
              <a:t>Phil Trans Roy </a:t>
            </a:r>
            <a:r>
              <a:rPr lang="en-US" sz="1500" i="1" dirty="0" err="1">
                <a:latin typeface="Avenir"/>
                <a:cs typeface="Avenir"/>
              </a:rPr>
              <a:t>Soc</a:t>
            </a:r>
            <a:r>
              <a:rPr lang="en-US" sz="1500" i="1" dirty="0">
                <a:latin typeface="Avenir"/>
                <a:cs typeface="Avenir"/>
              </a:rPr>
              <a:t> B</a:t>
            </a:r>
            <a:r>
              <a:rPr lang="en-US" sz="1500" dirty="0">
                <a:latin typeface="Avenir"/>
                <a:cs typeface="Avenir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0" y="381000"/>
            <a:ext cx="3276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3200" dirty="0">
                <a:latin typeface="Avenir"/>
                <a:cs typeface="Avenir"/>
              </a:rPr>
              <a:t>temporal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31895" y="2101706"/>
            <a:ext cx="3276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300" dirty="0">
                <a:solidFill>
                  <a:schemeClr val="bg1"/>
                </a:solidFill>
                <a:latin typeface="Avenir"/>
                <a:cs typeface="Avenir"/>
              </a:rPr>
              <a:t>zoonotic and vector-borne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31894" y="4387706"/>
            <a:ext cx="3276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300" dirty="0">
                <a:solidFill>
                  <a:schemeClr val="bg1"/>
                </a:solidFill>
                <a:latin typeface="Avenir"/>
                <a:cs typeface="Avenir"/>
              </a:rPr>
              <a:t>directly transmitted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1" y="2514600"/>
            <a:ext cx="950975" cy="192360"/>
          </a:xfrm>
          <a:prstGeom prst="rect">
            <a:avLst/>
          </a:prstGeom>
          <a:solidFill>
            <a:schemeClr val="bg1"/>
          </a:solidFill>
        </p:spPr>
        <p:txBody>
          <a:bodyPr wrap="square" lIns="0" tIns="45720" rIns="0" bIns="45720" rtlCol="0">
            <a:spAutoFit/>
          </a:bodyPr>
          <a:lstStyle/>
          <a:p>
            <a:pPr algn="ctr">
              <a:buNone/>
            </a:pPr>
            <a:r>
              <a:rPr lang="en-US" sz="650" dirty="0">
                <a:latin typeface="Arial"/>
                <a:cs typeface="Arial"/>
              </a:rPr>
              <a:t>Food-borne </a:t>
            </a:r>
            <a:r>
              <a:rPr lang="en-US" sz="650" dirty="0" err="1">
                <a:latin typeface="Arial"/>
                <a:cs typeface="Arial"/>
              </a:rPr>
              <a:t>trematodiasis</a:t>
            </a:r>
            <a:endParaRPr lang="en-US" sz="6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56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790" y="233572"/>
            <a:ext cx="1185242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latin typeface="Avenir"/>
                <a:cs typeface="Avenir"/>
              </a:rPr>
              <a:t>Q1b. how does the abundance of human parasites respond to conservation?</a:t>
            </a:r>
            <a:endParaRPr lang="en-US" sz="26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682" y="808741"/>
            <a:ext cx="6071957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Another tricky figure from Wood et al. 2017 is presented at left. Take a second look. Go back to the paper if you need to. How would you explain this figure to a colleague? What does it say about how the abundance of human parasites response to urbanization? To conservation? How is this figure related to the first one we discussed today?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961A3-2B95-0A43-B11C-D68C6B37C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723560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(2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(3 m), then share with the class (7 m).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F39-A23A-9E47-BC8C-16103DF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552527"/>
            <a:ext cx="3037028" cy="12346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92DF63-1791-BE41-851E-E4F8BD915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790" y="918450"/>
            <a:ext cx="5385530" cy="452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3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04800"/>
            <a:ext cx="6654800" cy="56896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extBox 4"/>
          <p:cNvSpPr txBox="1"/>
          <p:nvPr/>
        </p:nvSpPr>
        <p:spPr>
          <a:xfrm>
            <a:off x="1959324" y="6477001"/>
            <a:ext cx="8672391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500" dirty="0">
                <a:latin typeface="Avenir"/>
                <a:cs typeface="Avenir"/>
              </a:rPr>
              <a:t>(Wood </a:t>
            </a:r>
            <a:r>
              <a:rPr lang="en-US" sz="1500" i="1" dirty="0">
                <a:latin typeface="Avenir"/>
                <a:cs typeface="Avenir"/>
              </a:rPr>
              <a:t>et al. </a:t>
            </a:r>
            <a:r>
              <a:rPr lang="en-US" sz="1500" dirty="0">
                <a:latin typeface="Avenir"/>
                <a:cs typeface="Avenir"/>
              </a:rPr>
              <a:t>2017, </a:t>
            </a:r>
            <a:r>
              <a:rPr lang="en-US" sz="1500" i="1" dirty="0">
                <a:latin typeface="Avenir"/>
                <a:cs typeface="Avenir"/>
              </a:rPr>
              <a:t>Phil Trans Roy </a:t>
            </a:r>
            <a:r>
              <a:rPr lang="en-US" sz="1500" i="1" dirty="0" err="1">
                <a:latin typeface="Avenir"/>
                <a:cs typeface="Avenir"/>
              </a:rPr>
              <a:t>Soc</a:t>
            </a:r>
            <a:r>
              <a:rPr lang="en-US" sz="1500" i="1" dirty="0">
                <a:latin typeface="Avenir"/>
                <a:cs typeface="Avenir"/>
              </a:rPr>
              <a:t> B</a:t>
            </a:r>
            <a:r>
              <a:rPr lang="en-US" sz="1500" dirty="0">
                <a:latin typeface="Avenir"/>
                <a:cs typeface="Avenir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715001"/>
            <a:ext cx="6477000" cy="446276"/>
          </a:xfrm>
          <a:prstGeom prst="rect">
            <a:avLst/>
          </a:prstGeom>
          <a:solidFill>
            <a:schemeClr val="bg1"/>
          </a:solidFill>
        </p:spPr>
        <p:txBody>
          <a:bodyPr wrap="square" tIns="0" rtlCol="0">
            <a:spAutoFit/>
          </a:bodyPr>
          <a:lstStyle/>
          <a:p>
            <a:pPr algn="ctr">
              <a:buNone/>
            </a:pPr>
            <a:r>
              <a:rPr lang="en-US" sz="2600" dirty="0">
                <a:latin typeface="Avenir"/>
                <a:cs typeface="Avenir"/>
              </a:rPr>
              <a:t>spatial result </a:t>
            </a:r>
            <a:r>
              <a:rPr lang="en-US" sz="1400" dirty="0">
                <a:latin typeface="Avenir"/>
                <a:cs typeface="Avenir"/>
              </a:rPr>
              <a:t>(mean effect of factor on </a:t>
            </a:r>
            <a:r>
              <a:rPr lang="en-US" sz="1400" b="1" dirty="0">
                <a:latin typeface="Avenir"/>
                <a:cs typeface="Avenir"/>
              </a:rPr>
              <a:t>disease burden </a:t>
            </a:r>
            <a:r>
              <a:rPr lang="en-US" sz="1400" dirty="0">
                <a:latin typeface="Avenir"/>
                <a:cs typeface="Avenir"/>
              </a:rPr>
              <a:t>in 2010)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80548" y="2679040"/>
            <a:ext cx="5562599" cy="661720"/>
          </a:xfrm>
          <a:prstGeom prst="rect">
            <a:avLst/>
          </a:prstGeom>
          <a:solidFill>
            <a:schemeClr val="bg1"/>
          </a:solidFill>
        </p:spPr>
        <p:txBody>
          <a:bodyPr wrap="square" tIns="0" rtlCol="0">
            <a:spAutoFit/>
          </a:bodyPr>
          <a:lstStyle/>
          <a:p>
            <a:pPr algn="ctr">
              <a:buNone/>
            </a:pPr>
            <a:r>
              <a:rPr lang="en-US" sz="2600" dirty="0">
                <a:latin typeface="Avenir"/>
                <a:cs typeface="Avenir"/>
              </a:rPr>
              <a:t>temporal result </a:t>
            </a:r>
          </a:p>
          <a:p>
            <a:pPr algn="ctr">
              <a:buNone/>
            </a:pPr>
            <a:r>
              <a:rPr lang="en-US" sz="1400" dirty="0">
                <a:latin typeface="Avenir"/>
                <a:cs typeface="Avenir"/>
              </a:rPr>
              <a:t>(mean effect of factor on </a:t>
            </a:r>
            <a:r>
              <a:rPr lang="en-US" sz="1400" b="1" dirty="0">
                <a:latin typeface="Avenir"/>
                <a:cs typeface="Avenir"/>
              </a:rPr>
              <a:t>change in disease burden </a:t>
            </a:r>
            <a:r>
              <a:rPr lang="en-US" sz="1400" dirty="0">
                <a:latin typeface="Avenir"/>
                <a:cs typeface="Avenir"/>
              </a:rPr>
              <a:t>1990</a:t>
            </a:r>
            <a:r>
              <a:rPr lang="mr-IN" sz="1400" dirty="0">
                <a:latin typeface="Avenir"/>
                <a:cs typeface="Avenir"/>
              </a:rPr>
              <a:t>–</a:t>
            </a:r>
            <a:r>
              <a:rPr lang="en-US" sz="1400" dirty="0">
                <a:latin typeface="Avenir"/>
                <a:cs typeface="Avenir"/>
              </a:rPr>
              <a:t>2010)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0103" y="658844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4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12528" y="1214629"/>
            <a:ext cx="1136693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Q2a. Okay, so it looks like conservation might have </a:t>
            </a:r>
            <a:r>
              <a:rPr lang="en-US" sz="4000" b="1" u="sng" dirty="0">
                <a:latin typeface="Avenir"/>
                <a:cs typeface="Avenir"/>
              </a:rPr>
              <a:t>weak</a:t>
            </a:r>
            <a:r>
              <a:rPr lang="en-US" sz="4000" b="1" dirty="0">
                <a:latin typeface="Avenir"/>
                <a:cs typeface="Avenir"/>
              </a:rPr>
              <a:t> and </a:t>
            </a:r>
            <a:r>
              <a:rPr lang="en-US" sz="4000" b="1" u="sng" dirty="0">
                <a:latin typeface="Avenir"/>
                <a:cs typeface="Avenir"/>
              </a:rPr>
              <a:t>variable</a:t>
            </a:r>
            <a:r>
              <a:rPr lang="en-US" sz="4000" b="1" dirty="0">
                <a:latin typeface="Avenir"/>
                <a:cs typeface="Avenir"/>
              </a:rPr>
              <a:t> effects on the transmission of human parasites. Which parasite species would you predict might have a </a:t>
            </a:r>
            <a:r>
              <a:rPr lang="en-US" sz="4000" b="1" u="sng" dirty="0">
                <a:latin typeface="Avenir"/>
                <a:cs typeface="Avenir"/>
              </a:rPr>
              <a:t>positive</a:t>
            </a:r>
            <a:r>
              <a:rPr lang="en-US" sz="4000" b="1" dirty="0">
                <a:latin typeface="Avenir"/>
                <a:cs typeface="Avenir"/>
              </a:rPr>
              <a:t> response to conservation? In your answer, please briefly explain </a:t>
            </a:r>
            <a:r>
              <a:rPr lang="en-US" sz="4000" b="1" u="sng" dirty="0">
                <a:latin typeface="Avenir"/>
                <a:cs typeface="Avenir"/>
              </a:rPr>
              <a:t>why</a:t>
            </a:r>
            <a:r>
              <a:rPr lang="en-US" sz="4000" b="1" dirty="0">
                <a:latin typeface="Avenir"/>
                <a:cs typeface="Avenir"/>
              </a:rPr>
              <a:t>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36" y="5136100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3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0699-67FA-F600-9786-064910DE0A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E878D-8EBE-D2B4-EB56-88E5029777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QLjW2muurzkLDW1FShV0F">
            <a:extLst>
              <a:ext uri="{FF2B5EF4-FFF2-40B4-BE49-F238E27FC236}">
                <a16:creationId xmlns:a16="http://schemas.microsoft.com/office/drawing/2014/main" id="{50D19D35-EF9A-99A9-ECD4-0E990115E25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2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12528" y="1214629"/>
            <a:ext cx="1136693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Q2a. Okay, so it looks like conservation might have </a:t>
            </a:r>
            <a:r>
              <a:rPr lang="en-US" sz="4000" b="1" u="sng" dirty="0">
                <a:latin typeface="Avenir"/>
                <a:cs typeface="Avenir"/>
              </a:rPr>
              <a:t>weak</a:t>
            </a:r>
            <a:r>
              <a:rPr lang="en-US" sz="4000" b="1" dirty="0">
                <a:latin typeface="Avenir"/>
                <a:cs typeface="Avenir"/>
              </a:rPr>
              <a:t> and </a:t>
            </a:r>
            <a:r>
              <a:rPr lang="en-US" sz="4000" b="1" u="sng" dirty="0">
                <a:latin typeface="Avenir"/>
                <a:cs typeface="Avenir"/>
              </a:rPr>
              <a:t>variable</a:t>
            </a:r>
            <a:r>
              <a:rPr lang="en-US" sz="4000" b="1" dirty="0">
                <a:latin typeface="Avenir"/>
                <a:cs typeface="Avenir"/>
              </a:rPr>
              <a:t> effects on the transmission of human parasites. Which parasite species would you predict might have a </a:t>
            </a:r>
            <a:r>
              <a:rPr lang="en-US" sz="4000" b="1" u="sng" dirty="0">
                <a:latin typeface="Avenir"/>
                <a:cs typeface="Avenir"/>
              </a:rPr>
              <a:t>negative</a:t>
            </a:r>
            <a:r>
              <a:rPr lang="en-US" sz="4000" b="1" dirty="0">
                <a:latin typeface="Avenir"/>
                <a:cs typeface="Avenir"/>
              </a:rPr>
              <a:t> response to conservation? In your answer, please briefly explain </a:t>
            </a:r>
            <a:r>
              <a:rPr lang="en-US" sz="4000" b="1" u="sng" dirty="0">
                <a:latin typeface="Avenir"/>
                <a:cs typeface="Avenir"/>
              </a:rPr>
              <a:t>why</a:t>
            </a:r>
            <a:r>
              <a:rPr lang="en-US" sz="4000" b="1" dirty="0">
                <a:latin typeface="Avenir"/>
                <a:cs typeface="Avenir"/>
              </a:rPr>
              <a:t>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36" y="5136100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8BBB-79F9-8954-5103-0A88EBDF9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6438B-AAF4-94A5-FB0F-5E441D466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Yt8obg4G8UOitTw6nL6m7">
            <a:extLst>
              <a:ext uri="{FF2B5EF4-FFF2-40B4-BE49-F238E27FC236}">
                <a16:creationId xmlns:a16="http://schemas.microsoft.com/office/drawing/2014/main" id="{9101522A-D53D-C50B-983A-B254588EFF1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97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25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Nature’s services, nature’s disservices</a:t>
            </a:r>
            <a:endParaRPr lang="en-US" sz="4800" i="1" dirty="0">
              <a:solidFill>
                <a:srgbClr val="FFFFFF"/>
              </a:solidFill>
              <a:latin typeface="Avenir Book" panose="02000503020000020003" pitchFamily="2" charset="0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282400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8297</TotalTime>
  <Words>519</Words>
  <Application>Microsoft Macintosh PowerPoint</Application>
  <PresentationFormat>Widescreen</PresentationFormat>
  <Paragraphs>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213</cp:revision>
  <dcterms:created xsi:type="dcterms:W3CDTF">2020-04-03T14:55:00Z</dcterms:created>
  <dcterms:modified xsi:type="dcterms:W3CDTF">2025-12-01T17:47:22Z</dcterms:modified>
</cp:coreProperties>
</file>