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480" r:id="rId2"/>
    <p:sldId id="712" r:id="rId3"/>
    <p:sldId id="1554" r:id="rId4"/>
    <p:sldId id="1551" r:id="rId5"/>
    <p:sldId id="723" r:id="rId6"/>
    <p:sldId id="1552" r:id="rId7"/>
    <p:sldId id="1553" r:id="rId8"/>
    <p:sldId id="1555" r:id="rId9"/>
    <p:sldId id="714" r:id="rId10"/>
    <p:sldId id="1556" r:id="rId11"/>
    <p:sldId id="1547"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5884"/>
  </p:normalViewPr>
  <p:slideViewPr>
    <p:cSldViewPr snapToGrid="0" snapToObjects="1">
      <p:cViewPr varScale="1">
        <p:scale>
          <a:sx n="112" d="100"/>
          <a:sy n="112" d="100"/>
        </p:scale>
        <p:origin x="48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C7DB66-C6D6-B24E-B345-FA3772C924EA}" type="datetimeFigureOut">
              <a:rPr lang="en-US" smtClean="0"/>
              <a:t>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18707C-A528-5347-B512-111D9A72273A}" type="slidenum">
              <a:rPr lang="en-US" smtClean="0"/>
              <a:t>‹#›</a:t>
            </a:fld>
            <a:endParaRPr lang="en-US"/>
          </a:p>
        </p:txBody>
      </p:sp>
    </p:spTree>
    <p:extLst>
      <p:ext uri="{BB962C8B-B14F-4D97-AF65-F5344CB8AC3E}">
        <p14:creationId xmlns:p14="http://schemas.microsoft.com/office/powerpoint/2010/main" val="1924951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a:t>
            </a:fld>
            <a:endParaRPr lang="en-US"/>
          </a:p>
        </p:txBody>
      </p:sp>
    </p:spTree>
    <p:extLst>
      <p:ext uri="{BB962C8B-B14F-4D97-AF65-F5344CB8AC3E}">
        <p14:creationId xmlns:p14="http://schemas.microsoft.com/office/powerpoint/2010/main" val="2410559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2</a:t>
            </a:fld>
            <a:endParaRPr lang="en-US"/>
          </a:p>
        </p:txBody>
      </p:sp>
    </p:spTree>
    <p:extLst>
      <p:ext uri="{BB962C8B-B14F-4D97-AF65-F5344CB8AC3E}">
        <p14:creationId xmlns:p14="http://schemas.microsoft.com/office/powerpoint/2010/main" val="22769930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The geohelminths have been co-evolving with humans for a long, long time. What are some cultural practices that might have arisen because they protect human populations against geohelminth infection?</a:t>
            </a:r>
          </a:p>
          <a:p>
            <a:r>
              <a:rPr lang="en-US"/>
              <a:t>https://www.polleverywhere.com/discourses/LTuvUnJLBJFADVdDdLxTI</a:t>
            </a:r>
          </a:p>
        </p:txBody>
      </p:sp>
      <p:sp>
        <p:nvSpPr>
          <p:cNvPr id="4" name="Slide Number Placeholder 3"/>
          <p:cNvSpPr>
            <a:spLocks noGrp="1"/>
          </p:cNvSpPr>
          <p:nvPr>
            <p:ph type="sldNum" sz="quarter" idx="5"/>
          </p:nvPr>
        </p:nvSpPr>
        <p:spPr/>
        <p:txBody>
          <a:bodyPr/>
          <a:lstStyle/>
          <a:p>
            <a:fld id="{4218707C-A528-5347-B512-111D9A72273A}" type="slidenum">
              <a:rPr lang="en-US" smtClean="0"/>
              <a:t>3</a:t>
            </a:fld>
            <a:endParaRPr lang="en-US"/>
          </a:p>
        </p:txBody>
      </p:sp>
    </p:spTree>
    <p:extLst>
      <p:ext uri="{BB962C8B-B14F-4D97-AF65-F5344CB8AC3E}">
        <p14:creationId xmlns:p14="http://schemas.microsoft.com/office/powerpoint/2010/main" val="9589605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4</a:t>
            </a:fld>
            <a:endParaRPr lang="en-US"/>
          </a:p>
        </p:txBody>
      </p:sp>
    </p:spTree>
    <p:extLst>
      <p:ext uri="{BB962C8B-B14F-4D97-AF65-F5344CB8AC3E}">
        <p14:creationId xmlns:p14="http://schemas.microsoft.com/office/powerpoint/2010/main" val="3227939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5</a:t>
            </a:fld>
            <a:endParaRPr lang="en-US"/>
          </a:p>
        </p:txBody>
      </p:sp>
    </p:spTree>
    <p:extLst>
      <p:ext uri="{BB962C8B-B14F-4D97-AF65-F5344CB8AC3E}">
        <p14:creationId xmlns:p14="http://schemas.microsoft.com/office/powerpoint/2010/main" val="37535468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6</a:t>
            </a:fld>
            <a:endParaRPr lang="en-US"/>
          </a:p>
        </p:txBody>
      </p:sp>
    </p:spTree>
    <p:extLst>
      <p:ext uri="{BB962C8B-B14F-4D97-AF65-F5344CB8AC3E}">
        <p14:creationId xmlns:p14="http://schemas.microsoft.com/office/powerpoint/2010/main" val="16345903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7</a:t>
            </a:fld>
            <a:endParaRPr lang="en-US"/>
          </a:p>
        </p:txBody>
      </p:sp>
    </p:spTree>
    <p:extLst>
      <p:ext uri="{BB962C8B-B14F-4D97-AF65-F5344CB8AC3E}">
        <p14:creationId xmlns:p14="http://schemas.microsoft.com/office/powerpoint/2010/main" val="5556387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Ascaris eggs are tough because of their thick mammilated layer. What are some of the conditions that Ascaris eggs can survive that might kill other parasite eggs?</a:t>
            </a:r>
          </a:p>
          <a:p>
            <a:r>
              <a:rPr lang="en-US"/>
              <a:t>https://www.polleverywhere.com/free_text_polls/mgHRf1ghW7CBPpWzHrX9X</a:t>
            </a:r>
          </a:p>
        </p:txBody>
      </p:sp>
      <p:sp>
        <p:nvSpPr>
          <p:cNvPr id="4" name="Slide Number Placeholder 3"/>
          <p:cNvSpPr>
            <a:spLocks noGrp="1"/>
          </p:cNvSpPr>
          <p:nvPr>
            <p:ph type="sldNum" sz="quarter" idx="5"/>
          </p:nvPr>
        </p:nvSpPr>
        <p:spPr/>
        <p:txBody>
          <a:bodyPr/>
          <a:lstStyle/>
          <a:p>
            <a:fld id="{4218707C-A528-5347-B512-111D9A72273A}" type="slidenum">
              <a:rPr lang="en-US" smtClean="0"/>
              <a:t>8</a:t>
            </a:fld>
            <a:endParaRPr lang="en-US"/>
          </a:p>
        </p:txBody>
      </p:sp>
    </p:spTree>
    <p:extLst>
      <p:ext uri="{BB962C8B-B14F-4D97-AF65-F5344CB8AC3E}">
        <p14:creationId xmlns:p14="http://schemas.microsoft.com/office/powerpoint/2010/main" val="14018966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9</a:t>
            </a:fld>
            <a:endParaRPr lang="en-US"/>
          </a:p>
        </p:txBody>
      </p:sp>
    </p:spTree>
    <p:extLst>
      <p:ext uri="{BB962C8B-B14F-4D97-AF65-F5344CB8AC3E}">
        <p14:creationId xmlns:p14="http://schemas.microsoft.com/office/powerpoint/2010/main" val="32147917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Trichuris trichiura doesn't take that much blood from its host, but its pathology can be severe nonetheless, due to the damage it causes to the intestinal epithelium. Why is damage to the intestinal epithelium bad? List as many reasons as you can.</a:t>
            </a:r>
          </a:p>
          <a:p>
            <a:r>
              <a:rPr lang="en-US"/>
              <a:t>https://www.polleverywhere.com/discourses/r3QPrLFthhjdUo0RhoMMF</a:t>
            </a:r>
          </a:p>
        </p:txBody>
      </p:sp>
      <p:sp>
        <p:nvSpPr>
          <p:cNvPr id="4" name="Slide Number Placeholder 3"/>
          <p:cNvSpPr>
            <a:spLocks noGrp="1"/>
          </p:cNvSpPr>
          <p:nvPr>
            <p:ph type="sldNum" sz="quarter" idx="5"/>
          </p:nvPr>
        </p:nvSpPr>
        <p:spPr/>
        <p:txBody>
          <a:bodyPr/>
          <a:lstStyle/>
          <a:p>
            <a:fld id="{4218707C-A528-5347-B512-111D9A72273A}" type="slidenum">
              <a:rPr lang="en-US" smtClean="0"/>
              <a:t>10</a:t>
            </a:fld>
            <a:endParaRPr lang="en-US"/>
          </a:p>
        </p:txBody>
      </p:sp>
    </p:spTree>
    <p:extLst>
      <p:ext uri="{BB962C8B-B14F-4D97-AF65-F5344CB8AC3E}">
        <p14:creationId xmlns:p14="http://schemas.microsoft.com/office/powerpoint/2010/main" val="17945732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11</a:t>
            </a:fld>
            <a:endParaRPr lang="en-US"/>
          </a:p>
        </p:txBody>
      </p:sp>
    </p:spTree>
    <p:extLst>
      <p:ext uri="{BB962C8B-B14F-4D97-AF65-F5344CB8AC3E}">
        <p14:creationId xmlns:p14="http://schemas.microsoft.com/office/powerpoint/2010/main" val="17359495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838A5-77CF-4444-B9C4-4E86A2AEB4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5ABB0CE-1E17-7E44-A60C-C4870D474C5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A47BE3-EFDF-DA44-AA27-F0607BEFBC36}"/>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5" name="Footer Placeholder 4">
            <a:extLst>
              <a:ext uri="{FF2B5EF4-FFF2-40B4-BE49-F238E27FC236}">
                <a16:creationId xmlns:a16="http://schemas.microsoft.com/office/drawing/2014/main" id="{F4FF08DB-758A-CE42-BF14-C796921CA7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D87E2-36DD-094B-976D-5D5908031C6D}"/>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201504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83727-A794-4042-BF97-D4E5E2555C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2B6DC3-C8EA-0441-8F53-7878D4469F3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003028-8ABF-084B-958C-E5D9B41B38A8}"/>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5" name="Footer Placeholder 4">
            <a:extLst>
              <a:ext uri="{FF2B5EF4-FFF2-40B4-BE49-F238E27FC236}">
                <a16:creationId xmlns:a16="http://schemas.microsoft.com/office/drawing/2014/main" id="{D590AB7C-ECF7-2E4C-924B-4E91B62D2F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CAA8C5-6364-1B49-BF43-8C17388D5E01}"/>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4656920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9ED12-49A7-1148-AA33-34CAB4FC4A1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393A772-1ECD-0342-8A17-4FABBAEE73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C0C112-BD32-3746-A4C3-943B604FC6F1}"/>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5" name="Footer Placeholder 4">
            <a:extLst>
              <a:ext uri="{FF2B5EF4-FFF2-40B4-BE49-F238E27FC236}">
                <a16:creationId xmlns:a16="http://schemas.microsoft.com/office/drawing/2014/main" id="{BC9B27BC-3697-B548-91F3-BCBF3F5CAA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A67D53-D2B9-684C-96F8-BB1044135D6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6245125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F2D9E-643B-7E4B-872E-9412A7003EC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EBB80E6-8617-AA4D-B46F-9CC4896C8D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7DB783B-B1E8-C54D-8F59-3F89A76D1D8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D97AD1F-F077-684C-825B-C70FB96BD6FE}"/>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6" name="Footer Placeholder 5">
            <a:extLst>
              <a:ext uri="{FF2B5EF4-FFF2-40B4-BE49-F238E27FC236}">
                <a16:creationId xmlns:a16="http://schemas.microsoft.com/office/drawing/2014/main" id="{94975C02-EF59-8A48-A2C8-380404CF14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1292BB-8AAE-DE4E-AEA5-D84CEBB00A0A}"/>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987871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F12B8-927D-3440-A90F-CEE85721D62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537DF9-7AE9-244A-B880-477F51666DD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DB2535-D060-6345-9A9D-248269C20DD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41F656-2CF8-3C40-BFA2-38D3E456AF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AF9AB57-D4A7-A44B-9DC2-3238EBA3F48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E2D1E4-9846-5948-BE81-54250E2A19C6}"/>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8" name="Footer Placeholder 7">
            <a:extLst>
              <a:ext uri="{FF2B5EF4-FFF2-40B4-BE49-F238E27FC236}">
                <a16:creationId xmlns:a16="http://schemas.microsoft.com/office/drawing/2014/main" id="{AD127541-6DB6-BF46-9566-A28E02A604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8A06EEE-891D-834D-A782-1C80536A829E}"/>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0820569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88B81-6CFF-BB42-B48A-62FE961F09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95E796-21ED-0646-ACBF-271AEEB75975}"/>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4" name="Footer Placeholder 3">
            <a:extLst>
              <a:ext uri="{FF2B5EF4-FFF2-40B4-BE49-F238E27FC236}">
                <a16:creationId xmlns:a16="http://schemas.microsoft.com/office/drawing/2014/main" id="{F818FDD5-F21A-134E-AA9A-2830EBC816F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D6FD440-2197-894C-BBF5-275EB6A7E5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88539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4E7DC6-C98E-4D41-8312-C6A00B9175D8}"/>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3" name="Footer Placeholder 2">
            <a:extLst>
              <a:ext uri="{FF2B5EF4-FFF2-40B4-BE49-F238E27FC236}">
                <a16:creationId xmlns:a16="http://schemas.microsoft.com/office/drawing/2014/main" id="{0D7D30B3-F181-1740-9B5B-0C72FEA436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C48BF8-D524-E946-A5F8-6EDB8EC65ADC}"/>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631966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E8C6B-44FC-DF4B-A8BD-B9B86A46C9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AC0512D-A868-3942-8652-3DCABEFC8CD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1B6CDD-B55E-CF40-A890-84FFA90C28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FC9B9BC-EA10-2643-91D2-3C7BEB05A9F2}"/>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6" name="Footer Placeholder 5">
            <a:extLst>
              <a:ext uri="{FF2B5EF4-FFF2-40B4-BE49-F238E27FC236}">
                <a16:creationId xmlns:a16="http://schemas.microsoft.com/office/drawing/2014/main" id="{BBE1C55D-AE82-E348-AA9F-92C2520306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3800D4-D451-3941-ABED-C84A75035F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5912171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34BDC-8058-8A4C-9BB2-057FDB8391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6F7E264-76A7-5245-B655-C26D839129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1B22F39-AC8F-9242-8291-F11D540045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346B85-9220-174D-9DEE-0F36C1282C62}"/>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6" name="Footer Placeholder 5">
            <a:extLst>
              <a:ext uri="{FF2B5EF4-FFF2-40B4-BE49-F238E27FC236}">
                <a16:creationId xmlns:a16="http://schemas.microsoft.com/office/drawing/2014/main" id="{F2313209-F023-304D-B738-0493FEA828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A32D87-2351-334C-BE56-4B8A31CED346}"/>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9844787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FA934-82C2-4642-9056-03D6888AC52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CB7669D-25CA-F248-A4A3-81DBDBF738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BF7BB9E-51D5-534F-9A5F-0DE70E1D6DD6}"/>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5" name="Footer Placeholder 4">
            <a:extLst>
              <a:ext uri="{FF2B5EF4-FFF2-40B4-BE49-F238E27FC236}">
                <a16:creationId xmlns:a16="http://schemas.microsoft.com/office/drawing/2014/main" id="{AFB600DF-C942-F44F-84F3-4E7BC2F0DF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AEA3C-3249-9B4A-B424-1F83C20D484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7811375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50C8A5-DD27-8040-BD1A-86BF1F29366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6036609-7FEC-1340-94C8-5409F510CE6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0A5258-5E66-DE42-A23B-E1D3C015A36C}"/>
              </a:ext>
            </a:extLst>
          </p:cNvPr>
          <p:cNvSpPr>
            <a:spLocks noGrp="1"/>
          </p:cNvSpPr>
          <p:nvPr>
            <p:ph type="dt" sz="half" idx="10"/>
          </p:nvPr>
        </p:nvSpPr>
        <p:spPr/>
        <p:txBody>
          <a:bodyPr/>
          <a:lstStyle/>
          <a:p>
            <a:fld id="{21DDE3A9-9D48-7D40-AF95-520AE186EA5D}" type="datetimeFigureOut">
              <a:rPr lang="en-US" smtClean="0"/>
              <a:t>10/20/25</a:t>
            </a:fld>
            <a:endParaRPr lang="en-US"/>
          </a:p>
        </p:txBody>
      </p:sp>
      <p:sp>
        <p:nvSpPr>
          <p:cNvPr id="5" name="Footer Placeholder 4">
            <a:extLst>
              <a:ext uri="{FF2B5EF4-FFF2-40B4-BE49-F238E27FC236}">
                <a16:creationId xmlns:a16="http://schemas.microsoft.com/office/drawing/2014/main" id="{7858C25B-3FDB-BD4C-8299-934B911F0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9138FA-EF83-EA42-9E21-8B8892B656F5}"/>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464179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35E0A7-698E-D742-A4C4-45629B74697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A4D6F1A-825E-2B4D-8FFE-066CF32E20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661E9B-BC61-3141-8DBB-53CB9EC8D6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DDE3A9-9D48-7D40-AF95-520AE186EA5D}" type="datetimeFigureOut">
              <a:rPr lang="en-US" smtClean="0"/>
              <a:t>10/20/25</a:t>
            </a:fld>
            <a:endParaRPr lang="en-US"/>
          </a:p>
        </p:txBody>
      </p:sp>
      <p:sp>
        <p:nvSpPr>
          <p:cNvPr id="5" name="Footer Placeholder 4">
            <a:extLst>
              <a:ext uri="{FF2B5EF4-FFF2-40B4-BE49-F238E27FC236}">
                <a16:creationId xmlns:a16="http://schemas.microsoft.com/office/drawing/2014/main" id="{4054E5A4-CAAB-9C49-8EEB-830328D99D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F919D9-A8E0-C542-ADA8-7A31C9A61D0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16A688-FD6D-2B46-9274-DA17D6C87077}" type="slidenum">
              <a:rPr lang="en-US" smtClean="0"/>
              <a:t>‹#›</a:t>
            </a:fld>
            <a:endParaRPr lang="en-US"/>
          </a:p>
        </p:txBody>
      </p:sp>
    </p:spTree>
    <p:extLst>
      <p:ext uri="{BB962C8B-B14F-4D97-AF65-F5344CB8AC3E}">
        <p14:creationId xmlns:p14="http://schemas.microsoft.com/office/powerpoint/2010/main" val="3440679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3.png"/><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239635" y="3013501"/>
            <a:ext cx="10896600" cy="830997"/>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Class 10</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Nematodes 1</a:t>
            </a:r>
          </a:p>
        </p:txBody>
      </p:sp>
    </p:spTree>
    <p:extLst>
      <p:ext uri="{BB962C8B-B14F-4D97-AF65-F5344CB8AC3E}">
        <p14:creationId xmlns:p14="http://schemas.microsoft.com/office/powerpoint/2010/main" val="11166472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809626" y="1107430"/>
            <a:ext cx="10572743" cy="3785652"/>
          </a:xfrm>
          <a:prstGeom prst="rect">
            <a:avLst/>
          </a:prstGeom>
          <a:noFill/>
          <a:ln w="9525">
            <a:noFill/>
            <a:miter lim="800000"/>
            <a:headEnd/>
            <a:tailEnd/>
          </a:ln>
          <a:effectLst/>
        </p:spPr>
        <p:txBody>
          <a:bodyPr wrap="square">
            <a:spAutoFit/>
          </a:bodyPr>
          <a:lstStyle/>
          <a:p>
            <a:pPr algn="ctr">
              <a:defRPr/>
            </a:pPr>
            <a:r>
              <a:rPr lang="en-US" sz="4000" b="1" dirty="0">
                <a:latin typeface="Avenir"/>
                <a:cs typeface="Avenir"/>
              </a:rPr>
              <a:t>Q1. The geohelminths have been co-evolving with humans for a long, long time. What are some cultural practices that might have arisen because they protect human populations against geohelminth infections?</a:t>
            </a:r>
          </a:p>
        </p:txBody>
      </p:sp>
      <p:pic>
        <p:nvPicPr>
          <p:cNvPr id="2" name="Picture 1">
            <a:extLst>
              <a:ext uri="{FF2B5EF4-FFF2-40B4-BE49-F238E27FC236}">
                <a16:creationId xmlns:a16="http://schemas.microsoft.com/office/drawing/2014/main" id="{9FACBA41-11B5-F54D-A1B8-5709EE3A2B76}"/>
              </a:ext>
            </a:extLst>
          </p:cNvPr>
          <p:cNvPicPr>
            <a:picLocks noChangeAspect="1"/>
          </p:cNvPicPr>
          <p:nvPr/>
        </p:nvPicPr>
        <p:blipFill>
          <a:blip r:embed="rId3"/>
          <a:stretch>
            <a:fillRect/>
          </a:stretch>
        </p:blipFill>
        <p:spPr>
          <a:xfrm>
            <a:off x="4423136" y="5194642"/>
            <a:ext cx="3345721" cy="541574"/>
          </a:xfrm>
          <a:prstGeom prst="rect">
            <a:avLst/>
          </a:prstGeom>
        </p:spPr>
      </p:pic>
    </p:spTree>
    <p:extLst>
      <p:ext uri="{BB962C8B-B14F-4D97-AF65-F5344CB8AC3E}">
        <p14:creationId xmlns:p14="http://schemas.microsoft.com/office/powerpoint/2010/main" val="433908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A49C1-E4A5-7FB9-A553-B171F9E724C0}"/>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C7F079C3-9053-DEA6-6037-81EF018960D0}"/>
              </a:ext>
            </a:extLst>
          </p:cNvPr>
          <p:cNvSpPr>
            <a:spLocks noGrp="1"/>
          </p:cNvSpPr>
          <p:nvPr>
            <p:ph type="subTitle" idx="1"/>
          </p:nvPr>
        </p:nvSpPr>
        <p:spPr/>
        <p:txBody>
          <a:bodyPr/>
          <a:lstStyle/>
          <a:p>
            <a:endParaRPr lang="en-US"/>
          </a:p>
        </p:txBody>
      </p:sp>
      <p:pic>
        <p:nvPicPr>
          <p:cNvPr id="5" name="slide.url=https://www.polleverywhere.com/discourses/LTuvUnJLBJFADVdDdLxTI">
            <a:extLst>
              <a:ext uri="{FF2B5EF4-FFF2-40B4-BE49-F238E27FC236}">
                <a16:creationId xmlns:a16="http://schemas.microsoft.com/office/drawing/2014/main" id="{89F561CD-08E8-D762-3484-EA9218E3916B}"/>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22692850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E8F113F-8862-CE42-9268-ADA958F78036}"/>
              </a:ext>
            </a:extLst>
          </p:cNvPr>
          <p:cNvPicPr>
            <a:picLocks noChangeAspect="1"/>
          </p:cNvPicPr>
          <p:nvPr/>
        </p:nvPicPr>
        <p:blipFill>
          <a:blip r:embed="rId3"/>
          <a:stretch>
            <a:fillRect/>
          </a:stretch>
        </p:blipFill>
        <p:spPr>
          <a:xfrm rot="16200000">
            <a:off x="2681527" y="-1736964"/>
            <a:ext cx="6828945" cy="10302874"/>
          </a:xfrm>
          <a:prstGeom prst="rect">
            <a:avLst/>
          </a:prstGeom>
        </p:spPr>
      </p:pic>
    </p:spTree>
    <p:extLst>
      <p:ext uri="{BB962C8B-B14F-4D97-AF65-F5344CB8AC3E}">
        <p14:creationId xmlns:p14="http://schemas.microsoft.com/office/powerpoint/2010/main" val="18830750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70E344C-83F1-EF43-BD0A-F5094F52EC64}"/>
              </a:ext>
            </a:extLst>
          </p:cNvPr>
          <p:cNvSpPr>
            <a:spLocks noChangeArrowheads="1"/>
          </p:cNvSpPr>
          <p:nvPr/>
        </p:nvSpPr>
        <p:spPr bwMode="auto">
          <a:xfrm>
            <a:off x="541339" y="519538"/>
            <a:ext cx="11109322"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Q2. the life cycle of </a:t>
            </a:r>
            <a:r>
              <a:rPr lang="en-US" sz="3500" b="1" i="1" dirty="0">
                <a:latin typeface="Avenir"/>
                <a:cs typeface="Avenir"/>
              </a:rPr>
              <a:t>Ascaris lumbricoides</a:t>
            </a:r>
          </a:p>
        </p:txBody>
      </p:sp>
      <p:sp>
        <p:nvSpPr>
          <p:cNvPr id="4" name="Rectangle 3">
            <a:extLst>
              <a:ext uri="{FF2B5EF4-FFF2-40B4-BE49-F238E27FC236}">
                <a16:creationId xmlns:a16="http://schemas.microsoft.com/office/drawing/2014/main" id="{7171E09D-D5B4-3440-8015-552063EAF0E2}"/>
              </a:ext>
            </a:extLst>
          </p:cNvPr>
          <p:cNvSpPr>
            <a:spLocks noChangeArrowheads="1"/>
          </p:cNvSpPr>
          <p:nvPr/>
        </p:nvSpPr>
        <p:spPr bwMode="auto">
          <a:xfrm>
            <a:off x="5510761" y="1731842"/>
            <a:ext cx="6139900" cy="3108543"/>
          </a:xfrm>
          <a:prstGeom prst="rect">
            <a:avLst/>
          </a:prstGeom>
          <a:noFill/>
          <a:ln w="9525">
            <a:noFill/>
            <a:miter lim="800000"/>
            <a:headEnd/>
            <a:tailEnd/>
          </a:ln>
          <a:effectLst/>
        </p:spPr>
        <p:txBody>
          <a:bodyPr wrap="square">
            <a:spAutoFit/>
          </a:bodyPr>
          <a:lstStyle/>
          <a:p>
            <a:pPr>
              <a:defRPr/>
            </a:pPr>
            <a:r>
              <a:rPr lang="en-US" sz="2800" dirty="0">
                <a:latin typeface="Avenir"/>
                <a:cs typeface="Avenir"/>
              </a:rPr>
              <a:t>The life cycle of </a:t>
            </a:r>
            <a:r>
              <a:rPr lang="en-US" sz="2800" i="1" dirty="0">
                <a:latin typeface="Avenir"/>
                <a:cs typeface="Avenir"/>
              </a:rPr>
              <a:t>Ascaris lumbricoides </a:t>
            </a:r>
            <a:r>
              <a:rPr lang="en-US" sz="2800" dirty="0">
                <a:latin typeface="Avenir"/>
                <a:cs typeface="Avenir"/>
              </a:rPr>
              <a:t>is counterintuitive in the extreme. Why on Earth does this intestinal parasite leave the intestine to make a long and seemingly pointless migration through the circulatory system?</a:t>
            </a:r>
          </a:p>
        </p:txBody>
      </p:sp>
      <p:sp>
        <p:nvSpPr>
          <p:cNvPr id="5" name="Rectangle 4">
            <a:extLst>
              <a:ext uri="{FF2B5EF4-FFF2-40B4-BE49-F238E27FC236}">
                <a16:creationId xmlns:a16="http://schemas.microsoft.com/office/drawing/2014/main" id="{04ACF7BE-A912-524C-AD45-3381DA4E8D59}"/>
              </a:ext>
            </a:extLst>
          </p:cNvPr>
          <p:cNvSpPr>
            <a:spLocks noChangeArrowheads="1"/>
          </p:cNvSpPr>
          <p:nvPr/>
        </p:nvSpPr>
        <p:spPr bwMode="auto">
          <a:xfrm>
            <a:off x="3484121" y="5410524"/>
            <a:ext cx="8485079" cy="954107"/>
          </a:xfrm>
          <a:prstGeom prst="rect">
            <a:avLst/>
          </a:prstGeom>
          <a:noFill/>
          <a:ln w="9525">
            <a:noFill/>
            <a:miter lim="800000"/>
            <a:headEnd/>
            <a:tailEnd/>
          </a:ln>
          <a:effectLst/>
        </p:spPr>
        <p:txBody>
          <a:bodyPr wrap="square">
            <a:spAutoFit/>
          </a:bodyPr>
          <a:lstStyle/>
          <a:p>
            <a:pPr>
              <a:defRPr/>
            </a:pPr>
            <a:r>
              <a:rPr lang="en-US" sz="2800" b="1" dirty="0">
                <a:latin typeface="Avenir"/>
                <a:cs typeface="Avenir"/>
              </a:rPr>
              <a:t>Ponder on your own (3 m), discuss with your group (5 m), then share with the class (5 m).</a:t>
            </a:r>
          </a:p>
        </p:txBody>
      </p:sp>
      <p:pic>
        <p:nvPicPr>
          <p:cNvPr id="6" name="Picture 5">
            <a:extLst>
              <a:ext uri="{FF2B5EF4-FFF2-40B4-BE49-F238E27FC236}">
                <a16:creationId xmlns:a16="http://schemas.microsoft.com/office/drawing/2014/main" id="{97D70B30-0637-3040-852E-BF4B78D0FEE8}"/>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01047"/>
            <a:ext cx="3037028" cy="1234618"/>
          </a:xfrm>
          <a:prstGeom prst="rect">
            <a:avLst/>
          </a:prstGeom>
        </p:spPr>
      </p:pic>
      <p:pic>
        <p:nvPicPr>
          <p:cNvPr id="9" name="Picture 8">
            <a:extLst>
              <a:ext uri="{FF2B5EF4-FFF2-40B4-BE49-F238E27FC236}">
                <a16:creationId xmlns:a16="http://schemas.microsoft.com/office/drawing/2014/main" id="{45E2F720-553C-D846-9ED8-1DE789DBAAEE}"/>
              </a:ext>
            </a:extLst>
          </p:cNvPr>
          <p:cNvPicPr>
            <a:picLocks noChangeAspect="1"/>
          </p:cNvPicPr>
          <p:nvPr/>
        </p:nvPicPr>
        <p:blipFill>
          <a:blip r:embed="rId5"/>
          <a:stretch>
            <a:fillRect/>
          </a:stretch>
        </p:blipFill>
        <p:spPr>
          <a:xfrm rot="16200000">
            <a:off x="1315908" y="859542"/>
            <a:ext cx="3045252" cy="4594391"/>
          </a:xfrm>
          <a:prstGeom prst="rect">
            <a:avLst/>
          </a:prstGeom>
        </p:spPr>
      </p:pic>
    </p:spTree>
    <p:extLst>
      <p:ext uri="{BB962C8B-B14F-4D97-AF65-F5344CB8AC3E}">
        <p14:creationId xmlns:p14="http://schemas.microsoft.com/office/powerpoint/2010/main" val="773059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E8F113F-8862-CE42-9268-ADA958F78036}"/>
              </a:ext>
            </a:extLst>
          </p:cNvPr>
          <p:cNvPicPr>
            <a:picLocks noChangeAspect="1"/>
          </p:cNvPicPr>
          <p:nvPr/>
        </p:nvPicPr>
        <p:blipFill>
          <a:blip r:embed="rId3"/>
          <a:stretch>
            <a:fillRect/>
          </a:stretch>
        </p:blipFill>
        <p:spPr>
          <a:xfrm rot="16200000">
            <a:off x="2681527" y="-1736964"/>
            <a:ext cx="6828945" cy="10302874"/>
          </a:xfrm>
          <a:prstGeom prst="rect">
            <a:avLst/>
          </a:prstGeom>
        </p:spPr>
      </p:pic>
    </p:spTree>
    <p:extLst>
      <p:ext uri="{BB962C8B-B14F-4D97-AF65-F5344CB8AC3E}">
        <p14:creationId xmlns:p14="http://schemas.microsoft.com/office/powerpoint/2010/main" val="17486757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809624" y="1207791"/>
            <a:ext cx="10572743" cy="3170099"/>
          </a:xfrm>
          <a:prstGeom prst="rect">
            <a:avLst/>
          </a:prstGeom>
          <a:noFill/>
          <a:ln w="9525">
            <a:noFill/>
            <a:miter lim="800000"/>
            <a:headEnd/>
            <a:tailEnd/>
          </a:ln>
          <a:effectLst/>
        </p:spPr>
        <p:txBody>
          <a:bodyPr wrap="square">
            <a:spAutoFit/>
          </a:bodyPr>
          <a:lstStyle/>
          <a:p>
            <a:pPr algn="ctr">
              <a:defRPr/>
            </a:pPr>
            <a:r>
              <a:rPr lang="en-US" sz="4000" b="1" dirty="0">
                <a:latin typeface="Avenir"/>
                <a:cs typeface="Avenir"/>
              </a:rPr>
              <a:t>Q3. </a:t>
            </a:r>
            <a:r>
              <a:rPr lang="en-US" sz="4000" b="1" i="1" dirty="0">
                <a:latin typeface="Avenir"/>
                <a:cs typeface="Avenir"/>
              </a:rPr>
              <a:t>Ascaris</a:t>
            </a:r>
            <a:r>
              <a:rPr lang="en-US" sz="4000" b="1" dirty="0">
                <a:latin typeface="Avenir"/>
                <a:cs typeface="Avenir"/>
              </a:rPr>
              <a:t> eggs are tough because of their thick </a:t>
            </a:r>
            <a:r>
              <a:rPr lang="en-US" sz="4000" b="1" dirty="0" err="1">
                <a:latin typeface="Avenir"/>
                <a:cs typeface="Avenir"/>
              </a:rPr>
              <a:t>mammilated</a:t>
            </a:r>
            <a:r>
              <a:rPr lang="en-US" sz="4000" b="1" dirty="0">
                <a:latin typeface="Avenir"/>
                <a:cs typeface="Avenir"/>
              </a:rPr>
              <a:t> layer. What are some of the conditions that </a:t>
            </a:r>
            <a:r>
              <a:rPr lang="en-US" sz="4000" b="1" i="1" dirty="0">
                <a:latin typeface="Avenir"/>
                <a:cs typeface="Avenir"/>
              </a:rPr>
              <a:t>Ascaris</a:t>
            </a:r>
            <a:r>
              <a:rPr lang="en-US" sz="4000" b="1" dirty="0">
                <a:latin typeface="Avenir"/>
                <a:cs typeface="Avenir"/>
              </a:rPr>
              <a:t> eggs can survive that might kill other parasite eggs?</a:t>
            </a:r>
          </a:p>
        </p:txBody>
      </p:sp>
      <p:pic>
        <p:nvPicPr>
          <p:cNvPr id="2" name="Picture 1">
            <a:extLst>
              <a:ext uri="{FF2B5EF4-FFF2-40B4-BE49-F238E27FC236}">
                <a16:creationId xmlns:a16="http://schemas.microsoft.com/office/drawing/2014/main" id="{9FACBA41-11B5-F54D-A1B8-5709EE3A2B76}"/>
              </a:ext>
            </a:extLst>
          </p:cNvPr>
          <p:cNvPicPr>
            <a:picLocks noChangeAspect="1"/>
          </p:cNvPicPr>
          <p:nvPr/>
        </p:nvPicPr>
        <p:blipFill>
          <a:blip r:embed="rId3"/>
          <a:stretch>
            <a:fillRect/>
          </a:stretch>
        </p:blipFill>
        <p:spPr>
          <a:xfrm>
            <a:off x="4423134" y="4848954"/>
            <a:ext cx="3345721" cy="541574"/>
          </a:xfrm>
          <a:prstGeom prst="rect">
            <a:avLst/>
          </a:prstGeom>
        </p:spPr>
      </p:pic>
    </p:spTree>
    <p:extLst>
      <p:ext uri="{BB962C8B-B14F-4D97-AF65-F5344CB8AC3E}">
        <p14:creationId xmlns:p14="http://schemas.microsoft.com/office/powerpoint/2010/main" val="16033665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AA4C8-DA92-E7DB-9AAE-E2A094573933}"/>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859127AC-E8EC-F1D5-D41C-6D75ABC782D4}"/>
              </a:ext>
            </a:extLst>
          </p:cNvPr>
          <p:cNvSpPr>
            <a:spLocks noGrp="1"/>
          </p:cNvSpPr>
          <p:nvPr>
            <p:ph type="subTitle" idx="1"/>
          </p:nvPr>
        </p:nvSpPr>
        <p:spPr/>
        <p:txBody>
          <a:bodyPr/>
          <a:lstStyle/>
          <a:p>
            <a:endParaRPr lang="en-US"/>
          </a:p>
        </p:txBody>
      </p:sp>
      <p:pic>
        <p:nvPicPr>
          <p:cNvPr id="5" name="slide.url=https://www.polleverywhere.com/free_text_polls/mgHRf1ghW7CBPpWzHrX9X">
            <a:extLst>
              <a:ext uri="{FF2B5EF4-FFF2-40B4-BE49-F238E27FC236}">
                <a16:creationId xmlns:a16="http://schemas.microsoft.com/office/drawing/2014/main" id="{3FECDCEB-3F56-BEAD-FE42-4C3FE8811ED1}"/>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3294135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82900" y="1209281"/>
            <a:ext cx="11649060"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Q4. pathology of </a:t>
            </a:r>
            <a:r>
              <a:rPr lang="en-US" sz="3500" b="1" i="1" dirty="0">
                <a:latin typeface="Avenir"/>
                <a:cs typeface="Avenir"/>
              </a:rPr>
              <a:t>Trichuris </a:t>
            </a:r>
            <a:r>
              <a:rPr lang="en-US" sz="3500" b="1" i="1" dirty="0" err="1">
                <a:latin typeface="Avenir"/>
                <a:cs typeface="Avenir"/>
              </a:rPr>
              <a:t>trichiura</a:t>
            </a:r>
            <a:endParaRPr lang="en-US" sz="3500" b="1" i="1" dirty="0">
              <a:latin typeface="Avenir"/>
              <a:cs typeface="Avenir"/>
            </a:endParaRPr>
          </a:p>
        </p:txBody>
      </p:sp>
      <p:sp>
        <p:nvSpPr>
          <p:cNvPr id="4" name="Rectangle 3"/>
          <p:cNvSpPr>
            <a:spLocks noChangeArrowheads="1"/>
          </p:cNvSpPr>
          <p:nvPr/>
        </p:nvSpPr>
        <p:spPr bwMode="auto">
          <a:xfrm>
            <a:off x="537211" y="2528735"/>
            <a:ext cx="11188636" cy="1938992"/>
          </a:xfrm>
          <a:prstGeom prst="rect">
            <a:avLst/>
          </a:prstGeom>
          <a:noFill/>
          <a:ln w="9525">
            <a:noFill/>
            <a:miter lim="800000"/>
            <a:headEnd/>
            <a:tailEnd/>
          </a:ln>
          <a:effectLst/>
        </p:spPr>
        <p:txBody>
          <a:bodyPr wrap="square">
            <a:spAutoFit/>
          </a:bodyPr>
          <a:lstStyle/>
          <a:p>
            <a:pPr>
              <a:defRPr/>
            </a:pPr>
            <a:r>
              <a:rPr lang="en-US" sz="3000" i="1" dirty="0">
                <a:latin typeface="Avenir"/>
                <a:cs typeface="Avenir"/>
              </a:rPr>
              <a:t>Trichuris </a:t>
            </a:r>
            <a:r>
              <a:rPr lang="en-US" sz="3000" i="1" dirty="0" err="1">
                <a:latin typeface="Avenir"/>
                <a:cs typeface="Avenir"/>
              </a:rPr>
              <a:t>trichiura</a:t>
            </a:r>
            <a:r>
              <a:rPr lang="en-US" sz="3000" i="1" dirty="0">
                <a:latin typeface="Avenir"/>
                <a:cs typeface="Avenir"/>
              </a:rPr>
              <a:t> </a:t>
            </a:r>
            <a:r>
              <a:rPr lang="en-US" sz="3000" dirty="0">
                <a:latin typeface="Avenir"/>
                <a:cs typeface="Avenir"/>
              </a:rPr>
              <a:t>doesn’t take blood from its host, but its pathology can be severe nonetheless, due to the damage it causes to the intestinal epithelium. Why is damage to the intestinal epithelium bad? List as many reasons as you can.</a:t>
            </a:r>
            <a:endParaRPr lang="en-US" sz="3000" b="1" dirty="0">
              <a:latin typeface="Avenir"/>
              <a:cs typeface="Avenir"/>
            </a:endParaRPr>
          </a:p>
        </p:txBody>
      </p:sp>
      <p:pic>
        <p:nvPicPr>
          <p:cNvPr id="2" name="Picture 1">
            <a:extLst>
              <a:ext uri="{FF2B5EF4-FFF2-40B4-BE49-F238E27FC236}">
                <a16:creationId xmlns:a16="http://schemas.microsoft.com/office/drawing/2014/main" id="{DC14F2C6-E562-ECEF-DA27-84EAF961E73D}"/>
              </a:ext>
            </a:extLst>
          </p:cNvPr>
          <p:cNvPicPr>
            <a:picLocks noChangeAspect="1"/>
          </p:cNvPicPr>
          <p:nvPr/>
        </p:nvPicPr>
        <p:blipFill>
          <a:blip r:embed="rId3"/>
          <a:stretch>
            <a:fillRect/>
          </a:stretch>
        </p:blipFill>
        <p:spPr>
          <a:xfrm>
            <a:off x="4480284" y="5729064"/>
            <a:ext cx="3345721" cy="541574"/>
          </a:xfrm>
          <a:prstGeom prst="rect">
            <a:avLst/>
          </a:prstGeom>
        </p:spPr>
      </p:pic>
    </p:spTree>
    <p:extLst>
      <p:ext uri="{BB962C8B-B14F-4D97-AF65-F5344CB8AC3E}">
        <p14:creationId xmlns:p14="http://schemas.microsoft.com/office/powerpoint/2010/main" val="2066110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0D6C0-1717-781F-6C46-D441C1EE858C}"/>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B9074499-3F70-3F89-7388-D9C1FD545391}"/>
              </a:ext>
            </a:extLst>
          </p:cNvPr>
          <p:cNvSpPr>
            <a:spLocks noGrp="1"/>
          </p:cNvSpPr>
          <p:nvPr>
            <p:ph type="subTitle" idx="1"/>
          </p:nvPr>
        </p:nvSpPr>
        <p:spPr/>
        <p:txBody>
          <a:bodyPr/>
          <a:lstStyle/>
          <a:p>
            <a:endParaRPr lang="en-US"/>
          </a:p>
        </p:txBody>
      </p:sp>
      <p:pic>
        <p:nvPicPr>
          <p:cNvPr id="5" name="slide.url=https://www.polleverywhere.com/discourses/r3QPrLFthhjdUo0RhoMMF">
            <a:extLst>
              <a:ext uri="{FF2B5EF4-FFF2-40B4-BE49-F238E27FC236}">
                <a16:creationId xmlns:a16="http://schemas.microsoft.com/office/drawing/2014/main" id="{573833A8-B65A-B86E-38D9-74B4ECB455AB}"/>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671798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239635" y="3013501"/>
            <a:ext cx="10896600" cy="830997"/>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Class 10</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Nematodes 1</a:t>
            </a:r>
          </a:p>
        </p:txBody>
      </p:sp>
    </p:spTree>
    <p:extLst>
      <p:ext uri="{BB962C8B-B14F-4D97-AF65-F5344CB8AC3E}">
        <p14:creationId xmlns:p14="http://schemas.microsoft.com/office/powerpoint/2010/main" val="21207535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4985</TotalTime>
  <Words>434</Words>
  <Application>Microsoft Macintosh PowerPoint</Application>
  <PresentationFormat>Widescreen</PresentationFormat>
  <Paragraphs>26</Paragraphs>
  <Slides>11</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Avenir</vt:lpstr>
      <vt:lpstr>Avenir Book</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Chelsea L. Wood</dc:creator>
  <cp:lastModifiedBy>Chelsea Wood</cp:lastModifiedBy>
  <cp:revision>118</cp:revision>
  <dcterms:created xsi:type="dcterms:W3CDTF">2020-04-03T14:55:00Z</dcterms:created>
  <dcterms:modified xsi:type="dcterms:W3CDTF">2025-10-20T19:04:54Z</dcterms:modified>
</cp:coreProperties>
</file>