
<file path=[Content_Types].xml><?xml version="1.0" encoding="utf-8"?>
<Types xmlns="http://schemas.openxmlformats.org/package/2006/content-types">
  <Default Extension="AVI" ContentType="video/x-msvideo"/>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480" r:id="rId2"/>
    <p:sldId id="1540" r:id="rId3"/>
    <p:sldId id="1541" r:id="rId4"/>
    <p:sldId id="1542" r:id="rId5"/>
    <p:sldId id="1543" r:id="rId6"/>
    <p:sldId id="1544" r:id="rId7"/>
    <p:sldId id="723" r:id="rId8"/>
    <p:sldId id="714" r:id="rId9"/>
    <p:sldId id="154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884"/>
  </p:normalViewPr>
  <p:slideViewPr>
    <p:cSldViewPr snapToGrid="0" snapToObjects="1">
      <p:cViewPr varScale="1">
        <p:scale>
          <a:sx n="110" d="100"/>
          <a:sy n="110"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Washington State’s most important commercial fisheries, bringing in</a:t>
            </a:r>
            <a:r>
              <a:rPr lang="en-US" baseline="0" dirty="0"/>
              <a:t> millions of dollars per year, </a:t>
            </a:r>
            <a:endParaRPr lang="en-US" dirty="0"/>
          </a:p>
        </p:txBody>
      </p:sp>
      <p:sp>
        <p:nvSpPr>
          <p:cNvPr id="4" name="Slide Number Placeholder 3"/>
          <p:cNvSpPr>
            <a:spLocks noGrp="1"/>
          </p:cNvSpPr>
          <p:nvPr>
            <p:ph type="sldNum" sz="quarter" idx="10"/>
          </p:nvPr>
        </p:nvSpPr>
        <p:spPr/>
        <p:txBody>
          <a:bodyPr/>
          <a:lstStyle/>
          <a:p>
            <a:pPr>
              <a:defRPr/>
            </a:pPr>
            <a:fld id="{AB99F875-6418-9046-A7B9-64BEAE835B18}" type="slidenum">
              <a:rPr lang="en-US" smtClean="0"/>
              <a:pPr>
                <a:defRPr/>
              </a:pPr>
              <a:t>2</a:t>
            </a:fld>
            <a:endParaRPr lang="en-US"/>
          </a:p>
        </p:txBody>
      </p:sp>
    </p:spTree>
    <p:extLst>
      <p:ext uri="{BB962C8B-B14F-4D97-AF65-F5344CB8AC3E}">
        <p14:creationId xmlns:p14="http://schemas.microsoft.com/office/powerpoint/2010/main" val="605086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an integral</a:t>
            </a:r>
            <a:r>
              <a:rPr lang="en-US" baseline="0" dirty="0"/>
              <a:t> part of many of Washington’s marine food webs. A lesser known fact about Dungeness crabs,</a:t>
            </a:r>
            <a:endParaRPr lang="en-US" dirty="0"/>
          </a:p>
        </p:txBody>
      </p:sp>
      <p:sp>
        <p:nvSpPr>
          <p:cNvPr id="4" name="Slide Number Placeholder 3"/>
          <p:cNvSpPr>
            <a:spLocks noGrp="1"/>
          </p:cNvSpPr>
          <p:nvPr>
            <p:ph type="sldNum" sz="quarter" idx="10"/>
          </p:nvPr>
        </p:nvSpPr>
        <p:spPr/>
        <p:txBody>
          <a:bodyPr/>
          <a:lstStyle/>
          <a:p>
            <a:pPr>
              <a:defRPr/>
            </a:pPr>
            <a:fld id="{AB99F875-6418-9046-A7B9-64BEAE835B18}" type="slidenum">
              <a:rPr lang="en-US" smtClean="0"/>
              <a:pPr>
                <a:defRPr/>
              </a:pPr>
              <a:t>3</a:t>
            </a:fld>
            <a:endParaRPr lang="en-US"/>
          </a:p>
        </p:txBody>
      </p:sp>
    </p:spTree>
    <p:extLst>
      <p:ext uri="{BB962C8B-B14F-4D97-AF65-F5344CB8AC3E}">
        <p14:creationId xmlns:p14="http://schemas.microsoft.com/office/powerpoint/2010/main" val="2719755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that they have several important parasites that</a:t>
            </a:r>
            <a:r>
              <a:rPr lang="en-US" baseline="0" dirty="0"/>
              <a:t> may be influential enough to change their host’s population dynamics.</a:t>
            </a:r>
          </a:p>
          <a:p>
            <a:endParaRPr lang="en-US" baseline="0" dirty="0"/>
          </a:p>
          <a:p>
            <a:r>
              <a:rPr lang="en-US" baseline="0" dirty="0"/>
              <a:t>These are nemertean, or ribbon worm, parasites in the genus </a:t>
            </a:r>
            <a:r>
              <a:rPr lang="en-US" baseline="0" dirty="0" err="1"/>
              <a:t>Carcinonemertes</a:t>
            </a:r>
            <a:r>
              <a:rPr lang="en-US" baseline="0" dirty="0"/>
              <a:t>. They live on the exoskeleton of the crabs and invade the egg masses of </a:t>
            </a:r>
            <a:r>
              <a:rPr lang="en-US" baseline="0" dirty="0" err="1"/>
              <a:t>ovigerous</a:t>
            </a:r>
            <a:r>
              <a:rPr lang="en-US" baseline="0" dirty="0"/>
              <a:t> female crabs, where they then get about the business of eating as many crab eggs as possible.</a:t>
            </a:r>
            <a:endParaRPr lang="en-US" dirty="0"/>
          </a:p>
        </p:txBody>
      </p:sp>
      <p:sp>
        <p:nvSpPr>
          <p:cNvPr id="4" name="Slide Number Placeholder 3"/>
          <p:cNvSpPr>
            <a:spLocks noGrp="1"/>
          </p:cNvSpPr>
          <p:nvPr>
            <p:ph type="sldNum" sz="quarter" idx="10"/>
          </p:nvPr>
        </p:nvSpPr>
        <p:spPr/>
        <p:txBody>
          <a:bodyPr/>
          <a:lstStyle/>
          <a:p>
            <a:pPr>
              <a:defRPr/>
            </a:pPr>
            <a:fld id="{AB99F875-6418-9046-A7B9-64BEAE835B18}" type="slidenum">
              <a:rPr lang="en-US" smtClean="0"/>
              <a:pPr>
                <a:defRPr/>
              </a:pPr>
              <a:t>4</a:t>
            </a:fld>
            <a:endParaRPr lang="en-US"/>
          </a:p>
        </p:txBody>
      </p:sp>
    </p:spTree>
    <p:extLst>
      <p:ext uri="{BB962C8B-B14F-4D97-AF65-F5344CB8AC3E}">
        <p14:creationId xmlns:p14="http://schemas.microsoft.com/office/powerpoint/2010/main" val="1768102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first began grad school, I actually considered working on these </a:t>
            </a:r>
            <a:r>
              <a:rPr lang="en-US" baseline="0" dirty="0"/>
              <a:t>parasites.  And this is some video that I took at that time.  And though I didn’t end up working with </a:t>
            </a:r>
            <a:r>
              <a:rPr lang="en-US" baseline="0" dirty="0" err="1"/>
              <a:t>Carcinonemertes</a:t>
            </a:r>
            <a:r>
              <a:rPr lang="en-US" baseline="0" dirty="0"/>
              <a:t>, they’ve since remained in the back of my mind.</a:t>
            </a:r>
          </a:p>
          <a:p>
            <a:endParaRPr lang="en-US" baseline="0" dirty="0"/>
          </a:p>
          <a:p>
            <a:r>
              <a:rPr lang="en-US" baseline="0" dirty="0"/>
              <a:t>There are two interesting and unanswered questions that I’ve been thinking about that would make for productive collaborations within SAFS.</a:t>
            </a:r>
            <a:r>
              <a:rPr lang="en-US" dirty="0"/>
              <a:t> </a:t>
            </a:r>
          </a:p>
        </p:txBody>
      </p:sp>
      <p:sp>
        <p:nvSpPr>
          <p:cNvPr id="4" name="Slide Number Placeholder 3"/>
          <p:cNvSpPr>
            <a:spLocks noGrp="1"/>
          </p:cNvSpPr>
          <p:nvPr>
            <p:ph type="sldNum" sz="quarter" idx="10"/>
          </p:nvPr>
        </p:nvSpPr>
        <p:spPr/>
        <p:txBody>
          <a:bodyPr/>
          <a:lstStyle/>
          <a:p>
            <a:pPr>
              <a:defRPr/>
            </a:pPr>
            <a:fld id="{AB99F875-6418-9046-A7B9-64BEAE835B18}" type="slidenum">
              <a:rPr lang="en-US" smtClean="0"/>
              <a:pPr>
                <a:defRPr/>
              </a:pPr>
              <a:t>5</a:t>
            </a:fld>
            <a:endParaRPr lang="en-US"/>
          </a:p>
        </p:txBody>
      </p:sp>
    </p:spTree>
    <p:extLst>
      <p:ext uri="{BB962C8B-B14F-4D97-AF65-F5344CB8AC3E}">
        <p14:creationId xmlns:p14="http://schemas.microsoft.com/office/powerpoint/2010/main" val="1005963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 first has to do with</a:t>
            </a:r>
            <a:r>
              <a:rPr lang="en-US" baseline="0" dirty="0"/>
              <a:t> the characteristic oscillations in Dungeness populations. Historically, there have been these large fluctuations in harvest.  To the extent that these fluctuations represent real underlying changes in the population dynamics of the host,</a:t>
            </a:r>
          </a:p>
          <a:p>
            <a:endParaRPr lang="en-US" baseline="0" dirty="0"/>
          </a:p>
          <a:p>
            <a:r>
              <a:rPr lang="en-US" baseline="0" dirty="0"/>
              <a:t>It is possible that these oscillations are driven by density-dependent changes in parasite transmission, happening with a time delay. The classic example of this pattern comes from red grouse in northern England, which had have these huge boom-and-bust cycles that can be mitigated and then eliminated when the grouse are treated for their worm parasites.</a:t>
            </a:r>
          </a:p>
          <a:p>
            <a:endParaRPr lang="en-US" baseline="0" dirty="0"/>
          </a:p>
          <a:p>
            <a:r>
              <a:rPr lang="en-US" baseline="0" dirty="0"/>
              <a:t>I think that this question would leverage the theoretical ecology, economic, and fisheries management expertise within SAFS and make for an interesting and impactful project.</a:t>
            </a:r>
            <a:endParaRPr lang="en-US" dirty="0"/>
          </a:p>
        </p:txBody>
      </p:sp>
      <p:sp>
        <p:nvSpPr>
          <p:cNvPr id="4" name="Slide Number Placeholder 3"/>
          <p:cNvSpPr>
            <a:spLocks noGrp="1"/>
          </p:cNvSpPr>
          <p:nvPr>
            <p:ph type="sldNum" sz="quarter" idx="10"/>
          </p:nvPr>
        </p:nvSpPr>
        <p:spPr/>
        <p:txBody>
          <a:bodyPr/>
          <a:lstStyle/>
          <a:p>
            <a:pPr>
              <a:defRPr/>
            </a:pPr>
            <a:fld id="{AB99F875-6418-9046-A7B9-64BEAE835B18}" type="slidenum">
              <a:rPr lang="en-US" smtClean="0"/>
              <a:pPr>
                <a:defRPr/>
              </a:pPr>
              <a:t>6</a:t>
            </a:fld>
            <a:endParaRPr lang="en-US"/>
          </a:p>
        </p:txBody>
      </p:sp>
    </p:spTree>
    <p:extLst>
      <p:ext uri="{BB962C8B-B14F-4D97-AF65-F5344CB8AC3E}">
        <p14:creationId xmlns:p14="http://schemas.microsoft.com/office/powerpoint/2010/main" val="3985707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7</a:t>
            </a:fld>
            <a:endParaRPr lang="en-US"/>
          </a:p>
        </p:txBody>
      </p:sp>
    </p:spTree>
    <p:extLst>
      <p:ext uri="{BB962C8B-B14F-4D97-AF65-F5344CB8AC3E}">
        <p14:creationId xmlns:p14="http://schemas.microsoft.com/office/powerpoint/2010/main" val="3753546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8</a:t>
            </a:fld>
            <a:endParaRPr lang="en-US"/>
          </a:p>
        </p:txBody>
      </p:sp>
    </p:spTree>
    <p:extLst>
      <p:ext uri="{BB962C8B-B14F-4D97-AF65-F5344CB8AC3E}">
        <p14:creationId xmlns:p14="http://schemas.microsoft.com/office/powerpoint/2010/main" val="3214791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9</a:t>
            </a:fld>
            <a:endParaRPr lang="en-US"/>
          </a:p>
        </p:txBody>
      </p:sp>
    </p:spTree>
    <p:extLst>
      <p:ext uri="{BB962C8B-B14F-4D97-AF65-F5344CB8AC3E}">
        <p14:creationId xmlns:p14="http://schemas.microsoft.com/office/powerpoint/2010/main" val="3547796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10/21/26</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10/21/26</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AVI"/><Relationship Id="rId1" Type="http://schemas.microsoft.com/office/2007/relationships/media" Target="../media/media1.AVI"/><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82497" y="2644170"/>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9</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Introduction to the nematodes</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745532" y="0"/>
            <a:ext cx="6706518" cy="6858000"/>
          </a:xfrm>
          <a:prstGeom prst="rect">
            <a:avLst/>
          </a:prstGeom>
        </p:spPr>
      </p:pic>
      <p:sp>
        <p:nvSpPr>
          <p:cNvPr id="6" name="TextBox 10"/>
          <p:cNvSpPr txBox="1">
            <a:spLocks noChangeArrowheads="1"/>
          </p:cNvSpPr>
          <p:nvPr/>
        </p:nvSpPr>
        <p:spPr bwMode="auto">
          <a:xfrm>
            <a:off x="2743200" y="5181601"/>
            <a:ext cx="6705600" cy="1015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ctr" eaLnBrk="1" hangingPunct="1"/>
            <a:r>
              <a:rPr lang="en-US" sz="3000" dirty="0">
                <a:latin typeface="Avenir Book"/>
                <a:cs typeface="Avenir Book"/>
              </a:rPr>
              <a:t>Dungeness crab</a:t>
            </a:r>
          </a:p>
          <a:p>
            <a:pPr algn="ctr" eaLnBrk="1" hangingPunct="1"/>
            <a:r>
              <a:rPr lang="en-US" sz="3000" i="1" dirty="0" err="1">
                <a:latin typeface="Avenir Book"/>
                <a:cs typeface="Avenir Book"/>
              </a:rPr>
              <a:t>Metacarcinus</a:t>
            </a:r>
            <a:r>
              <a:rPr lang="en-US" sz="3000" i="1" dirty="0">
                <a:latin typeface="Avenir Book"/>
                <a:cs typeface="Avenir Book"/>
              </a:rPr>
              <a:t> magister</a:t>
            </a:r>
          </a:p>
        </p:txBody>
      </p:sp>
    </p:spTree>
    <p:extLst>
      <p:ext uri="{BB962C8B-B14F-4D97-AF65-F5344CB8AC3E}">
        <p14:creationId xmlns:p14="http://schemas.microsoft.com/office/powerpoint/2010/main" val="410859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524000" y="1460501"/>
            <a:ext cx="9144000" cy="3921919"/>
          </a:xfrm>
          <a:prstGeom prst="rect">
            <a:avLst/>
          </a:prstGeom>
        </p:spPr>
      </p:pic>
      <p:sp>
        <p:nvSpPr>
          <p:cNvPr id="5" name="TextBox 10"/>
          <p:cNvSpPr txBox="1">
            <a:spLocks noChangeArrowheads="1"/>
          </p:cNvSpPr>
          <p:nvPr/>
        </p:nvSpPr>
        <p:spPr bwMode="auto">
          <a:xfrm>
            <a:off x="2057400" y="5361802"/>
            <a:ext cx="8534400" cy="276999"/>
          </a:xfrm>
          <a:prstGeom prst="rect">
            <a:avLst/>
          </a:prstGeom>
          <a:noFill/>
          <a:ln w="9525">
            <a:noFill/>
            <a:miter lim="800000"/>
            <a:headEnd/>
            <a:tailEnd/>
          </a:ln>
        </p:spPr>
        <p:txBody>
          <a:bodyPr wrap="square">
            <a:prstTxWarp prst="textNoShape">
              <a:avLst/>
            </a:prstTxWarp>
            <a:spAutoFit/>
          </a:bodyPr>
          <a:lstStyle/>
          <a:p>
            <a:pPr algn="r"/>
            <a:r>
              <a:rPr lang="en-US" sz="1200" dirty="0">
                <a:latin typeface="Avenir"/>
                <a:ea typeface="Times New Roman" charset="0"/>
                <a:cs typeface="Avenir"/>
              </a:rPr>
              <a:t>J </a:t>
            </a:r>
            <a:r>
              <a:rPr lang="en-US" sz="1200" dirty="0" err="1">
                <a:latin typeface="Avenir"/>
                <a:ea typeface="Times New Roman" charset="0"/>
                <a:cs typeface="Avenir"/>
              </a:rPr>
              <a:t>Maughn</a:t>
            </a:r>
            <a:endParaRPr lang="en-US" sz="1200" i="1" dirty="0">
              <a:latin typeface="Avenir"/>
              <a:ea typeface="Times New Roman" charset="0"/>
              <a:cs typeface="Avenir"/>
            </a:endParaRPr>
          </a:p>
        </p:txBody>
      </p:sp>
    </p:spTree>
    <p:extLst>
      <p:ext uri="{BB962C8B-B14F-4D97-AF65-F5344CB8AC3E}">
        <p14:creationId xmlns:p14="http://schemas.microsoft.com/office/powerpoint/2010/main" val="1785117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1524000" y="0"/>
            <a:ext cx="9144000" cy="6538656"/>
          </a:xfrm>
          <a:prstGeom prst="rect">
            <a:avLst/>
          </a:prstGeom>
        </p:spPr>
      </p:pic>
      <p:sp>
        <p:nvSpPr>
          <p:cNvPr id="6" name="TextBox 10"/>
          <p:cNvSpPr txBox="1">
            <a:spLocks noChangeArrowheads="1"/>
          </p:cNvSpPr>
          <p:nvPr/>
        </p:nvSpPr>
        <p:spPr bwMode="auto">
          <a:xfrm>
            <a:off x="1828800" y="355938"/>
            <a:ext cx="6705600" cy="1015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US" sz="3000" dirty="0">
                <a:solidFill>
                  <a:schemeClr val="bg1"/>
                </a:solidFill>
                <a:latin typeface="Avenir Book"/>
                <a:cs typeface="Avenir Book"/>
              </a:rPr>
              <a:t>nemertean egg predators</a:t>
            </a:r>
          </a:p>
          <a:p>
            <a:pPr eaLnBrk="1" hangingPunct="1"/>
            <a:r>
              <a:rPr lang="en-US" sz="3000" i="1" dirty="0" err="1">
                <a:solidFill>
                  <a:schemeClr val="bg1"/>
                </a:solidFill>
                <a:latin typeface="Avenir Book"/>
                <a:cs typeface="Avenir Book"/>
              </a:rPr>
              <a:t>Carcinonemertes</a:t>
            </a:r>
            <a:r>
              <a:rPr lang="en-US" sz="3000" i="1" dirty="0">
                <a:solidFill>
                  <a:schemeClr val="bg1"/>
                </a:solidFill>
                <a:latin typeface="Avenir Book"/>
                <a:cs typeface="Avenir Book"/>
              </a:rPr>
              <a:t> </a:t>
            </a:r>
            <a:r>
              <a:rPr lang="en-US" sz="3000" dirty="0">
                <a:solidFill>
                  <a:schemeClr val="bg1"/>
                </a:solidFill>
                <a:latin typeface="Avenir Book"/>
                <a:cs typeface="Avenir Book"/>
              </a:rPr>
              <a:t>spp.</a:t>
            </a:r>
            <a:endParaRPr lang="en-US" sz="3000" i="1" dirty="0">
              <a:solidFill>
                <a:schemeClr val="bg1"/>
              </a:solidFill>
              <a:latin typeface="Avenir Book"/>
              <a:cs typeface="Avenir Book"/>
            </a:endParaRPr>
          </a:p>
        </p:txBody>
      </p:sp>
      <p:sp>
        <p:nvSpPr>
          <p:cNvPr id="7" name="TextBox 10"/>
          <p:cNvSpPr txBox="1">
            <a:spLocks noChangeArrowheads="1"/>
          </p:cNvSpPr>
          <p:nvPr/>
        </p:nvSpPr>
        <p:spPr bwMode="auto">
          <a:xfrm>
            <a:off x="3657600" y="6305490"/>
            <a:ext cx="670560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1600" dirty="0">
                <a:solidFill>
                  <a:schemeClr val="bg1"/>
                </a:solidFill>
                <a:latin typeface="Avenir Book"/>
                <a:cs typeface="Avenir Book"/>
              </a:rPr>
              <a:t>(</a:t>
            </a:r>
            <a:r>
              <a:rPr lang="en-US" sz="1600" dirty="0" err="1">
                <a:solidFill>
                  <a:schemeClr val="bg1"/>
                </a:solidFill>
                <a:latin typeface="Avenir Book"/>
                <a:cs typeface="Avenir Book"/>
              </a:rPr>
              <a:t>Sadeghian</a:t>
            </a:r>
            <a:r>
              <a:rPr lang="en-US" sz="1600" dirty="0">
                <a:solidFill>
                  <a:schemeClr val="bg1"/>
                </a:solidFill>
                <a:latin typeface="Avenir Book"/>
                <a:cs typeface="Avenir Book"/>
              </a:rPr>
              <a:t> and Santos 2010 </a:t>
            </a:r>
            <a:r>
              <a:rPr lang="en-US" sz="1600" i="1" dirty="0">
                <a:solidFill>
                  <a:schemeClr val="bg1"/>
                </a:solidFill>
                <a:latin typeface="Avenir Book"/>
                <a:cs typeface="Avenir Book"/>
              </a:rPr>
              <a:t>J Nat </a:t>
            </a:r>
            <a:r>
              <a:rPr lang="en-US" sz="1600" i="1" dirty="0" err="1">
                <a:solidFill>
                  <a:schemeClr val="bg1"/>
                </a:solidFill>
                <a:latin typeface="Avenir Book"/>
                <a:cs typeface="Avenir Book"/>
              </a:rPr>
              <a:t>Hist</a:t>
            </a:r>
            <a:r>
              <a:rPr lang="en-US" sz="1600" dirty="0">
                <a:solidFill>
                  <a:schemeClr val="bg1"/>
                </a:solidFill>
                <a:latin typeface="Avenir Book"/>
                <a:cs typeface="Avenir Book"/>
              </a:rPr>
              <a:t>)</a:t>
            </a:r>
            <a:endParaRPr lang="en-US" sz="1600" i="1" dirty="0">
              <a:solidFill>
                <a:schemeClr val="bg1"/>
              </a:solidFill>
              <a:latin typeface="Avenir Book"/>
              <a:cs typeface="Avenir Book"/>
            </a:endParaRPr>
          </a:p>
        </p:txBody>
      </p:sp>
    </p:spTree>
    <p:extLst>
      <p:ext uri="{BB962C8B-B14F-4D97-AF65-F5344CB8AC3E}">
        <p14:creationId xmlns:p14="http://schemas.microsoft.com/office/powerpoint/2010/main" val="3916475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MVI_1636.AVI">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11771" t="5963" r="11713" b="8042"/>
          <a:stretch/>
        </p:blipFill>
        <p:spPr>
          <a:xfrm>
            <a:off x="3290414" y="304800"/>
            <a:ext cx="6996586" cy="5897504"/>
          </a:xfrm>
          <a:prstGeom prst="rect">
            <a:avLst/>
          </a:prstGeom>
        </p:spPr>
      </p:pic>
      <p:sp>
        <p:nvSpPr>
          <p:cNvPr id="5" name="TextBox 10"/>
          <p:cNvSpPr txBox="1">
            <a:spLocks noChangeArrowheads="1"/>
          </p:cNvSpPr>
          <p:nvPr/>
        </p:nvSpPr>
        <p:spPr bwMode="auto">
          <a:xfrm>
            <a:off x="1752600" y="5689938"/>
            <a:ext cx="6705600" cy="1015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US" sz="3000" dirty="0">
                <a:solidFill>
                  <a:schemeClr val="bg1"/>
                </a:solidFill>
                <a:latin typeface="Avenir Book"/>
                <a:cs typeface="Avenir Book"/>
              </a:rPr>
              <a:t>nemertean egg predators</a:t>
            </a:r>
          </a:p>
          <a:p>
            <a:pPr eaLnBrk="1" hangingPunct="1"/>
            <a:r>
              <a:rPr lang="en-US" sz="3000" i="1" dirty="0" err="1">
                <a:solidFill>
                  <a:schemeClr val="bg1"/>
                </a:solidFill>
                <a:latin typeface="Avenir Book"/>
                <a:cs typeface="Avenir Book"/>
              </a:rPr>
              <a:t>Carcinonemertes</a:t>
            </a:r>
            <a:r>
              <a:rPr lang="en-US" sz="3000" i="1" dirty="0">
                <a:solidFill>
                  <a:schemeClr val="bg1"/>
                </a:solidFill>
                <a:latin typeface="Avenir Book"/>
                <a:cs typeface="Avenir Book"/>
              </a:rPr>
              <a:t> </a:t>
            </a:r>
            <a:r>
              <a:rPr lang="en-US" sz="3000" dirty="0">
                <a:solidFill>
                  <a:schemeClr val="bg1"/>
                </a:solidFill>
                <a:latin typeface="Avenir Book"/>
                <a:cs typeface="Avenir Book"/>
              </a:rPr>
              <a:t>spp.</a:t>
            </a:r>
            <a:endParaRPr lang="en-US" sz="3000" i="1" dirty="0">
              <a:solidFill>
                <a:schemeClr val="bg1"/>
              </a:solidFill>
              <a:latin typeface="Avenir Book"/>
              <a:cs typeface="Avenir Book"/>
            </a:endParaRPr>
          </a:p>
        </p:txBody>
      </p:sp>
    </p:spTree>
    <p:extLst>
      <p:ext uri="{BB962C8B-B14F-4D97-AF65-F5344CB8AC3E}">
        <p14:creationId xmlns:p14="http://schemas.microsoft.com/office/powerpoint/2010/main" val="228571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8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mute="1">
                <p:cTn id="12" fill="hold" display="0">
                  <p:stCondLst>
                    <p:cond delay="indefinite"/>
                  </p:stCondLst>
                </p:cTn>
                <p:tgtEl>
                  <p:spTgt spid="4"/>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923222" y="1212852"/>
            <a:ext cx="8592378" cy="5035549"/>
          </a:xfrm>
          <a:prstGeom prst="rect">
            <a:avLst/>
          </a:prstGeom>
        </p:spPr>
      </p:pic>
      <p:sp>
        <p:nvSpPr>
          <p:cNvPr id="6" name="Rectangle 5"/>
          <p:cNvSpPr/>
          <p:nvPr/>
        </p:nvSpPr>
        <p:spPr>
          <a:xfrm>
            <a:off x="2377448" y="304800"/>
            <a:ext cx="8025372" cy="1371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10"/>
          <p:cNvSpPr txBox="1">
            <a:spLocks noChangeArrowheads="1"/>
          </p:cNvSpPr>
          <p:nvPr/>
        </p:nvSpPr>
        <p:spPr bwMode="auto">
          <a:xfrm>
            <a:off x="3810000" y="6324600"/>
            <a:ext cx="6705600" cy="4770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2500" dirty="0">
                <a:solidFill>
                  <a:srgbClr val="000000"/>
                </a:solidFill>
                <a:latin typeface="Avenir Book"/>
                <a:cs typeface="Avenir Book"/>
              </a:rPr>
              <a:t>(WDFW 2009)</a:t>
            </a:r>
          </a:p>
        </p:txBody>
      </p:sp>
      <p:sp>
        <p:nvSpPr>
          <p:cNvPr id="12" name="TextBox 10"/>
          <p:cNvSpPr txBox="1">
            <a:spLocks noChangeArrowheads="1"/>
          </p:cNvSpPr>
          <p:nvPr/>
        </p:nvSpPr>
        <p:spPr bwMode="auto">
          <a:xfrm rot="16200000">
            <a:off x="-376214" y="3200722"/>
            <a:ext cx="4291384"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1600" dirty="0">
                <a:solidFill>
                  <a:srgbClr val="000000"/>
                </a:solidFill>
                <a:latin typeface="Avenir Book"/>
                <a:cs typeface="Avenir Book"/>
              </a:rPr>
              <a:t>Dungeness crab landings (millions of pounds)</a:t>
            </a:r>
          </a:p>
        </p:txBody>
      </p:sp>
      <p:sp>
        <p:nvSpPr>
          <p:cNvPr id="13" name="TextBox 10"/>
          <p:cNvSpPr txBox="1">
            <a:spLocks noChangeArrowheads="1"/>
          </p:cNvSpPr>
          <p:nvPr/>
        </p:nvSpPr>
        <p:spPr bwMode="auto">
          <a:xfrm>
            <a:off x="1676400" y="4873824"/>
            <a:ext cx="60960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1400" dirty="0">
                <a:solidFill>
                  <a:srgbClr val="000000"/>
                </a:solidFill>
                <a:latin typeface="Avenir Book"/>
                <a:cs typeface="Avenir Book"/>
              </a:rPr>
              <a:t>5</a:t>
            </a:r>
          </a:p>
        </p:txBody>
      </p:sp>
      <p:sp>
        <p:nvSpPr>
          <p:cNvPr id="14" name="TextBox 10"/>
          <p:cNvSpPr txBox="1">
            <a:spLocks noChangeArrowheads="1"/>
          </p:cNvSpPr>
          <p:nvPr/>
        </p:nvSpPr>
        <p:spPr bwMode="auto">
          <a:xfrm>
            <a:off x="1676400" y="4111824"/>
            <a:ext cx="60960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1400" dirty="0">
                <a:solidFill>
                  <a:srgbClr val="000000"/>
                </a:solidFill>
                <a:latin typeface="Avenir Book"/>
                <a:cs typeface="Avenir Book"/>
              </a:rPr>
              <a:t>10</a:t>
            </a:r>
          </a:p>
        </p:txBody>
      </p:sp>
      <p:sp>
        <p:nvSpPr>
          <p:cNvPr id="15" name="TextBox 10"/>
          <p:cNvSpPr txBox="1">
            <a:spLocks noChangeArrowheads="1"/>
          </p:cNvSpPr>
          <p:nvPr/>
        </p:nvSpPr>
        <p:spPr bwMode="auto">
          <a:xfrm>
            <a:off x="1676400" y="3349824"/>
            <a:ext cx="60960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1400" dirty="0">
                <a:solidFill>
                  <a:srgbClr val="000000"/>
                </a:solidFill>
                <a:latin typeface="Avenir Book"/>
                <a:cs typeface="Avenir Book"/>
              </a:rPr>
              <a:t>15</a:t>
            </a:r>
          </a:p>
        </p:txBody>
      </p:sp>
      <p:sp>
        <p:nvSpPr>
          <p:cNvPr id="16" name="TextBox 10"/>
          <p:cNvSpPr txBox="1">
            <a:spLocks noChangeArrowheads="1"/>
          </p:cNvSpPr>
          <p:nvPr/>
        </p:nvSpPr>
        <p:spPr bwMode="auto">
          <a:xfrm>
            <a:off x="1676400" y="2587824"/>
            <a:ext cx="60960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1400" dirty="0">
                <a:solidFill>
                  <a:srgbClr val="000000"/>
                </a:solidFill>
                <a:latin typeface="Avenir Book"/>
                <a:cs typeface="Avenir Book"/>
              </a:rPr>
              <a:t>25</a:t>
            </a:r>
          </a:p>
        </p:txBody>
      </p:sp>
      <p:sp>
        <p:nvSpPr>
          <p:cNvPr id="17" name="TextBox 10"/>
          <p:cNvSpPr txBox="1">
            <a:spLocks noChangeArrowheads="1"/>
          </p:cNvSpPr>
          <p:nvPr/>
        </p:nvSpPr>
        <p:spPr bwMode="auto">
          <a:xfrm>
            <a:off x="1676400" y="1825824"/>
            <a:ext cx="60960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r" eaLnBrk="1" hangingPunct="1"/>
            <a:r>
              <a:rPr lang="en-US" sz="1400" dirty="0">
                <a:solidFill>
                  <a:srgbClr val="000000"/>
                </a:solidFill>
                <a:latin typeface="Avenir Book"/>
                <a:cs typeface="Avenir Book"/>
              </a:rPr>
              <a:t>30</a:t>
            </a:r>
          </a:p>
        </p:txBody>
      </p:sp>
      <p:pic>
        <p:nvPicPr>
          <p:cNvPr id="2" name="Picture 1"/>
          <p:cNvPicPr>
            <a:picLocks noChangeAspect="1"/>
          </p:cNvPicPr>
          <p:nvPr/>
        </p:nvPicPr>
        <p:blipFill>
          <a:blip r:embed="rId4"/>
          <a:stretch>
            <a:fillRect/>
          </a:stretch>
        </p:blipFill>
        <p:spPr>
          <a:xfrm>
            <a:off x="2736806" y="304800"/>
            <a:ext cx="2346341" cy="1371600"/>
          </a:xfrm>
          <a:prstGeom prst="rect">
            <a:avLst/>
          </a:prstGeom>
        </p:spPr>
      </p:pic>
      <p:pic>
        <p:nvPicPr>
          <p:cNvPr id="3" name="Picture 2"/>
          <p:cNvPicPr>
            <a:picLocks/>
          </p:cNvPicPr>
          <p:nvPr/>
        </p:nvPicPr>
        <p:blipFill>
          <a:blip r:embed="rId5"/>
          <a:stretch>
            <a:fillRect/>
          </a:stretch>
        </p:blipFill>
        <p:spPr>
          <a:xfrm>
            <a:off x="5129784" y="448056"/>
            <a:ext cx="2350008" cy="1228344"/>
          </a:xfrm>
          <a:prstGeom prst="rect">
            <a:avLst/>
          </a:prstGeom>
        </p:spPr>
      </p:pic>
      <p:pic>
        <p:nvPicPr>
          <p:cNvPr id="4" name="Picture 3"/>
          <p:cNvPicPr>
            <a:picLocks/>
          </p:cNvPicPr>
          <p:nvPr/>
        </p:nvPicPr>
        <p:blipFill>
          <a:blip r:embed="rId6"/>
          <a:stretch>
            <a:fillRect/>
          </a:stretch>
        </p:blipFill>
        <p:spPr>
          <a:xfrm>
            <a:off x="7479792" y="457200"/>
            <a:ext cx="2350008" cy="1335024"/>
          </a:xfrm>
          <a:prstGeom prst="rect">
            <a:avLst/>
          </a:prstGeom>
        </p:spPr>
      </p:pic>
      <p:sp>
        <p:nvSpPr>
          <p:cNvPr id="18" name="TextBox 10"/>
          <p:cNvSpPr txBox="1">
            <a:spLocks noChangeArrowheads="1"/>
          </p:cNvSpPr>
          <p:nvPr/>
        </p:nvSpPr>
        <p:spPr bwMode="auto">
          <a:xfrm rot="16200000">
            <a:off x="2234000" y="814001"/>
            <a:ext cx="83820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algn="ctr" eaLnBrk="1" hangingPunct="1"/>
            <a:r>
              <a:rPr lang="en-US" sz="1200" dirty="0">
                <a:solidFill>
                  <a:srgbClr val="000000"/>
                </a:solidFill>
                <a:latin typeface="Avenir Book"/>
                <a:cs typeface="Avenir Book"/>
              </a:rPr>
              <a:t># grouse</a:t>
            </a:r>
          </a:p>
        </p:txBody>
      </p:sp>
      <p:pic>
        <p:nvPicPr>
          <p:cNvPr id="19" name="Picture 18"/>
          <p:cNvPicPr>
            <a:picLocks/>
          </p:cNvPicPr>
          <p:nvPr/>
        </p:nvPicPr>
        <p:blipFill rotWithShape="1">
          <a:blip r:embed="rId7" cstate="print">
            <a:extLst>
              <a:ext uri="{28A0092B-C50C-407E-A947-70E740481C1C}">
                <a14:useLocalDpi xmlns:a14="http://schemas.microsoft.com/office/drawing/2010/main"/>
              </a:ext>
            </a:extLst>
          </a:blip>
          <a:srcRect/>
          <a:stretch/>
        </p:blipFill>
        <p:spPr>
          <a:xfrm>
            <a:off x="5105400" y="1676400"/>
            <a:ext cx="2350008" cy="101600"/>
          </a:xfrm>
          <a:prstGeom prst="rect">
            <a:avLst/>
          </a:prstGeom>
        </p:spPr>
      </p:pic>
      <p:pic>
        <p:nvPicPr>
          <p:cNvPr id="20" name="Picture 19"/>
          <p:cNvPicPr>
            <a:picLocks/>
          </p:cNvPicPr>
          <p:nvPr/>
        </p:nvPicPr>
        <p:blipFill rotWithShape="1">
          <a:blip r:embed="rId7" cstate="print">
            <a:extLst>
              <a:ext uri="{28A0092B-C50C-407E-A947-70E740481C1C}">
                <a14:useLocalDpi xmlns:a14="http://schemas.microsoft.com/office/drawing/2010/main"/>
              </a:ext>
            </a:extLst>
          </a:blip>
          <a:srcRect/>
          <a:stretch/>
        </p:blipFill>
        <p:spPr>
          <a:xfrm>
            <a:off x="2743200" y="1651000"/>
            <a:ext cx="2350008" cy="101600"/>
          </a:xfrm>
          <a:prstGeom prst="rect">
            <a:avLst/>
          </a:prstGeom>
        </p:spPr>
      </p:pic>
      <p:sp>
        <p:nvSpPr>
          <p:cNvPr id="22" name="Rectangle 21"/>
          <p:cNvSpPr/>
          <p:nvPr/>
        </p:nvSpPr>
        <p:spPr>
          <a:xfrm>
            <a:off x="7772400" y="1636780"/>
            <a:ext cx="1981200" cy="1158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p:cNvPicPr>
            <a:picLocks/>
          </p:cNvPicPr>
          <p:nvPr/>
        </p:nvPicPr>
        <p:blipFill rotWithShape="1">
          <a:blip r:embed="rId8" cstate="print">
            <a:extLst>
              <a:ext uri="{28A0092B-C50C-407E-A947-70E740481C1C}">
                <a14:useLocalDpi xmlns:a14="http://schemas.microsoft.com/office/drawing/2010/main"/>
              </a:ext>
            </a:extLst>
          </a:blip>
          <a:srcRect/>
          <a:stretch/>
        </p:blipFill>
        <p:spPr>
          <a:xfrm>
            <a:off x="7479792" y="1638300"/>
            <a:ext cx="2350008" cy="114300"/>
          </a:xfrm>
          <a:prstGeom prst="rect">
            <a:avLst/>
          </a:prstGeom>
        </p:spPr>
      </p:pic>
      <p:sp>
        <p:nvSpPr>
          <p:cNvPr id="24" name="TextBox 10"/>
          <p:cNvSpPr txBox="1">
            <a:spLocks noChangeArrowheads="1"/>
          </p:cNvSpPr>
          <p:nvPr/>
        </p:nvSpPr>
        <p:spPr bwMode="auto">
          <a:xfrm>
            <a:off x="2971800" y="1752601"/>
            <a:ext cx="1981200" cy="3231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US" sz="1500" dirty="0">
                <a:solidFill>
                  <a:srgbClr val="000000"/>
                </a:solidFill>
                <a:latin typeface="Avenir Book"/>
                <a:cs typeface="Avenir Book"/>
              </a:rPr>
              <a:t>(Hudson et al. 1998)</a:t>
            </a:r>
          </a:p>
        </p:txBody>
      </p:sp>
      <p:pic>
        <p:nvPicPr>
          <p:cNvPr id="25" name="Picture 24"/>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a:off x="1822450" y="609600"/>
            <a:ext cx="768350" cy="642668"/>
          </a:xfrm>
          <a:prstGeom prst="rect">
            <a:avLst/>
          </a:prstGeom>
        </p:spPr>
      </p:pic>
      <p:pic>
        <p:nvPicPr>
          <p:cNvPr id="26" name="Picture 25"/>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2590800" y="2438400"/>
            <a:ext cx="1828800" cy="1280160"/>
          </a:xfrm>
          <a:prstGeom prst="rect">
            <a:avLst/>
          </a:prstGeom>
        </p:spPr>
      </p:pic>
    </p:spTree>
    <p:extLst>
      <p:ext uri="{BB962C8B-B14F-4D97-AF65-F5344CB8AC3E}">
        <p14:creationId xmlns:p14="http://schemas.microsoft.com/office/powerpoint/2010/main" val="134020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8" grpId="0"/>
      <p:bldP spid="22" grpId="0" animBg="1"/>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541339" y="405234"/>
            <a:ext cx="11109322"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parasites as regulators of host populations</a:t>
            </a: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510761" y="1574678"/>
            <a:ext cx="6139900" cy="3108543"/>
          </a:xfrm>
          <a:prstGeom prst="rect">
            <a:avLst/>
          </a:prstGeom>
          <a:noFill/>
          <a:ln w="9525">
            <a:noFill/>
            <a:miter lim="800000"/>
            <a:headEnd/>
            <a:tailEnd/>
          </a:ln>
          <a:effectLst/>
        </p:spPr>
        <p:txBody>
          <a:bodyPr wrap="square">
            <a:spAutoFit/>
          </a:bodyPr>
          <a:lstStyle/>
          <a:p>
            <a:pPr>
              <a:defRPr/>
            </a:pPr>
            <a:r>
              <a:rPr lang="en-US" sz="2800" dirty="0">
                <a:latin typeface="Avenir"/>
                <a:cs typeface="Avenir"/>
              </a:rPr>
              <a:t>Imagine you are a fishery biologist at WDFW interested in understanding why Dungeness crab populations undergo boom and bust cycles. How would you proceed to test the hypothesis that </a:t>
            </a:r>
            <a:r>
              <a:rPr lang="en-US" sz="2800" i="1" dirty="0" err="1">
                <a:latin typeface="Avenir"/>
                <a:cs typeface="Avenir"/>
              </a:rPr>
              <a:t>Carcinonemertes</a:t>
            </a:r>
            <a:r>
              <a:rPr lang="en-US" sz="2800" dirty="0">
                <a:latin typeface="Avenir"/>
                <a:cs typeface="Avenir"/>
              </a:rPr>
              <a:t> causes these cycles?</a:t>
            </a:r>
          </a:p>
        </p:txBody>
      </p:sp>
      <p:sp>
        <p:nvSpPr>
          <p:cNvPr id="5" name="Rectangle 4">
            <a:extLst>
              <a:ext uri="{FF2B5EF4-FFF2-40B4-BE49-F238E27FC236}">
                <a16:creationId xmlns:a16="http://schemas.microsoft.com/office/drawing/2014/main" id="{04ACF7BE-A912-524C-AD45-3381DA4E8D59}"/>
              </a:ext>
            </a:extLst>
          </p:cNvPr>
          <p:cNvSpPr>
            <a:spLocks noChangeArrowheads="1"/>
          </p:cNvSpPr>
          <p:nvPr/>
        </p:nvSpPr>
        <p:spPr bwMode="auto">
          <a:xfrm>
            <a:off x="3484121" y="5410524"/>
            <a:ext cx="8485079" cy="954107"/>
          </a:xfrm>
          <a:prstGeom prst="rect">
            <a:avLst/>
          </a:prstGeom>
          <a:noFill/>
          <a:ln w="9525">
            <a:noFill/>
            <a:miter lim="800000"/>
            <a:headEnd/>
            <a:tailEnd/>
          </a:ln>
          <a:effectLst/>
        </p:spPr>
        <p:txBody>
          <a:bodyPr wrap="square">
            <a:spAutoFit/>
          </a:bodyPr>
          <a:lstStyle/>
          <a:p>
            <a:pPr>
              <a:defRPr/>
            </a:pPr>
            <a:r>
              <a:rPr lang="en-US" sz="2800" b="1" dirty="0">
                <a:latin typeface="Avenir"/>
                <a:cs typeface="Avenir"/>
              </a:rPr>
              <a:t>Ponder on your own (2 m), develop a plan with your group (10 m), then share with the class (10 m).</a:t>
            </a:r>
          </a:p>
        </p:txBody>
      </p:sp>
      <p:pic>
        <p:nvPicPr>
          <p:cNvPr id="6" name="Picture 5">
            <a:extLst>
              <a:ext uri="{FF2B5EF4-FFF2-40B4-BE49-F238E27FC236}">
                <a16:creationId xmlns:a16="http://schemas.microsoft.com/office/drawing/2014/main" id="{97D70B30-0637-3040-852E-BF4B78D0FE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01047"/>
            <a:ext cx="3037028" cy="1234618"/>
          </a:xfrm>
          <a:prstGeom prst="rect">
            <a:avLst/>
          </a:prstGeom>
        </p:spPr>
      </p:pic>
      <p:pic>
        <p:nvPicPr>
          <p:cNvPr id="8" name="Picture 7">
            <a:extLst>
              <a:ext uri="{FF2B5EF4-FFF2-40B4-BE49-F238E27FC236}">
                <a16:creationId xmlns:a16="http://schemas.microsoft.com/office/drawing/2014/main" id="{D6862F32-CCF6-B84A-9C35-EDBD33C6B708}"/>
              </a:ext>
            </a:extLst>
          </p:cNvPr>
          <p:cNvPicPr>
            <a:picLocks noChangeAspect="1"/>
          </p:cNvPicPr>
          <p:nvPr/>
        </p:nvPicPr>
        <p:blipFill rotWithShape="1">
          <a:blip r:embed="rId5"/>
          <a:srcRect t="9337" b="12350"/>
          <a:stretch/>
        </p:blipFill>
        <p:spPr>
          <a:xfrm>
            <a:off x="541339" y="1271575"/>
            <a:ext cx="4638675" cy="3714751"/>
          </a:xfrm>
          <a:prstGeom prst="rect">
            <a:avLst/>
          </a:prstGeom>
        </p:spPr>
      </p:pic>
    </p:spTree>
    <p:extLst>
      <p:ext uri="{BB962C8B-B14F-4D97-AF65-F5344CB8AC3E}">
        <p14:creationId xmlns:p14="http://schemas.microsoft.com/office/powerpoint/2010/main" val="77305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71470" y="226299"/>
            <a:ext cx="11649060" cy="630942"/>
          </a:xfrm>
          <a:prstGeom prst="rect">
            <a:avLst/>
          </a:prstGeom>
          <a:noFill/>
          <a:ln w="9525">
            <a:noFill/>
            <a:miter lim="800000"/>
            <a:headEnd/>
            <a:tailEnd/>
          </a:ln>
          <a:effectLst/>
        </p:spPr>
        <p:txBody>
          <a:bodyPr wrap="square">
            <a:spAutoFit/>
          </a:bodyPr>
          <a:lstStyle/>
          <a:p>
            <a:pPr algn="ctr">
              <a:defRPr/>
            </a:pPr>
            <a:r>
              <a:rPr lang="en-US" sz="3500" b="1">
                <a:latin typeface="Avenir"/>
                <a:cs typeface="Avenir"/>
              </a:rPr>
              <a:t>Q2. </a:t>
            </a:r>
            <a:r>
              <a:rPr lang="en-US" sz="3500" b="1" dirty="0">
                <a:latin typeface="Avenir"/>
                <a:cs typeface="Avenir"/>
              </a:rPr>
              <a:t>parasites and sexual selection</a:t>
            </a:r>
          </a:p>
        </p:txBody>
      </p:sp>
      <p:pic>
        <p:nvPicPr>
          <p:cNvPr id="6" name="Picture 5">
            <a:extLst>
              <a:ext uri="{FF2B5EF4-FFF2-40B4-BE49-F238E27FC236}">
                <a16:creationId xmlns:a16="http://schemas.microsoft.com/office/drawing/2014/main" id="{24C76115-8B07-BF49-9DDC-5F3B697CE12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424588" y="5352718"/>
            <a:ext cx="3037028" cy="1234618"/>
          </a:xfrm>
          <a:prstGeom prst="rect">
            <a:avLst/>
          </a:prstGeom>
        </p:spPr>
      </p:pic>
      <p:sp>
        <p:nvSpPr>
          <p:cNvPr id="4" name="Rectangle 3"/>
          <p:cNvSpPr>
            <a:spLocks noChangeArrowheads="1"/>
          </p:cNvSpPr>
          <p:nvPr/>
        </p:nvSpPr>
        <p:spPr bwMode="auto">
          <a:xfrm>
            <a:off x="6540927" y="1464417"/>
            <a:ext cx="5027757" cy="3323987"/>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On the west coast of the US, lingcod occasionally exhibit a striking blue coloration. How would you test whether this coloration is related to sexual selection?</a:t>
            </a:r>
            <a:endParaRPr lang="en-US" sz="3000" b="1" dirty="0">
              <a:latin typeface="Avenir"/>
              <a:cs typeface="Avenir"/>
            </a:endParaRPr>
          </a:p>
        </p:txBody>
      </p:sp>
      <p:sp>
        <p:nvSpPr>
          <p:cNvPr id="9" name="Rectangle 8">
            <a:extLst>
              <a:ext uri="{FF2B5EF4-FFF2-40B4-BE49-F238E27FC236}">
                <a16:creationId xmlns:a16="http://schemas.microsoft.com/office/drawing/2014/main" id="{71833D9C-3B5B-7E47-89CD-4D008960CA6E}"/>
              </a:ext>
            </a:extLst>
          </p:cNvPr>
          <p:cNvSpPr>
            <a:spLocks noChangeArrowheads="1"/>
          </p:cNvSpPr>
          <p:nvPr/>
        </p:nvSpPr>
        <p:spPr bwMode="auto">
          <a:xfrm>
            <a:off x="3469834" y="5459788"/>
            <a:ext cx="8485079" cy="1015663"/>
          </a:xfrm>
          <a:prstGeom prst="rect">
            <a:avLst/>
          </a:prstGeom>
          <a:noFill/>
          <a:ln w="9525">
            <a:noFill/>
            <a:miter lim="800000"/>
            <a:headEnd/>
            <a:tailEnd/>
          </a:ln>
          <a:effectLst/>
        </p:spPr>
        <p:txBody>
          <a:bodyPr wrap="square">
            <a:spAutoFit/>
          </a:bodyPr>
          <a:lstStyle/>
          <a:p>
            <a:pPr>
              <a:defRPr/>
            </a:pPr>
            <a:r>
              <a:rPr lang="en-US" sz="3000" b="1" dirty="0">
                <a:latin typeface="Avenir"/>
                <a:cs typeface="Avenir"/>
              </a:rPr>
              <a:t>Ponder on your own (2 m), discuss with a group (10 m), then share with the class (10 m).</a:t>
            </a:r>
          </a:p>
        </p:txBody>
      </p:sp>
      <p:pic>
        <p:nvPicPr>
          <p:cNvPr id="1026" name="Picture 2">
            <a:extLst>
              <a:ext uri="{FF2B5EF4-FFF2-40B4-BE49-F238E27FC236}">
                <a16:creationId xmlns:a16="http://schemas.microsoft.com/office/drawing/2014/main" id="{9EF605FC-73DB-5445-AF85-84D6EA2FF4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316" y="1094432"/>
            <a:ext cx="5549038" cy="406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11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282497" y="2644170"/>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9</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Introduction to the nematodes</a:t>
            </a:r>
          </a:p>
        </p:txBody>
      </p:sp>
    </p:spTree>
    <p:extLst>
      <p:ext uri="{BB962C8B-B14F-4D97-AF65-F5344CB8AC3E}">
        <p14:creationId xmlns:p14="http://schemas.microsoft.com/office/powerpoint/2010/main" val="2977877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4925</TotalTime>
  <Words>507</Words>
  <Application>Microsoft Macintosh PowerPoint</Application>
  <PresentationFormat>Widescreen</PresentationFormat>
  <Paragraphs>47</Paragraphs>
  <Slides>9</Slides>
  <Notes>9</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108</cp:revision>
  <dcterms:created xsi:type="dcterms:W3CDTF">2020-04-03T14:55:00Z</dcterms:created>
  <dcterms:modified xsi:type="dcterms:W3CDTF">2026-10-21T17:37:40Z</dcterms:modified>
</cp:coreProperties>
</file>