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80" r:id="rId2"/>
    <p:sldId id="723" r:id="rId3"/>
    <p:sldId id="712" r:id="rId4"/>
    <p:sldId id="727" r:id="rId5"/>
    <p:sldId id="714" r:id="rId6"/>
    <p:sldId id="725" r:id="rId7"/>
    <p:sldId id="7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43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The Pseudophyllidea and the Cyclophyllidea tend to be freshwater and terrestrial parasites, respectively. How do their respective life cycles reflect these habitat differences?</a:t>
            </a:r>
          </a:p>
          <a:p>
            <a:r>
              <a:rPr lang="en-US"/>
              <a:t>https://www.polleverywhere.com/discourses/3UOIQGSwsa0bc66ZqNY45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64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9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67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8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tiff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8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2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706946"/>
            <a:ext cx="73152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Q1. </a:t>
            </a:r>
            <a:r>
              <a:rPr lang="en-US" sz="3500" b="1" i="1" dirty="0" err="1">
                <a:latin typeface="Avenir"/>
                <a:cs typeface="Avenir"/>
              </a:rPr>
              <a:t>Schistocephalus</a:t>
            </a:r>
            <a:r>
              <a:rPr lang="en-US" sz="3500" b="1" i="1" dirty="0">
                <a:latin typeface="Avenir"/>
                <a:cs typeface="Avenir"/>
              </a:rPr>
              <a:t> solidus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49" y="1858817"/>
            <a:ext cx="6139900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400" dirty="0">
                <a:latin typeface="Avenir"/>
                <a:cs typeface="Avenir"/>
              </a:rPr>
              <a:t>Plerocercoids of the pseudophyllidean tapeworm </a:t>
            </a:r>
            <a:r>
              <a:rPr lang="en-US" sz="3400" i="1" dirty="0" err="1">
                <a:latin typeface="Avenir"/>
                <a:cs typeface="Avenir"/>
              </a:rPr>
              <a:t>Schistocephalus</a:t>
            </a:r>
            <a:r>
              <a:rPr lang="en-US" sz="3400" i="1" dirty="0">
                <a:latin typeface="Avenir"/>
                <a:cs typeface="Avenir"/>
              </a:rPr>
              <a:t> solidus </a:t>
            </a:r>
            <a:r>
              <a:rPr lang="en-US" sz="3400" dirty="0">
                <a:latin typeface="Avenir"/>
                <a:cs typeface="Avenir"/>
              </a:rPr>
              <a:t>are enormous </a:t>
            </a:r>
            <a:r>
              <a:rPr lang="en-US" sz="3400" dirty="0" err="1">
                <a:latin typeface="Avenir"/>
                <a:cs typeface="Avenir"/>
              </a:rPr>
              <a:t>wrt</a:t>
            </a:r>
            <a:r>
              <a:rPr lang="en-US" sz="3400" dirty="0">
                <a:latin typeface="Avenir"/>
                <a:cs typeface="Avenir"/>
              </a:rPr>
              <a:t> their hosts. </a:t>
            </a:r>
            <a:r>
              <a:rPr lang="en-US" sz="3400" b="1" dirty="0">
                <a:latin typeface="Avenir"/>
                <a:cs typeface="Avenir"/>
              </a:rPr>
              <a:t>Why?</a:t>
            </a:r>
            <a:r>
              <a:rPr lang="en-US" sz="3400" dirty="0">
                <a:latin typeface="Avenir"/>
                <a:cs typeface="Avenir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216898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(2 m), discuss with a group (3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107421"/>
            <a:ext cx="3037028" cy="1234618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826D7C40-7A9B-2446-963C-28EA3589AE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9" y="1746184"/>
            <a:ext cx="48387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302013"/>
            <a:ext cx="1164906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Q2. The </a:t>
            </a:r>
            <a:r>
              <a:rPr lang="en-US" sz="4000" b="1" dirty="0" err="1">
                <a:latin typeface="Avenir"/>
                <a:cs typeface="Avenir"/>
              </a:rPr>
              <a:t>Pseudophyllidea</a:t>
            </a:r>
            <a:r>
              <a:rPr lang="en-US" sz="4000" b="1" dirty="0">
                <a:latin typeface="Avenir"/>
                <a:cs typeface="Avenir"/>
              </a:rPr>
              <a:t> and the </a:t>
            </a:r>
            <a:r>
              <a:rPr lang="en-US" sz="4000" b="1" dirty="0" err="1">
                <a:latin typeface="Avenir"/>
                <a:cs typeface="Avenir"/>
              </a:rPr>
              <a:t>Cyclophyllidea</a:t>
            </a:r>
            <a:r>
              <a:rPr lang="en-US" sz="4000" b="1" dirty="0">
                <a:latin typeface="Avenir"/>
                <a:cs typeface="Avenir"/>
              </a:rPr>
              <a:t> tend to be freshwater and terrestrial parasites, respectively. How do their respective life cycles reflect these habitat differences?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4827780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2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009C-7A63-D78D-9357-6FC8B00CE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E2DBE-3835-8475-0B5B-5AF24E72A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3UOIQGSwsa0bc66ZqNY45">
            <a:extLst>
              <a:ext uri="{FF2B5EF4-FFF2-40B4-BE49-F238E27FC236}">
                <a16:creationId xmlns:a16="http://schemas.microsoft.com/office/drawing/2014/main" id="{FAA9015C-7857-94A6-EA82-33AE657108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62298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</a:t>
            </a:r>
            <a:r>
              <a:rPr lang="en-US" sz="3500" b="1" i="1" dirty="0">
                <a:latin typeface="Avenir"/>
                <a:cs typeface="Avenir"/>
              </a:rPr>
              <a:t>Taenia </a:t>
            </a:r>
            <a:r>
              <a:rPr lang="en-US" sz="3500" b="1" i="1" dirty="0" err="1">
                <a:latin typeface="Avenir"/>
                <a:cs typeface="Avenir"/>
              </a:rPr>
              <a:t>solium</a:t>
            </a:r>
            <a:endParaRPr lang="en-US" sz="3500" b="1" i="1" dirty="0">
              <a:latin typeface="Avenir"/>
              <a:cs typeface="Aven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88" y="5481308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672139" y="1681594"/>
            <a:ext cx="5243512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There are two ways for humans to become infected with </a:t>
            </a:r>
            <a:r>
              <a:rPr lang="en-US" sz="3000" i="1" dirty="0">
                <a:latin typeface="Avenir"/>
                <a:cs typeface="Avenir"/>
              </a:rPr>
              <a:t>Taenia </a:t>
            </a:r>
            <a:r>
              <a:rPr lang="en-US" sz="3000" i="1" dirty="0" err="1">
                <a:latin typeface="Avenir"/>
                <a:cs typeface="Avenir"/>
              </a:rPr>
              <a:t>solium</a:t>
            </a:r>
            <a:r>
              <a:rPr lang="en-US" sz="3000" dirty="0">
                <a:latin typeface="Avenir"/>
                <a:cs typeface="Avenir"/>
              </a:rPr>
              <a:t>. Both are bad. Which one is worse and why?</a:t>
            </a:r>
            <a:endParaRPr lang="en-US" sz="3000" b="1" dirty="0">
              <a:latin typeface="Avenir"/>
              <a:cs typeface="Aveni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833D9C-3B5B-7E47-89CD-4D008960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588378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m), discuss with a partner (5 m), then share with the class (5 m).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B17B6C-B2C4-FD46-9842-97AF1C2D0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005" y="1118451"/>
            <a:ext cx="3648974" cy="395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604756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Q4. </a:t>
            </a:r>
            <a:r>
              <a:rPr lang="en-US" sz="3500" b="1" i="1" dirty="0">
                <a:latin typeface="Avenir"/>
                <a:cs typeface="Avenir"/>
              </a:rPr>
              <a:t>Echinococcus </a:t>
            </a:r>
            <a:r>
              <a:rPr lang="en-US" sz="3500" b="1" i="1" dirty="0" err="1">
                <a:latin typeface="Avenir"/>
                <a:cs typeface="Avenir"/>
              </a:rPr>
              <a:t>granulosus</a:t>
            </a:r>
            <a:r>
              <a:rPr lang="en-US" sz="3500" b="1" i="1" dirty="0">
                <a:latin typeface="Avenir"/>
                <a:cs typeface="Avenir"/>
              </a:rPr>
              <a:t> </a:t>
            </a:r>
            <a:r>
              <a:rPr lang="en-US" sz="3500" b="1" dirty="0">
                <a:latin typeface="Avenir"/>
                <a:cs typeface="Avenir"/>
              </a:rPr>
              <a:t>and </a:t>
            </a:r>
            <a:r>
              <a:rPr lang="en-US" sz="3500" b="1" i="1" dirty="0">
                <a:latin typeface="Avenir"/>
                <a:cs typeface="Avenir"/>
              </a:rPr>
              <a:t>E. </a:t>
            </a:r>
            <a:r>
              <a:rPr lang="en-US" sz="3500" b="1" i="1" dirty="0" err="1">
                <a:latin typeface="Avenir"/>
                <a:cs typeface="Avenir"/>
              </a:rPr>
              <a:t>multilocularis</a:t>
            </a:r>
            <a:endParaRPr lang="en-US" sz="3500" b="1" i="1" dirty="0">
              <a:latin typeface="Avenir"/>
              <a:cs typeface="Aven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588" y="5238414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557838" y="1550239"/>
            <a:ext cx="6209574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There are separate pastoral/domestic and sylvatic cycles for both </a:t>
            </a:r>
            <a:r>
              <a:rPr lang="en-US" sz="3000" i="1" dirty="0">
                <a:latin typeface="Avenir"/>
                <a:cs typeface="Avenir"/>
              </a:rPr>
              <a:t>E. </a:t>
            </a:r>
            <a:r>
              <a:rPr lang="en-US" sz="3000" i="1" dirty="0" err="1">
                <a:latin typeface="Avenir"/>
                <a:cs typeface="Avenir"/>
              </a:rPr>
              <a:t>granulosus</a:t>
            </a:r>
            <a:r>
              <a:rPr lang="en-US" sz="3000" i="1" dirty="0">
                <a:latin typeface="Avenir"/>
                <a:cs typeface="Avenir"/>
              </a:rPr>
              <a:t> </a:t>
            </a:r>
            <a:r>
              <a:rPr lang="en-US" sz="3000" dirty="0">
                <a:latin typeface="Avenir"/>
                <a:cs typeface="Avenir"/>
              </a:rPr>
              <a:t>and </a:t>
            </a:r>
            <a:r>
              <a:rPr lang="en-US" sz="3000" i="1" dirty="0">
                <a:latin typeface="Avenir"/>
                <a:cs typeface="Avenir"/>
              </a:rPr>
              <a:t>E. </a:t>
            </a:r>
            <a:r>
              <a:rPr lang="en-US" sz="3000" i="1" dirty="0" err="1">
                <a:latin typeface="Avenir"/>
                <a:cs typeface="Avenir"/>
              </a:rPr>
              <a:t>multilocularis</a:t>
            </a:r>
            <a:r>
              <a:rPr lang="en-US" sz="3000" dirty="0">
                <a:latin typeface="Avenir"/>
                <a:cs typeface="Avenir"/>
              </a:rPr>
              <a:t>. Which do you think would be the easiest kind of life cycle to interrupt? Why? How would you do it?</a:t>
            </a:r>
            <a:endParaRPr lang="en-US" sz="3000" b="1" dirty="0">
              <a:latin typeface="Avenir"/>
              <a:cs typeface="Aveni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833D9C-3B5B-7E47-89CD-4D008960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345484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</a:t>
            </a:r>
            <a:r>
              <a:rPr lang="en-US" sz="3000" b="1">
                <a:latin typeface="Avenir"/>
                <a:cs typeface="Avenir"/>
              </a:rPr>
              <a:t>own (3 </a:t>
            </a:r>
            <a:r>
              <a:rPr lang="en-US" sz="3000" b="1" dirty="0">
                <a:latin typeface="Avenir"/>
                <a:cs typeface="Avenir"/>
              </a:rPr>
              <a:t>m), discuss with a partner (5 m), then share with the class (5 m).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733518A6-E2C9-9340-914B-F968E6653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88" y="1991885"/>
            <a:ext cx="2362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4FE1D5-6D64-7D42-B576-D26BCC4B7A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4"/>
          <a:stretch>
            <a:fillRect/>
          </a:stretch>
        </p:blipFill>
        <p:spPr bwMode="auto">
          <a:xfrm>
            <a:off x="3021014" y="1991885"/>
            <a:ext cx="2103437" cy="236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444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8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Cestodes 2</a:t>
            </a:r>
          </a:p>
        </p:txBody>
      </p:sp>
    </p:spTree>
    <p:extLst>
      <p:ext uri="{BB962C8B-B14F-4D97-AF65-F5344CB8AC3E}">
        <p14:creationId xmlns:p14="http://schemas.microsoft.com/office/powerpoint/2010/main" val="383023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4839</TotalTime>
  <Words>282</Words>
  <Application>Microsoft Macintosh PowerPoint</Application>
  <PresentationFormat>Widescreen</PresentationFormat>
  <Paragraphs>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102</cp:revision>
  <dcterms:created xsi:type="dcterms:W3CDTF">2020-04-03T14:55:00Z</dcterms:created>
  <dcterms:modified xsi:type="dcterms:W3CDTF">2026-10-19T18:43:10Z</dcterms:modified>
</cp:coreProperties>
</file>