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480" r:id="rId2"/>
    <p:sldId id="684" r:id="rId3"/>
    <p:sldId id="681" r:id="rId4"/>
    <p:sldId id="672" r:id="rId5"/>
    <p:sldId id="677" r:id="rId6"/>
    <p:sldId id="675" r:id="rId7"/>
    <p:sldId id="678" r:id="rId8"/>
    <p:sldId id="701" r:id="rId9"/>
    <p:sldId id="700" r:id="rId10"/>
    <p:sldId id="693" r:id="rId11"/>
    <p:sldId id="694" r:id="rId12"/>
    <p:sldId id="695" r:id="rId13"/>
    <p:sldId id="696" r:id="rId14"/>
    <p:sldId id="412" r:id="rId15"/>
    <p:sldId id="451" r:id="rId16"/>
    <p:sldId id="698" r:id="rId17"/>
    <p:sldId id="69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64"/>
    <p:restoredTop sz="95884"/>
  </p:normalViewPr>
  <p:slideViewPr>
    <p:cSldViewPr snapToGrid="0" snapToObjects="1">
      <p:cViewPr varScale="1">
        <p:scale>
          <a:sx n="88" d="100"/>
          <a:sy n="88" d="100"/>
        </p:scale>
        <p:origin x="176" y="6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4-24T17:58:49.251"/>
    </inkml:context>
    <inkml:brush xml:id="br0">
      <inkml:brushProperty name="width" value="0.05292" units="cm"/>
      <inkml:brushProperty name="height" value="0.05292" units="cm"/>
    </inkml:brush>
  </inkml:definitions>
  <inkml:trace contextRef="#ctx0" brushRef="#br0">25465 2666 24575,'0'0'0</inkml:trace>
  <inkml:trace contextRef="#ctx0" brushRef="#br0" timeOffset="16946">15039 3698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C7DB66-C6D6-B24E-B345-FA3772C924EA}" type="datetimeFigureOut">
              <a:rPr lang="en-US" smtClean="0"/>
              <a:t>10/5/26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18707C-A528-5347-B512-111D9A72273A}" type="slidenum">
              <a:rPr lang="en-US" smtClean="0"/>
              <a:t>‹#›</a:t>
            </a:fld>
            <a:endParaRPr lang="en-US"/>
          </a:p>
        </p:txBody>
      </p:sp>
    </p:spTree>
    <p:extLst>
      <p:ext uri="{BB962C8B-B14F-4D97-AF65-F5344CB8AC3E}">
        <p14:creationId xmlns:p14="http://schemas.microsoft.com/office/powerpoint/2010/main" val="1924951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a:t>
            </a:fld>
            <a:endParaRPr lang="en-US"/>
          </a:p>
        </p:txBody>
      </p:sp>
    </p:spTree>
    <p:extLst>
      <p:ext uri="{BB962C8B-B14F-4D97-AF65-F5344CB8AC3E}">
        <p14:creationId xmlns:p14="http://schemas.microsoft.com/office/powerpoint/2010/main" val="334933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4649269-E026-4E44-9951-397123D7CFB5}" type="slidenum">
              <a:rPr lang="en-US" smtClean="0"/>
              <a:t>2</a:t>
            </a:fld>
            <a:endParaRPr lang="en-US"/>
          </a:p>
        </p:txBody>
      </p:sp>
    </p:spTree>
    <p:extLst>
      <p:ext uri="{BB962C8B-B14F-4D97-AF65-F5344CB8AC3E}">
        <p14:creationId xmlns:p14="http://schemas.microsoft.com/office/powerpoint/2010/main" val="2210722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modify the notes in this section to avoid tampering with the Poll Everywhere activity.
More info at </a:t>
            </a:r>
            <a:r>
              <a:rPr lang="en-US" dirty="0" err="1"/>
              <a:t>polleverywhere.com</a:t>
            </a:r>
            <a:r>
              <a:rPr lang="en-US" dirty="0"/>
              <a:t>/support
What comes to mind when I say the word "parasite"?</a:t>
            </a:r>
          </a:p>
          <a:p>
            <a:r>
              <a:rPr lang="en-US" dirty="0"/>
              <a:t>https://</a:t>
            </a:r>
            <a:r>
              <a:rPr lang="en-US" dirty="0" err="1"/>
              <a:t>www.polleverywhere.com</a:t>
            </a:r>
            <a:r>
              <a:rPr lang="en-US" dirty="0"/>
              <a:t>/</a:t>
            </a:r>
            <a:r>
              <a:rPr lang="en-US" dirty="0" err="1"/>
              <a:t>free_text_polls</a:t>
            </a:r>
            <a:r>
              <a:rPr lang="en-US" dirty="0"/>
              <a:t>/n8mRsosII42qUWMLxN3aH</a:t>
            </a:r>
          </a:p>
        </p:txBody>
      </p:sp>
      <p:sp>
        <p:nvSpPr>
          <p:cNvPr id="4" name="Slide Number Placeholder 3"/>
          <p:cNvSpPr>
            <a:spLocks noGrp="1"/>
          </p:cNvSpPr>
          <p:nvPr>
            <p:ph type="sldNum" sz="quarter" idx="5"/>
          </p:nvPr>
        </p:nvSpPr>
        <p:spPr/>
        <p:txBody>
          <a:bodyPr/>
          <a:lstStyle/>
          <a:p>
            <a:fld id="{34649269-E026-4E44-9951-397123D7CFB5}" type="slidenum">
              <a:rPr lang="en-US" smtClean="0"/>
              <a:t>3</a:t>
            </a:fld>
            <a:endParaRPr lang="en-US"/>
          </a:p>
        </p:txBody>
      </p:sp>
    </p:spTree>
    <p:extLst>
      <p:ext uri="{BB962C8B-B14F-4D97-AF65-F5344CB8AC3E}">
        <p14:creationId xmlns:p14="http://schemas.microsoft.com/office/powerpoint/2010/main" val="8245921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649269-E026-4E44-9951-397123D7CFB5}" type="slidenum">
              <a:rPr lang="en-US" smtClean="0"/>
              <a:t>4</a:t>
            </a:fld>
            <a:endParaRPr lang="en-US"/>
          </a:p>
        </p:txBody>
      </p:sp>
    </p:spTree>
    <p:extLst>
      <p:ext uri="{BB962C8B-B14F-4D97-AF65-F5344CB8AC3E}">
        <p14:creationId xmlns:p14="http://schemas.microsoft.com/office/powerpoint/2010/main" val="983902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5</a:t>
            </a:fld>
            <a:endParaRPr lang="en-US"/>
          </a:p>
        </p:txBody>
      </p:sp>
    </p:spTree>
    <p:extLst>
      <p:ext uri="{BB962C8B-B14F-4D97-AF65-F5344CB8AC3E}">
        <p14:creationId xmlns:p14="http://schemas.microsoft.com/office/powerpoint/2010/main" val="25641789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Changes in any attribute of a population over time. </a:t>
            </a:r>
          </a:p>
          <a:p>
            <a:r>
              <a:rPr lang="en-US" dirty="0"/>
              <a:t>Evolutionary</a:t>
            </a:r>
            <a:r>
              <a:rPr lang="en-US" baseline="0" dirty="0"/>
              <a:t> change leads to adaptation and must involve a change in the frequency of individual genes in a population from generation to generation.</a:t>
            </a:r>
            <a:endParaRPr lang="en-US" dirty="0"/>
          </a:p>
        </p:txBody>
      </p:sp>
      <p:sp>
        <p:nvSpPr>
          <p:cNvPr id="4" name="Slide Number Placeholder 3"/>
          <p:cNvSpPr>
            <a:spLocks noGrp="1"/>
          </p:cNvSpPr>
          <p:nvPr>
            <p:ph type="sldNum" sz="quarter" idx="10"/>
          </p:nvPr>
        </p:nvSpPr>
        <p:spPr/>
        <p:txBody>
          <a:bodyPr/>
          <a:lstStyle/>
          <a:p>
            <a:pPr>
              <a:defRPr/>
            </a:pPr>
            <a:fld id="{217FB9E2-7C0C-AB45-B0B4-06C6B1BD2B82}" type="slidenum">
              <a:rPr lang="en-US" smtClean="0"/>
              <a:pPr>
                <a:defRPr/>
              </a:pPr>
              <a:t>6</a:t>
            </a:fld>
            <a:endParaRPr lang="en-US"/>
          </a:p>
        </p:txBody>
      </p:sp>
    </p:spTree>
    <p:extLst>
      <p:ext uri="{BB962C8B-B14F-4D97-AF65-F5344CB8AC3E}">
        <p14:creationId xmlns:p14="http://schemas.microsoft.com/office/powerpoint/2010/main" val="13212241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7</a:t>
            </a:fld>
            <a:endParaRPr lang="en-US"/>
          </a:p>
        </p:txBody>
      </p:sp>
    </p:spTree>
    <p:extLst>
      <p:ext uri="{BB962C8B-B14F-4D97-AF65-F5344CB8AC3E}">
        <p14:creationId xmlns:p14="http://schemas.microsoft.com/office/powerpoint/2010/main" val="4974550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has it easier when it comes to popping out babies?</a:t>
            </a:r>
          </a:p>
          <a:p>
            <a:r>
              <a:rPr lang="en-US" dirty="0"/>
              <a:t>https://</a:t>
            </a:r>
            <a:r>
              <a:rPr lang="en-US" dirty="0" err="1"/>
              <a:t>www.polleverywhere.com</a:t>
            </a:r>
            <a:r>
              <a:rPr lang="en-US" dirty="0"/>
              <a:t>/</a:t>
            </a:r>
            <a:r>
              <a:rPr lang="en-US" dirty="0" err="1"/>
              <a:t>multiple_choice_polls</a:t>
            </a:r>
            <a:r>
              <a:rPr lang="en-US" dirty="0"/>
              <a:t>/yX1dNBrTy4p1UBYoJhbrq?flow=</a:t>
            </a:r>
            <a:r>
              <a:rPr lang="en-US" dirty="0" err="1"/>
              <a:t>Default&amp;onscreen</a:t>
            </a:r>
            <a:r>
              <a:rPr lang="en-US" dirty="0"/>
              <a:t>=persist</a:t>
            </a:r>
          </a:p>
        </p:txBody>
      </p:sp>
      <p:sp>
        <p:nvSpPr>
          <p:cNvPr id="4" name="Slide Number Placeholder 3"/>
          <p:cNvSpPr>
            <a:spLocks noGrp="1"/>
          </p:cNvSpPr>
          <p:nvPr>
            <p:ph type="sldNum" sz="quarter" idx="5"/>
          </p:nvPr>
        </p:nvSpPr>
        <p:spPr/>
        <p:txBody>
          <a:bodyPr/>
          <a:lstStyle/>
          <a:p>
            <a:fld id="{4218707C-A528-5347-B512-111D9A72273A}" type="slidenum">
              <a:rPr lang="en-US" smtClean="0"/>
              <a:t>8</a:t>
            </a:fld>
            <a:endParaRPr lang="en-US"/>
          </a:p>
        </p:txBody>
      </p:sp>
    </p:spTree>
    <p:extLst>
      <p:ext uri="{BB962C8B-B14F-4D97-AF65-F5344CB8AC3E}">
        <p14:creationId xmlns:p14="http://schemas.microsoft.com/office/powerpoint/2010/main" val="40099340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has it easier when it comes to dispersal?</a:t>
            </a:r>
          </a:p>
          <a:p>
            <a:r>
              <a:rPr lang="en-US" dirty="0"/>
              <a:t>https://</a:t>
            </a:r>
            <a:r>
              <a:rPr lang="en-US" dirty="0" err="1"/>
              <a:t>www.polleverywhere.com</a:t>
            </a:r>
            <a:r>
              <a:rPr lang="en-US" dirty="0"/>
              <a:t>/</a:t>
            </a:r>
            <a:r>
              <a:rPr lang="en-US" dirty="0" err="1"/>
              <a:t>multiple_choice_polls</a:t>
            </a:r>
            <a:r>
              <a:rPr lang="en-US" dirty="0"/>
              <a:t>/0E0bZ4i1St4IxFjJ2AwXs?flow=</a:t>
            </a:r>
            <a:r>
              <a:rPr lang="en-US" dirty="0" err="1"/>
              <a:t>Default&amp;onscreen</a:t>
            </a:r>
            <a:r>
              <a:rPr lang="en-US" dirty="0"/>
              <a:t>=persist</a:t>
            </a:r>
          </a:p>
        </p:txBody>
      </p:sp>
      <p:sp>
        <p:nvSpPr>
          <p:cNvPr id="4" name="Slide Number Placeholder 3"/>
          <p:cNvSpPr>
            <a:spLocks noGrp="1"/>
          </p:cNvSpPr>
          <p:nvPr>
            <p:ph type="sldNum" sz="quarter" idx="5"/>
          </p:nvPr>
        </p:nvSpPr>
        <p:spPr/>
        <p:txBody>
          <a:bodyPr/>
          <a:lstStyle/>
          <a:p>
            <a:fld id="{4218707C-A528-5347-B512-111D9A72273A}" type="slidenum">
              <a:rPr lang="en-US" smtClean="0"/>
              <a:t>9</a:t>
            </a:fld>
            <a:endParaRPr lang="en-US"/>
          </a:p>
        </p:txBody>
      </p:sp>
    </p:spTree>
    <p:extLst>
      <p:ext uri="{BB962C8B-B14F-4D97-AF65-F5344CB8AC3E}">
        <p14:creationId xmlns:p14="http://schemas.microsoft.com/office/powerpoint/2010/main" val="7205069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has it easier when it comes to surviving in the environment?</a:t>
            </a:r>
          </a:p>
          <a:p>
            <a:r>
              <a:rPr lang="en-US" dirty="0"/>
              <a:t>https://</a:t>
            </a:r>
            <a:r>
              <a:rPr lang="en-US" dirty="0" err="1"/>
              <a:t>www.polleverywhere.com</a:t>
            </a:r>
            <a:r>
              <a:rPr lang="en-US" dirty="0"/>
              <a:t>/</a:t>
            </a:r>
            <a:r>
              <a:rPr lang="en-US" dirty="0" err="1"/>
              <a:t>multiple_choice_polls</a:t>
            </a:r>
            <a:r>
              <a:rPr lang="en-US" dirty="0"/>
              <a:t>/c75ZVabcHpxN7bTwJKWLb?flow=</a:t>
            </a:r>
            <a:r>
              <a:rPr lang="en-US" dirty="0" err="1"/>
              <a:t>Default&amp;onscreen</a:t>
            </a:r>
            <a:r>
              <a:rPr lang="en-US" dirty="0"/>
              <a:t>=persist</a:t>
            </a:r>
          </a:p>
        </p:txBody>
      </p:sp>
      <p:sp>
        <p:nvSpPr>
          <p:cNvPr id="4" name="Slide Number Placeholder 3"/>
          <p:cNvSpPr>
            <a:spLocks noGrp="1"/>
          </p:cNvSpPr>
          <p:nvPr>
            <p:ph type="sldNum" sz="quarter" idx="5"/>
          </p:nvPr>
        </p:nvSpPr>
        <p:spPr/>
        <p:txBody>
          <a:bodyPr/>
          <a:lstStyle/>
          <a:p>
            <a:fld id="{4218707C-A528-5347-B512-111D9A72273A}" type="slidenum">
              <a:rPr lang="en-US" smtClean="0"/>
              <a:t>10</a:t>
            </a:fld>
            <a:endParaRPr lang="en-US"/>
          </a:p>
        </p:txBody>
      </p:sp>
    </p:spTree>
    <p:extLst>
      <p:ext uri="{BB962C8B-B14F-4D97-AF65-F5344CB8AC3E}">
        <p14:creationId xmlns:p14="http://schemas.microsoft.com/office/powerpoint/2010/main" val="16641989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has it easier when it comes to increasing body size?</a:t>
            </a:r>
          </a:p>
          <a:p>
            <a:r>
              <a:rPr lang="en-US" dirty="0"/>
              <a:t>https://</a:t>
            </a:r>
            <a:r>
              <a:rPr lang="en-US" dirty="0" err="1"/>
              <a:t>www.polleverywhere.com</a:t>
            </a:r>
            <a:r>
              <a:rPr lang="en-US" dirty="0"/>
              <a:t>/</a:t>
            </a:r>
            <a:r>
              <a:rPr lang="en-US" dirty="0" err="1"/>
              <a:t>multiple_choice_polls</a:t>
            </a:r>
            <a:r>
              <a:rPr lang="en-US" dirty="0"/>
              <a:t>/LmqHs6H1dWdE0h1aEiCtB?flow=</a:t>
            </a:r>
            <a:r>
              <a:rPr lang="en-US" dirty="0" err="1"/>
              <a:t>Default&amp;onscreen</a:t>
            </a:r>
            <a:r>
              <a:rPr lang="en-US" dirty="0"/>
              <a:t>=persist</a:t>
            </a:r>
          </a:p>
        </p:txBody>
      </p:sp>
      <p:sp>
        <p:nvSpPr>
          <p:cNvPr id="4" name="Slide Number Placeholder 3"/>
          <p:cNvSpPr>
            <a:spLocks noGrp="1"/>
          </p:cNvSpPr>
          <p:nvPr>
            <p:ph type="sldNum" sz="quarter" idx="5"/>
          </p:nvPr>
        </p:nvSpPr>
        <p:spPr/>
        <p:txBody>
          <a:bodyPr/>
          <a:lstStyle/>
          <a:p>
            <a:fld id="{4218707C-A528-5347-B512-111D9A72273A}" type="slidenum">
              <a:rPr lang="en-US" smtClean="0"/>
              <a:t>11</a:t>
            </a:fld>
            <a:endParaRPr lang="en-US"/>
          </a:p>
        </p:txBody>
      </p:sp>
    </p:spTree>
    <p:extLst>
      <p:ext uri="{BB962C8B-B14F-4D97-AF65-F5344CB8AC3E}">
        <p14:creationId xmlns:p14="http://schemas.microsoft.com/office/powerpoint/2010/main" val="8430019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has it easier when it comes to acquiring food?</a:t>
            </a:r>
          </a:p>
          <a:p>
            <a:r>
              <a:rPr lang="en-US" dirty="0"/>
              <a:t>https://</a:t>
            </a:r>
            <a:r>
              <a:rPr lang="en-US" dirty="0" err="1"/>
              <a:t>www.polleverywhere.com</a:t>
            </a:r>
            <a:r>
              <a:rPr lang="en-US" dirty="0"/>
              <a:t>/</a:t>
            </a:r>
            <a:r>
              <a:rPr lang="en-US" dirty="0" err="1"/>
              <a:t>multiple_choice_polls</a:t>
            </a:r>
            <a:r>
              <a:rPr lang="en-US" dirty="0"/>
              <a:t>/shfhRBHLRmCQG9QXDwBgt?flow=</a:t>
            </a:r>
            <a:r>
              <a:rPr lang="en-US" dirty="0" err="1"/>
              <a:t>Default&amp;onscreen</a:t>
            </a:r>
            <a:r>
              <a:rPr lang="en-US" dirty="0"/>
              <a:t>=persist</a:t>
            </a:r>
          </a:p>
        </p:txBody>
      </p:sp>
      <p:sp>
        <p:nvSpPr>
          <p:cNvPr id="4" name="Slide Number Placeholder 3"/>
          <p:cNvSpPr>
            <a:spLocks noGrp="1"/>
          </p:cNvSpPr>
          <p:nvPr>
            <p:ph type="sldNum" sz="quarter" idx="5"/>
          </p:nvPr>
        </p:nvSpPr>
        <p:spPr/>
        <p:txBody>
          <a:bodyPr/>
          <a:lstStyle/>
          <a:p>
            <a:fld id="{4218707C-A528-5347-B512-111D9A72273A}" type="slidenum">
              <a:rPr lang="en-US" smtClean="0"/>
              <a:t>12</a:t>
            </a:fld>
            <a:endParaRPr lang="en-US"/>
          </a:p>
        </p:txBody>
      </p:sp>
    </p:spTree>
    <p:extLst>
      <p:ext uri="{BB962C8B-B14F-4D97-AF65-F5344CB8AC3E}">
        <p14:creationId xmlns:p14="http://schemas.microsoft.com/office/powerpoint/2010/main" val="16882686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has it easier when it comes to avoiding species extinction?</a:t>
            </a:r>
          </a:p>
          <a:p>
            <a:r>
              <a:rPr lang="en-US" dirty="0"/>
              <a:t>https://</a:t>
            </a:r>
            <a:r>
              <a:rPr lang="en-US" dirty="0" err="1"/>
              <a:t>www.polleverywhere.com</a:t>
            </a:r>
            <a:r>
              <a:rPr lang="en-US" dirty="0"/>
              <a:t>/</a:t>
            </a:r>
            <a:r>
              <a:rPr lang="en-US" dirty="0" err="1"/>
              <a:t>multiple_choice_polls</a:t>
            </a:r>
            <a:r>
              <a:rPr lang="en-US" dirty="0"/>
              <a:t>/ePU9YsG7NCRM9THKWXCnW?flow=</a:t>
            </a:r>
            <a:r>
              <a:rPr lang="en-US" dirty="0" err="1"/>
              <a:t>Default&amp;onscreen</a:t>
            </a:r>
            <a:r>
              <a:rPr lang="en-US" dirty="0"/>
              <a:t>=persist</a:t>
            </a:r>
          </a:p>
        </p:txBody>
      </p:sp>
      <p:sp>
        <p:nvSpPr>
          <p:cNvPr id="4" name="Slide Number Placeholder 3"/>
          <p:cNvSpPr>
            <a:spLocks noGrp="1"/>
          </p:cNvSpPr>
          <p:nvPr>
            <p:ph type="sldNum" sz="quarter" idx="5"/>
          </p:nvPr>
        </p:nvSpPr>
        <p:spPr/>
        <p:txBody>
          <a:bodyPr/>
          <a:lstStyle/>
          <a:p>
            <a:fld id="{4218707C-A528-5347-B512-111D9A72273A}" type="slidenum">
              <a:rPr lang="en-US" smtClean="0"/>
              <a:t>13</a:t>
            </a:fld>
            <a:endParaRPr lang="en-US"/>
          </a:p>
        </p:txBody>
      </p:sp>
    </p:spTree>
    <p:extLst>
      <p:ext uri="{BB962C8B-B14F-4D97-AF65-F5344CB8AC3E}">
        <p14:creationId xmlns:p14="http://schemas.microsoft.com/office/powerpoint/2010/main" val="2506710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FE1A8E2D-7E23-C441-AFB6-AE9CB57583CE}"/>
              </a:ext>
            </a:extLst>
          </p:cNvPr>
          <p:cNvSpPr>
            <a:spLocks noGrp="1" noRot="1" noChangeAspect="1" noChangeArrowheads="1" noTextEdit="1"/>
          </p:cNvSpPr>
          <p:nvPr>
            <p:ph type="sldImg"/>
          </p:nvPr>
        </p:nvSpPr>
        <p:spPr>
          <a:solidFill>
            <a:srgbClr val="FFFFFF"/>
          </a:solidFill>
          <a:ln/>
        </p:spPr>
      </p:sp>
      <p:sp>
        <p:nvSpPr>
          <p:cNvPr id="48130" name="Rectangle 3">
            <a:extLst>
              <a:ext uri="{FF2B5EF4-FFF2-40B4-BE49-F238E27FC236}">
                <a16:creationId xmlns:a16="http://schemas.microsoft.com/office/drawing/2014/main" id="{2CBE38A3-0889-804C-A431-034EDFB5A157}"/>
              </a:ext>
            </a:extLst>
          </p:cNvPr>
          <p:cNvSpPr>
            <a:spLocks noGrp="1" noChangeArrowheads="1"/>
          </p:cNvSpPr>
          <p:nvPr>
            <p:ph type="body" idx="1"/>
          </p:nvPr>
        </p:nvSpPr>
        <p:spPr>
          <a:solidFill>
            <a:srgbClr val="FFFFFF"/>
          </a:solidFill>
          <a:ln>
            <a:solidFill>
              <a:srgbClr val="000000"/>
            </a:solidFill>
          </a:ln>
        </p:spPr>
        <p:txBody>
          <a:bodyPr/>
          <a:lstStyle/>
          <a:p>
            <a:endParaRPr lang="en-US" altLang="en-US">
              <a:latin typeface="Times" pitchFamily="2" charset="0"/>
              <a:ea typeface="ＭＳ Ｐゴシック" panose="020B0600070205080204" pitchFamily="34" charset="-128"/>
            </a:endParaRPr>
          </a:p>
        </p:txBody>
      </p:sp>
    </p:spTree>
    <p:extLst>
      <p:ext uri="{BB962C8B-B14F-4D97-AF65-F5344CB8AC3E}">
        <p14:creationId xmlns:p14="http://schemas.microsoft.com/office/powerpoint/2010/main" val="14456851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15</a:t>
            </a:fld>
            <a:endParaRPr lang="en-US"/>
          </a:p>
        </p:txBody>
      </p:sp>
    </p:spTree>
    <p:extLst>
      <p:ext uri="{BB962C8B-B14F-4D97-AF65-F5344CB8AC3E}">
        <p14:creationId xmlns:p14="http://schemas.microsoft.com/office/powerpoint/2010/main" val="2558225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16</a:t>
            </a:fld>
            <a:endParaRPr lang="en-US"/>
          </a:p>
        </p:txBody>
      </p:sp>
    </p:spTree>
    <p:extLst>
      <p:ext uri="{BB962C8B-B14F-4D97-AF65-F5344CB8AC3E}">
        <p14:creationId xmlns:p14="http://schemas.microsoft.com/office/powerpoint/2010/main" val="6153264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17</a:t>
            </a:fld>
            <a:endParaRPr lang="en-US"/>
          </a:p>
        </p:txBody>
      </p:sp>
    </p:spTree>
    <p:extLst>
      <p:ext uri="{BB962C8B-B14F-4D97-AF65-F5344CB8AC3E}">
        <p14:creationId xmlns:p14="http://schemas.microsoft.com/office/powerpoint/2010/main" val="604807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838A5-77CF-4444-B9C4-4E86A2AEB4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ABB0CE-1E17-7E44-A60C-C4870D474C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A47BE3-EFDF-DA44-AA27-F0607BEFBC36}"/>
              </a:ext>
            </a:extLst>
          </p:cNvPr>
          <p:cNvSpPr>
            <a:spLocks noGrp="1"/>
          </p:cNvSpPr>
          <p:nvPr>
            <p:ph type="dt" sz="half" idx="10"/>
          </p:nvPr>
        </p:nvSpPr>
        <p:spPr/>
        <p:txBody>
          <a:bodyPr/>
          <a:lstStyle/>
          <a:p>
            <a:fld id="{21DDE3A9-9D48-7D40-AF95-520AE186EA5D}" type="datetimeFigureOut">
              <a:rPr lang="en-US" smtClean="0"/>
              <a:t>10/5/26</a:t>
            </a:fld>
            <a:endParaRPr lang="en-US"/>
          </a:p>
        </p:txBody>
      </p:sp>
      <p:sp>
        <p:nvSpPr>
          <p:cNvPr id="5" name="Footer Placeholder 4">
            <a:extLst>
              <a:ext uri="{FF2B5EF4-FFF2-40B4-BE49-F238E27FC236}">
                <a16:creationId xmlns:a16="http://schemas.microsoft.com/office/drawing/2014/main" id="{F4FF08DB-758A-CE42-BF14-C796921CA7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D87E2-36DD-094B-976D-5D5908031C6D}"/>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201504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3727-A794-4042-BF97-D4E5E2555C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2B6DC3-C8EA-0441-8F53-7878D4469F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003028-8ABF-084B-958C-E5D9B41B38A8}"/>
              </a:ext>
            </a:extLst>
          </p:cNvPr>
          <p:cNvSpPr>
            <a:spLocks noGrp="1"/>
          </p:cNvSpPr>
          <p:nvPr>
            <p:ph type="dt" sz="half" idx="10"/>
          </p:nvPr>
        </p:nvSpPr>
        <p:spPr/>
        <p:txBody>
          <a:bodyPr/>
          <a:lstStyle/>
          <a:p>
            <a:fld id="{21DDE3A9-9D48-7D40-AF95-520AE186EA5D}" type="datetimeFigureOut">
              <a:rPr lang="en-US" smtClean="0"/>
              <a:t>10/5/26</a:t>
            </a:fld>
            <a:endParaRPr lang="en-US"/>
          </a:p>
        </p:txBody>
      </p:sp>
      <p:sp>
        <p:nvSpPr>
          <p:cNvPr id="5" name="Footer Placeholder 4">
            <a:extLst>
              <a:ext uri="{FF2B5EF4-FFF2-40B4-BE49-F238E27FC236}">
                <a16:creationId xmlns:a16="http://schemas.microsoft.com/office/drawing/2014/main" id="{D590AB7C-ECF7-2E4C-924B-4E91B62D2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AA8C5-6364-1B49-BF43-8C17388D5E01}"/>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465692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9ED12-49A7-1148-AA33-34CAB4FC4A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93A772-1ECD-0342-8A17-4FABBAEE73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C0C112-BD32-3746-A4C3-943B604FC6F1}"/>
              </a:ext>
            </a:extLst>
          </p:cNvPr>
          <p:cNvSpPr>
            <a:spLocks noGrp="1"/>
          </p:cNvSpPr>
          <p:nvPr>
            <p:ph type="dt" sz="half" idx="10"/>
          </p:nvPr>
        </p:nvSpPr>
        <p:spPr/>
        <p:txBody>
          <a:bodyPr/>
          <a:lstStyle/>
          <a:p>
            <a:fld id="{21DDE3A9-9D48-7D40-AF95-520AE186EA5D}" type="datetimeFigureOut">
              <a:rPr lang="en-US" smtClean="0"/>
              <a:t>10/5/26</a:t>
            </a:fld>
            <a:endParaRPr lang="en-US"/>
          </a:p>
        </p:txBody>
      </p:sp>
      <p:sp>
        <p:nvSpPr>
          <p:cNvPr id="5" name="Footer Placeholder 4">
            <a:extLst>
              <a:ext uri="{FF2B5EF4-FFF2-40B4-BE49-F238E27FC236}">
                <a16:creationId xmlns:a16="http://schemas.microsoft.com/office/drawing/2014/main" id="{BC9B27BC-3697-B548-91F3-BCBF3F5CAA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67D53-D2B9-684C-96F8-BB1044135D6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624512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F2D9E-643B-7E4B-872E-9412A7003E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BB80E6-8617-AA4D-B46F-9CC4896C8D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DB783B-B1E8-C54D-8F59-3F89A76D1D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97AD1F-F077-684C-825B-C70FB96BD6FE}"/>
              </a:ext>
            </a:extLst>
          </p:cNvPr>
          <p:cNvSpPr>
            <a:spLocks noGrp="1"/>
          </p:cNvSpPr>
          <p:nvPr>
            <p:ph type="dt" sz="half" idx="10"/>
          </p:nvPr>
        </p:nvSpPr>
        <p:spPr/>
        <p:txBody>
          <a:bodyPr/>
          <a:lstStyle/>
          <a:p>
            <a:fld id="{21DDE3A9-9D48-7D40-AF95-520AE186EA5D}" type="datetimeFigureOut">
              <a:rPr lang="en-US" smtClean="0"/>
              <a:t>10/5/26</a:t>
            </a:fld>
            <a:endParaRPr lang="en-US"/>
          </a:p>
        </p:txBody>
      </p:sp>
      <p:sp>
        <p:nvSpPr>
          <p:cNvPr id="6" name="Footer Placeholder 5">
            <a:extLst>
              <a:ext uri="{FF2B5EF4-FFF2-40B4-BE49-F238E27FC236}">
                <a16:creationId xmlns:a16="http://schemas.microsoft.com/office/drawing/2014/main" id="{94975C02-EF59-8A48-A2C8-380404CF14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292BB-8AAE-DE4E-AEA5-D84CEBB00A0A}"/>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98787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F12B8-927D-3440-A90F-CEE85721D6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537DF9-7AE9-244A-B880-477F51666D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DB2535-D060-6345-9A9D-248269C20D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41F656-2CF8-3C40-BFA2-38D3E456AF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F9AB57-D4A7-A44B-9DC2-3238EBA3F4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E2D1E4-9846-5948-BE81-54250E2A19C6}"/>
              </a:ext>
            </a:extLst>
          </p:cNvPr>
          <p:cNvSpPr>
            <a:spLocks noGrp="1"/>
          </p:cNvSpPr>
          <p:nvPr>
            <p:ph type="dt" sz="half" idx="10"/>
          </p:nvPr>
        </p:nvSpPr>
        <p:spPr/>
        <p:txBody>
          <a:bodyPr/>
          <a:lstStyle/>
          <a:p>
            <a:fld id="{21DDE3A9-9D48-7D40-AF95-520AE186EA5D}" type="datetimeFigureOut">
              <a:rPr lang="en-US" smtClean="0"/>
              <a:t>10/5/26</a:t>
            </a:fld>
            <a:endParaRPr lang="en-US"/>
          </a:p>
        </p:txBody>
      </p:sp>
      <p:sp>
        <p:nvSpPr>
          <p:cNvPr id="8" name="Footer Placeholder 7">
            <a:extLst>
              <a:ext uri="{FF2B5EF4-FFF2-40B4-BE49-F238E27FC236}">
                <a16:creationId xmlns:a16="http://schemas.microsoft.com/office/drawing/2014/main" id="{AD127541-6DB6-BF46-9566-A28E02A604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A06EEE-891D-834D-A782-1C80536A829E}"/>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082056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8B81-6CFF-BB42-B48A-62FE961F09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95E796-21ED-0646-ACBF-271AEEB75975}"/>
              </a:ext>
            </a:extLst>
          </p:cNvPr>
          <p:cNvSpPr>
            <a:spLocks noGrp="1"/>
          </p:cNvSpPr>
          <p:nvPr>
            <p:ph type="dt" sz="half" idx="10"/>
          </p:nvPr>
        </p:nvSpPr>
        <p:spPr/>
        <p:txBody>
          <a:bodyPr/>
          <a:lstStyle/>
          <a:p>
            <a:fld id="{21DDE3A9-9D48-7D40-AF95-520AE186EA5D}" type="datetimeFigureOut">
              <a:rPr lang="en-US" smtClean="0"/>
              <a:t>10/5/26</a:t>
            </a:fld>
            <a:endParaRPr lang="en-US"/>
          </a:p>
        </p:txBody>
      </p:sp>
      <p:sp>
        <p:nvSpPr>
          <p:cNvPr id="4" name="Footer Placeholder 3">
            <a:extLst>
              <a:ext uri="{FF2B5EF4-FFF2-40B4-BE49-F238E27FC236}">
                <a16:creationId xmlns:a16="http://schemas.microsoft.com/office/drawing/2014/main" id="{F818FDD5-F21A-134E-AA9A-2830EBC816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6FD440-2197-894C-BBF5-275EB6A7E5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88539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4E7DC6-C98E-4D41-8312-C6A00B9175D8}"/>
              </a:ext>
            </a:extLst>
          </p:cNvPr>
          <p:cNvSpPr>
            <a:spLocks noGrp="1"/>
          </p:cNvSpPr>
          <p:nvPr>
            <p:ph type="dt" sz="half" idx="10"/>
          </p:nvPr>
        </p:nvSpPr>
        <p:spPr/>
        <p:txBody>
          <a:bodyPr/>
          <a:lstStyle/>
          <a:p>
            <a:fld id="{21DDE3A9-9D48-7D40-AF95-520AE186EA5D}" type="datetimeFigureOut">
              <a:rPr lang="en-US" smtClean="0"/>
              <a:t>10/5/26</a:t>
            </a:fld>
            <a:endParaRPr lang="en-US"/>
          </a:p>
        </p:txBody>
      </p:sp>
      <p:sp>
        <p:nvSpPr>
          <p:cNvPr id="3" name="Footer Placeholder 2">
            <a:extLst>
              <a:ext uri="{FF2B5EF4-FFF2-40B4-BE49-F238E27FC236}">
                <a16:creationId xmlns:a16="http://schemas.microsoft.com/office/drawing/2014/main" id="{0D7D30B3-F181-1740-9B5B-0C72FEA436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48BF8-D524-E946-A5F8-6EDB8EC65ADC}"/>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631966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E8C6B-44FC-DF4B-A8BD-B9B86A46C9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C0512D-A868-3942-8652-3DCABEFC8C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1B6CDD-B55E-CF40-A890-84FFA90C28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C9B9BC-EA10-2643-91D2-3C7BEB05A9F2}"/>
              </a:ext>
            </a:extLst>
          </p:cNvPr>
          <p:cNvSpPr>
            <a:spLocks noGrp="1"/>
          </p:cNvSpPr>
          <p:nvPr>
            <p:ph type="dt" sz="half" idx="10"/>
          </p:nvPr>
        </p:nvSpPr>
        <p:spPr/>
        <p:txBody>
          <a:bodyPr/>
          <a:lstStyle/>
          <a:p>
            <a:fld id="{21DDE3A9-9D48-7D40-AF95-520AE186EA5D}" type="datetimeFigureOut">
              <a:rPr lang="en-US" smtClean="0"/>
              <a:t>10/5/26</a:t>
            </a:fld>
            <a:endParaRPr lang="en-US"/>
          </a:p>
        </p:txBody>
      </p:sp>
      <p:sp>
        <p:nvSpPr>
          <p:cNvPr id="6" name="Footer Placeholder 5">
            <a:extLst>
              <a:ext uri="{FF2B5EF4-FFF2-40B4-BE49-F238E27FC236}">
                <a16:creationId xmlns:a16="http://schemas.microsoft.com/office/drawing/2014/main" id="{BBE1C55D-AE82-E348-AA9F-92C2520306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3800D4-D451-3941-ABED-C84A75035F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591217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34BDC-8058-8A4C-9BB2-057FDB8391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F7E264-76A7-5245-B655-C26D839129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B22F39-AC8F-9242-8291-F11D540045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346B85-9220-174D-9DEE-0F36C1282C62}"/>
              </a:ext>
            </a:extLst>
          </p:cNvPr>
          <p:cNvSpPr>
            <a:spLocks noGrp="1"/>
          </p:cNvSpPr>
          <p:nvPr>
            <p:ph type="dt" sz="half" idx="10"/>
          </p:nvPr>
        </p:nvSpPr>
        <p:spPr/>
        <p:txBody>
          <a:bodyPr/>
          <a:lstStyle/>
          <a:p>
            <a:fld id="{21DDE3A9-9D48-7D40-AF95-520AE186EA5D}" type="datetimeFigureOut">
              <a:rPr lang="en-US" smtClean="0"/>
              <a:t>10/5/26</a:t>
            </a:fld>
            <a:endParaRPr lang="en-US"/>
          </a:p>
        </p:txBody>
      </p:sp>
      <p:sp>
        <p:nvSpPr>
          <p:cNvPr id="6" name="Footer Placeholder 5">
            <a:extLst>
              <a:ext uri="{FF2B5EF4-FFF2-40B4-BE49-F238E27FC236}">
                <a16:creationId xmlns:a16="http://schemas.microsoft.com/office/drawing/2014/main" id="{F2313209-F023-304D-B738-0493FEA828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A32D87-2351-334C-BE56-4B8A31CED346}"/>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984478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FA934-82C2-4642-9056-03D6888AC5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B7669D-25CA-F248-A4A3-81DBDBF738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F7BB9E-51D5-534F-9A5F-0DE70E1D6DD6}"/>
              </a:ext>
            </a:extLst>
          </p:cNvPr>
          <p:cNvSpPr>
            <a:spLocks noGrp="1"/>
          </p:cNvSpPr>
          <p:nvPr>
            <p:ph type="dt" sz="half" idx="10"/>
          </p:nvPr>
        </p:nvSpPr>
        <p:spPr/>
        <p:txBody>
          <a:bodyPr/>
          <a:lstStyle/>
          <a:p>
            <a:fld id="{21DDE3A9-9D48-7D40-AF95-520AE186EA5D}" type="datetimeFigureOut">
              <a:rPr lang="en-US" smtClean="0"/>
              <a:t>10/5/26</a:t>
            </a:fld>
            <a:endParaRPr lang="en-US"/>
          </a:p>
        </p:txBody>
      </p:sp>
      <p:sp>
        <p:nvSpPr>
          <p:cNvPr id="5" name="Footer Placeholder 4">
            <a:extLst>
              <a:ext uri="{FF2B5EF4-FFF2-40B4-BE49-F238E27FC236}">
                <a16:creationId xmlns:a16="http://schemas.microsoft.com/office/drawing/2014/main" id="{AFB600DF-C942-F44F-84F3-4E7BC2F0DF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AEA3C-3249-9B4A-B424-1F83C20D484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781137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50C8A5-DD27-8040-BD1A-86BF1F2936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036609-7FEC-1340-94C8-5409F510CE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0A5258-5E66-DE42-A23B-E1D3C015A36C}"/>
              </a:ext>
            </a:extLst>
          </p:cNvPr>
          <p:cNvSpPr>
            <a:spLocks noGrp="1"/>
          </p:cNvSpPr>
          <p:nvPr>
            <p:ph type="dt" sz="half" idx="10"/>
          </p:nvPr>
        </p:nvSpPr>
        <p:spPr/>
        <p:txBody>
          <a:bodyPr/>
          <a:lstStyle/>
          <a:p>
            <a:fld id="{21DDE3A9-9D48-7D40-AF95-520AE186EA5D}" type="datetimeFigureOut">
              <a:rPr lang="en-US" smtClean="0"/>
              <a:t>10/5/26</a:t>
            </a:fld>
            <a:endParaRPr lang="en-US"/>
          </a:p>
        </p:txBody>
      </p:sp>
      <p:sp>
        <p:nvSpPr>
          <p:cNvPr id="5" name="Footer Placeholder 4">
            <a:extLst>
              <a:ext uri="{FF2B5EF4-FFF2-40B4-BE49-F238E27FC236}">
                <a16:creationId xmlns:a16="http://schemas.microsoft.com/office/drawing/2014/main" id="{7858C25B-3FDB-BD4C-8299-934B911F00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9138FA-EF83-EA42-9E21-8B8892B656F5}"/>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46417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35E0A7-698E-D742-A4C4-45629B7469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4D6F1A-825E-2B4D-8FFE-066CF32E2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661E9B-BC61-3141-8DBB-53CB9EC8D6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DDE3A9-9D48-7D40-AF95-520AE186EA5D}" type="datetimeFigureOut">
              <a:rPr lang="en-US" smtClean="0"/>
              <a:t>10/5/26</a:t>
            </a:fld>
            <a:endParaRPr lang="en-US"/>
          </a:p>
        </p:txBody>
      </p:sp>
      <p:sp>
        <p:nvSpPr>
          <p:cNvPr id="5" name="Footer Placeholder 4">
            <a:extLst>
              <a:ext uri="{FF2B5EF4-FFF2-40B4-BE49-F238E27FC236}">
                <a16:creationId xmlns:a16="http://schemas.microsoft.com/office/drawing/2014/main" id="{4054E5A4-CAAB-9C49-8EEB-830328D99D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F919D9-A8E0-C542-ADA8-7A31C9A61D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16A688-FD6D-2B46-9274-DA17D6C87077}" type="slidenum">
              <a:rPr lang="en-US" smtClean="0"/>
              <a:t>‹#›</a:t>
            </a:fld>
            <a:endParaRPr lang="en-US"/>
          </a:p>
        </p:txBody>
      </p:sp>
    </p:spTree>
    <p:extLst>
      <p:ext uri="{BB962C8B-B14F-4D97-AF65-F5344CB8AC3E}">
        <p14:creationId xmlns:p14="http://schemas.microsoft.com/office/powerpoint/2010/main" val="3440679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customXml" Target="../ink/ink1.xml"/><Relationship Id="rId7" Type="http://schemas.openxmlformats.org/officeDocument/2006/relationships/image" Target="../media/image2.tiff"/><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0.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5.tiff"/><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7.tiff"/><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 Id="rId9"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21.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304800" y="2274838"/>
            <a:ext cx="10896600" cy="1569660"/>
          </a:xfrm>
          <a:prstGeom prst="rect">
            <a:avLst/>
          </a:prstGeom>
          <a:noFill/>
          <a:ln w="9525">
            <a:noFill/>
            <a:miter lim="800000"/>
            <a:headEnd/>
            <a:tailEnd/>
          </a:ln>
          <a:effectLst/>
        </p:spPr>
        <p:txBody>
          <a:bodyPr wrap="square">
            <a:spAutoFit/>
          </a:bodyPr>
          <a:lstStyle/>
          <a:p>
            <a:pPr>
              <a:defRPr/>
            </a:pPr>
            <a:r>
              <a:rPr lang="en-US" sz="4800" b="1" dirty="0">
                <a:solidFill>
                  <a:schemeClr val="bg1">
                    <a:lumMod val="65000"/>
                  </a:schemeClr>
                </a:solidFill>
                <a:latin typeface="Avenir Book" panose="02000503020000020003" pitchFamily="2" charset="0"/>
                <a:cs typeface="Avenir"/>
              </a:rPr>
              <a:t>Class 2</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Adaptations to parasitism and introduction to the trematodes</a:t>
            </a:r>
          </a:p>
        </p:txBody>
      </p:sp>
    </p:spTree>
    <p:extLst>
      <p:ext uri="{BB962C8B-B14F-4D97-AF65-F5344CB8AC3E}">
        <p14:creationId xmlns:p14="http://schemas.microsoft.com/office/powerpoint/2010/main" val="1116647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7AB001B-AA19-243B-C0B0-5F6C092FF108}"/>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BB08F228-F440-0446-E520-DEFF6265B668}"/>
              </a:ext>
            </a:extLst>
          </p:cNvPr>
          <p:cNvSpPr>
            <a:spLocks noChangeArrowheads="1"/>
          </p:cNvSpPr>
          <p:nvPr/>
        </p:nvSpPr>
        <p:spPr bwMode="auto">
          <a:xfrm>
            <a:off x="1159918" y="3151193"/>
            <a:ext cx="9677400" cy="707886"/>
          </a:xfrm>
          <a:prstGeom prst="rect">
            <a:avLst/>
          </a:prstGeom>
          <a:noFill/>
          <a:ln w="9525">
            <a:noFill/>
            <a:miter lim="800000"/>
            <a:headEnd/>
            <a:tailEnd/>
          </a:ln>
          <a:effectLst/>
        </p:spPr>
        <p:txBody>
          <a:bodyPr wrap="square">
            <a:spAutoFit/>
          </a:bodyPr>
          <a:lstStyle/>
          <a:p>
            <a:pPr algn="ctr">
              <a:defRPr/>
            </a:pPr>
            <a:r>
              <a:rPr lang="en-US" sz="4000" dirty="0">
                <a:solidFill>
                  <a:srgbClr val="FFFFFF"/>
                </a:solidFill>
                <a:effectLst>
                  <a:outerShdw blurRad="38100" dist="38100" dir="2700000" algn="tl">
                    <a:srgbClr val="000000"/>
                  </a:outerShdw>
                </a:effectLst>
                <a:latin typeface="Avenir"/>
                <a:cs typeface="Avenir"/>
              </a:rPr>
              <a:t>Take the Qualtrics survey!</a:t>
            </a:r>
          </a:p>
        </p:txBody>
      </p:sp>
    </p:spTree>
    <p:extLst>
      <p:ext uri="{BB962C8B-B14F-4D97-AF65-F5344CB8AC3E}">
        <p14:creationId xmlns:p14="http://schemas.microsoft.com/office/powerpoint/2010/main" val="1363838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A132B-DB9E-494A-B78D-F786D5645CC0}"/>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181C6761-0AFB-4A40-910C-04C7202DF597}"/>
              </a:ext>
            </a:extLst>
          </p:cNvPr>
          <p:cNvSpPr>
            <a:spLocks noGrp="1"/>
          </p:cNvSpPr>
          <p:nvPr>
            <p:ph type="subTitle" idx="1"/>
          </p:nvPr>
        </p:nvSpPr>
        <p:spPr/>
        <p:txBody>
          <a:bodyPr/>
          <a:lstStyle/>
          <a:p>
            <a:endParaRPr lang="en-US"/>
          </a:p>
        </p:txBody>
      </p:sp>
      <p:pic>
        <p:nvPicPr>
          <p:cNvPr id="5" name="slide.url=https://www.polleverywhere.com/free_text_polls/n8mRsosII42qUWMLxN3aH">
            <a:extLst>
              <a:ext uri="{FF2B5EF4-FFF2-40B4-BE49-F238E27FC236}">
                <a16:creationId xmlns:a16="http://schemas.microsoft.com/office/drawing/2014/main" id="{72EB74FD-A9DE-7F46-9103-F417496D3DB3}"/>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4242319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271470" y="165441"/>
            <a:ext cx="11649060" cy="707886"/>
          </a:xfrm>
          <a:prstGeom prst="rect">
            <a:avLst/>
          </a:prstGeom>
          <a:noFill/>
          <a:ln w="9525">
            <a:noFill/>
            <a:miter lim="800000"/>
            <a:headEnd/>
            <a:tailEnd/>
          </a:ln>
          <a:effectLst/>
        </p:spPr>
        <p:txBody>
          <a:bodyPr wrap="square">
            <a:spAutoFit/>
          </a:bodyPr>
          <a:lstStyle/>
          <a:p>
            <a:pPr algn="ctr">
              <a:defRPr/>
            </a:pPr>
            <a:r>
              <a:rPr lang="en-US" sz="4000" b="1" dirty="0">
                <a:latin typeface="Avenir"/>
                <a:cs typeface="Avenir"/>
              </a:rPr>
              <a:t>parasites on the spectrum of symbiosis</a:t>
            </a:r>
          </a:p>
        </p:txBody>
      </p:sp>
      <p:sp>
        <p:nvSpPr>
          <p:cNvPr id="5" name="Rectangle 4">
            <a:extLst>
              <a:ext uri="{FF2B5EF4-FFF2-40B4-BE49-F238E27FC236}">
                <a16:creationId xmlns:a16="http://schemas.microsoft.com/office/drawing/2014/main" id="{D83FDACC-4EF5-E74C-8D56-ECAC6322227B}"/>
              </a:ext>
            </a:extLst>
          </p:cNvPr>
          <p:cNvSpPr>
            <a:spLocks noChangeArrowheads="1"/>
          </p:cNvSpPr>
          <p:nvPr/>
        </p:nvSpPr>
        <p:spPr bwMode="auto">
          <a:xfrm>
            <a:off x="4458893" y="5614537"/>
            <a:ext cx="9074944" cy="1015663"/>
          </a:xfrm>
          <a:prstGeom prst="rect">
            <a:avLst/>
          </a:prstGeom>
          <a:noFill/>
          <a:ln w="9525">
            <a:noFill/>
            <a:miter lim="800000"/>
            <a:headEnd/>
            <a:tailEnd/>
          </a:ln>
          <a:effectLst/>
        </p:spPr>
        <p:txBody>
          <a:bodyPr wrap="square">
            <a:spAutoFit/>
          </a:bodyPr>
          <a:lstStyle/>
          <a:p>
            <a:pPr>
              <a:defRPr/>
            </a:pPr>
            <a:r>
              <a:rPr lang="en-US" sz="3000" b="1" dirty="0">
                <a:latin typeface="Avenir"/>
                <a:cs typeface="Avenir"/>
              </a:rPr>
              <a:t>Collaborate with your group to come up </a:t>
            </a:r>
          </a:p>
          <a:p>
            <a:pPr>
              <a:defRPr/>
            </a:pPr>
            <a:r>
              <a:rPr lang="en-US" sz="3000" b="1" dirty="0">
                <a:latin typeface="Avenir"/>
                <a:cs typeface="Avenir"/>
              </a:rPr>
              <a:t>with as many examples as you can.</a:t>
            </a:r>
          </a:p>
        </p:txBody>
      </p:sp>
      <p:sp>
        <p:nvSpPr>
          <p:cNvPr id="4" name="Rectangle 3"/>
          <p:cNvSpPr>
            <a:spLocks noChangeArrowheads="1"/>
          </p:cNvSpPr>
          <p:nvPr/>
        </p:nvSpPr>
        <p:spPr bwMode="auto">
          <a:xfrm>
            <a:off x="2845587" y="1362630"/>
            <a:ext cx="9074944" cy="4154984"/>
          </a:xfrm>
          <a:prstGeom prst="rect">
            <a:avLst/>
          </a:prstGeom>
          <a:noFill/>
          <a:ln w="9525">
            <a:noFill/>
            <a:miter lim="800000"/>
            <a:headEnd/>
            <a:tailEnd/>
          </a:ln>
          <a:effectLst/>
        </p:spPr>
        <p:txBody>
          <a:bodyPr wrap="square">
            <a:spAutoFit/>
          </a:bodyPr>
          <a:lstStyle/>
          <a:p>
            <a:pPr marL="571500" indent="-571500">
              <a:buFont typeface="Arial" panose="020B0604020202020204" pitchFamily="34" charset="0"/>
              <a:buChar char="•"/>
              <a:defRPr/>
            </a:pPr>
            <a:r>
              <a:rPr lang="en-US" sz="2200" dirty="0">
                <a:latin typeface="Avenir"/>
                <a:cs typeface="Avenir"/>
              </a:rPr>
              <a:t>Parasites are not the only organisms that live in </a:t>
            </a:r>
            <a:r>
              <a:rPr lang="en-US" sz="2200" b="1" dirty="0">
                <a:latin typeface="Avenir"/>
                <a:cs typeface="Avenir"/>
              </a:rPr>
              <a:t>intimate and durable relationships with their hosts</a:t>
            </a:r>
            <a:r>
              <a:rPr lang="en-US" sz="2200" dirty="0">
                <a:latin typeface="Avenir"/>
                <a:cs typeface="Avenir"/>
              </a:rPr>
              <a:t>.</a:t>
            </a:r>
          </a:p>
          <a:p>
            <a:pPr marL="571500" indent="-571500">
              <a:buFont typeface="Arial" panose="020B0604020202020204" pitchFamily="34" charset="0"/>
              <a:buChar char="•"/>
              <a:defRPr/>
            </a:pPr>
            <a:r>
              <a:rPr lang="en-US" sz="2200" dirty="0">
                <a:latin typeface="Avenir"/>
                <a:cs typeface="Avenir"/>
              </a:rPr>
              <a:t>The class will be split into groups.</a:t>
            </a:r>
          </a:p>
          <a:p>
            <a:pPr marL="571500" indent="-571500">
              <a:buFont typeface="Arial" panose="020B0604020202020204" pitchFamily="34" charset="0"/>
              <a:buChar char="•"/>
              <a:defRPr/>
            </a:pPr>
            <a:r>
              <a:rPr lang="en-US" sz="2200" dirty="0">
                <a:latin typeface="Avenir"/>
                <a:cs typeface="Avenir"/>
              </a:rPr>
              <a:t>Each group will be assigned one kind of symbiont: </a:t>
            </a:r>
            <a:r>
              <a:rPr lang="en-US" sz="2200" b="1" dirty="0">
                <a:latin typeface="Avenir"/>
                <a:cs typeface="Avenir"/>
              </a:rPr>
              <a:t>parasites, commensals, or mutualists</a:t>
            </a:r>
            <a:r>
              <a:rPr lang="en-US" sz="2200" dirty="0">
                <a:latin typeface="Avenir"/>
                <a:cs typeface="Avenir"/>
              </a:rPr>
              <a:t>.</a:t>
            </a:r>
          </a:p>
          <a:p>
            <a:pPr marL="571500" indent="-571500">
              <a:buFont typeface="Arial" panose="020B0604020202020204" pitchFamily="34" charset="0"/>
              <a:buChar char="•"/>
              <a:defRPr/>
            </a:pPr>
            <a:r>
              <a:rPr lang="en-US" sz="2200" dirty="0">
                <a:latin typeface="Avenir"/>
                <a:cs typeface="Avenir"/>
              </a:rPr>
              <a:t>Generate as many examples of the assigned symbiont as you can.</a:t>
            </a:r>
          </a:p>
          <a:p>
            <a:pPr marL="571500" indent="-571500">
              <a:buFont typeface="Arial" panose="020B0604020202020204" pitchFamily="34" charset="0"/>
              <a:buChar char="•"/>
              <a:defRPr/>
            </a:pPr>
            <a:r>
              <a:rPr lang="en-US" sz="2200" dirty="0">
                <a:latin typeface="Avenir"/>
                <a:cs typeface="Avenir"/>
              </a:rPr>
              <a:t>Each person should assume one role: </a:t>
            </a:r>
          </a:p>
          <a:p>
            <a:pPr marL="1028700" lvl="1" indent="-571500">
              <a:buFont typeface="Arial" panose="020B0604020202020204" pitchFamily="34" charset="0"/>
              <a:buChar char="•"/>
              <a:defRPr/>
            </a:pPr>
            <a:r>
              <a:rPr lang="en-US" sz="2200" dirty="0">
                <a:latin typeface="Avenir"/>
                <a:cs typeface="Avenir"/>
              </a:rPr>
              <a:t>Note-taker </a:t>
            </a:r>
          </a:p>
          <a:p>
            <a:pPr marL="1028700" lvl="1" indent="-571500">
              <a:buFont typeface="Arial" panose="020B0604020202020204" pitchFamily="34" charset="0"/>
              <a:buChar char="•"/>
              <a:defRPr/>
            </a:pPr>
            <a:r>
              <a:rPr lang="en-US" sz="2200" dirty="0">
                <a:latin typeface="Avenir"/>
                <a:cs typeface="Avenir"/>
              </a:rPr>
              <a:t>Timekeeper</a:t>
            </a:r>
          </a:p>
          <a:p>
            <a:pPr marL="1028700" lvl="1" indent="-571500">
              <a:buFont typeface="Arial" panose="020B0604020202020204" pitchFamily="34" charset="0"/>
              <a:buChar char="•"/>
              <a:defRPr/>
            </a:pPr>
            <a:r>
              <a:rPr lang="en-US" sz="2200" dirty="0">
                <a:latin typeface="Avenir"/>
                <a:cs typeface="Avenir"/>
              </a:rPr>
              <a:t>Reporter</a:t>
            </a:r>
          </a:p>
          <a:p>
            <a:pPr marL="571500" indent="-571500">
              <a:buFont typeface="Arial" panose="020B0604020202020204" pitchFamily="34" charset="0"/>
              <a:buChar char="•"/>
              <a:defRPr/>
            </a:pPr>
            <a:endParaRPr lang="en-US" sz="2200" dirty="0">
              <a:latin typeface="Avenir"/>
              <a:cs typeface="Avenir"/>
            </a:endParaRPr>
          </a:p>
          <a:p>
            <a:pPr marL="571500" indent="-571500">
              <a:buFont typeface="Arial" panose="020B0604020202020204" pitchFamily="34" charset="0"/>
              <a:buChar char="•"/>
              <a:defRPr/>
            </a:pPr>
            <a:endParaRPr lang="en-US" sz="2200" dirty="0">
              <a:latin typeface="Avenir"/>
              <a:cs typeface="Avenir"/>
            </a:endParaRP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C63BAC7D-6304-6245-A900-7875BC03293F}"/>
                  </a:ext>
                </a:extLst>
              </p14:cNvPr>
              <p14:cNvContentPartPr/>
              <p14:nvPr/>
            </p14:nvContentPartPr>
            <p14:xfrm>
              <a:off x="5414040" y="959760"/>
              <a:ext cx="3753720" cy="371880"/>
            </p14:xfrm>
          </p:contentPart>
        </mc:Choice>
        <mc:Fallback xmlns="">
          <p:pic>
            <p:nvPicPr>
              <p:cNvPr id="7" name="Ink 6">
                <a:extLst>
                  <a:ext uri="{FF2B5EF4-FFF2-40B4-BE49-F238E27FC236}">
                    <a16:creationId xmlns:a16="http://schemas.microsoft.com/office/drawing/2014/main" id="{C63BAC7D-6304-6245-A900-7875BC03293F}"/>
                  </a:ext>
                </a:extLst>
              </p:cNvPr>
              <p:cNvPicPr/>
              <p:nvPr/>
            </p:nvPicPr>
            <p:blipFill>
              <a:blip r:embed="rId6"/>
              <a:stretch>
                <a:fillRect/>
              </a:stretch>
            </p:blipFill>
            <p:spPr>
              <a:xfrm>
                <a:off x="5404680" y="950400"/>
                <a:ext cx="3772440" cy="390600"/>
              </a:xfrm>
              <a:prstGeom prst="rect">
                <a:avLst/>
              </a:prstGeom>
            </p:spPr>
          </p:pic>
        </mc:Fallback>
      </mc:AlternateContent>
      <p:pic>
        <p:nvPicPr>
          <p:cNvPr id="9" name="Picture 8">
            <a:extLst>
              <a:ext uri="{FF2B5EF4-FFF2-40B4-BE49-F238E27FC236}">
                <a16:creationId xmlns:a16="http://schemas.microsoft.com/office/drawing/2014/main" id="{0948A2C8-8419-3A41-81F6-A59B1418901F}"/>
              </a:ext>
            </a:extLst>
          </p:cNvPr>
          <p:cNvPicPr>
            <a:picLocks noChangeAspect="1"/>
          </p:cNvPicPr>
          <p:nvPr/>
        </p:nvPicPr>
        <p:blipFill>
          <a:blip r:embed="rId7"/>
          <a:stretch>
            <a:fillRect/>
          </a:stretch>
        </p:blipFill>
        <p:spPr>
          <a:xfrm>
            <a:off x="3174605" y="5487368"/>
            <a:ext cx="1270000" cy="1270000"/>
          </a:xfrm>
          <a:prstGeom prst="rect">
            <a:avLst/>
          </a:prstGeom>
        </p:spPr>
      </p:pic>
      <p:pic>
        <p:nvPicPr>
          <p:cNvPr id="10" name="Picture 9">
            <a:extLst>
              <a:ext uri="{FF2B5EF4-FFF2-40B4-BE49-F238E27FC236}">
                <a16:creationId xmlns:a16="http://schemas.microsoft.com/office/drawing/2014/main" id="{30EC9A07-7880-2348-A1CF-88D10F73AA04}"/>
              </a:ext>
            </a:extLst>
          </p:cNvPr>
          <p:cNvPicPr>
            <a:picLocks noChangeAspect="1"/>
          </p:cNvPicPr>
          <p:nvPr/>
        </p:nvPicPr>
        <p:blipFill rotWithShape="1">
          <a:blip r:embed="rId8"/>
          <a:srcRect r="65765"/>
          <a:stretch/>
        </p:blipFill>
        <p:spPr>
          <a:xfrm>
            <a:off x="546863" y="1071420"/>
            <a:ext cx="2114407" cy="4104980"/>
          </a:xfrm>
          <a:prstGeom prst="rect">
            <a:avLst/>
          </a:prstGeom>
        </p:spPr>
      </p:pic>
    </p:spTree>
    <p:extLst>
      <p:ext uri="{BB962C8B-B14F-4D97-AF65-F5344CB8AC3E}">
        <p14:creationId xmlns:p14="http://schemas.microsoft.com/office/powerpoint/2010/main" val="3135368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271470" y="347806"/>
            <a:ext cx="11649060"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Q1. food conversion efficiency in parasites</a:t>
            </a:r>
          </a:p>
        </p:txBody>
      </p:sp>
      <p:sp>
        <p:nvSpPr>
          <p:cNvPr id="5" name="Rectangle 4">
            <a:extLst>
              <a:ext uri="{FF2B5EF4-FFF2-40B4-BE49-F238E27FC236}">
                <a16:creationId xmlns:a16="http://schemas.microsoft.com/office/drawing/2014/main" id="{D83FDACC-4EF5-E74C-8D56-ECAC6322227B}"/>
              </a:ext>
            </a:extLst>
          </p:cNvPr>
          <p:cNvSpPr>
            <a:spLocks noChangeArrowheads="1"/>
          </p:cNvSpPr>
          <p:nvPr/>
        </p:nvSpPr>
        <p:spPr bwMode="auto">
          <a:xfrm>
            <a:off x="3887389" y="5614537"/>
            <a:ext cx="9074944" cy="1015663"/>
          </a:xfrm>
          <a:prstGeom prst="rect">
            <a:avLst/>
          </a:prstGeom>
          <a:noFill/>
          <a:ln w="9525">
            <a:noFill/>
            <a:miter lim="800000"/>
            <a:headEnd/>
            <a:tailEnd/>
          </a:ln>
          <a:effectLst/>
        </p:spPr>
        <p:txBody>
          <a:bodyPr wrap="square">
            <a:spAutoFit/>
          </a:bodyPr>
          <a:lstStyle/>
          <a:p>
            <a:pPr>
              <a:defRPr/>
            </a:pPr>
            <a:r>
              <a:rPr lang="en-US" sz="3000" b="1" dirty="0">
                <a:latin typeface="Avenir"/>
                <a:cs typeface="Avenir"/>
              </a:rPr>
              <a:t>Work out the answer on your own. </a:t>
            </a:r>
          </a:p>
          <a:p>
            <a:pPr>
              <a:defRPr/>
            </a:pPr>
            <a:r>
              <a:rPr lang="en-US" sz="3000" b="1" dirty="0">
                <a:latin typeface="Avenir"/>
                <a:cs typeface="Avenir"/>
              </a:rPr>
              <a:t>Then compare answers with a partner.</a:t>
            </a:r>
          </a:p>
        </p:txBody>
      </p:sp>
      <p:pic>
        <p:nvPicPr>
          <p:cNvPr id="6" name="Picture 5">
            <a:extLst>
              <a:ext uri="{FF2B5EF4-FFF2-40B4-BE49-F238E27FC236}">
                <a16:creationId xmlns:a16="http://schemas.microsoft.com/office/drawing/2014/main" id="{24C76115-8B07-BF49-9DDC-5F3B697CE12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781779" y="5481310"/>
            <a:ext cx="3037028" cy="1234618"/>
          </a:xfrm>
          <a:prstGeom prst="rect">
            <a:avLst/>
          </a:prstGeom>
        </p:spPr>
      </p:pic>
      <p:sp>
        <p:nvSpPr>
          <p:cNvPr id="4" name="Rectangle 3"/>
          <p:cNvSpPr>
            <a:spLocks noChangeArrowheads="1"/>
          </p:cNvSpPr>
          <p:nvPr/>
        </p:nvSpPr>
        <p:spPr bwMode="auto">
          <a:xfrm>
            <a:off x="5372100" y="1330515"/>
            <a:ext cx="6376980" cy="3939540"/>
          </a:xfrm>
          <a:prstGeom prst="rect">
            <a:avLst/>
          </a:prstGeom>
          <a:noFill/>
          <a:ln w="9525">
            <a:noFill/>
            <a:miter lim="800000"/>
            <a:headEnd/>
            <a:tailEnd/>
          </a:ln>
          <a:effectLst/>
        </p:spPr>
        <p:txBody>
          <a:bodyPr wrap="square">
            <a:spAutoFit/>
          </a:bodyPr>
          <a:lstStyle/>
          <a:p>
            <a:pPr>
              <a:defRPr/>
            </a:pPr>
            <a:r>
              <a:rPr lang="en-US" sz="2500" dirty="0">
                <a:latin typeface="Avenir"/>
                <a:cs typeface="Avenir"/>
              </a:rPr>
              <a:t>Although tapeworms have a reputation for causing weight loss or wasting in their hosts, each worm takes very little energy from its host and uses what energy it takes very efficiently. Brainstorm possible answers to the following questions:</a:t>
            </a:r>
          </a:p>
          <a:p>
            <a:pPr marL="342900" indent="-342900">
              <a:buFont typeface="Arial" panose="020B0604020202020204" pitchFamily="34" charset="0"/>
              <a:buChar char="•"/>
              <a:defRPr/>
            </a:pPr>
            <a:r>
              <a:rPr lang="en-US" sz="2500" b="1" dirty="0">
                <a:latin typeface="Avenir"/>
                <a:cs typeface="Avenir"/>
              </a:rPr>
              <a:t>Why</a:t>
            </a:r>
            <a:r>
              <a:rPr lang="en-US" sz="2500" dirty="0">
                <a:latin typeface="Avenir"/>
                <a:cs typeface="Avenir"/>
              </a:rPr>
              <a:t> are tapeworms so efficient?</a:t>
            </a:r>
          </a:p>
          <a:p>
            <a:pPr marL="342900" indent="-342900">
              <a:buFont typeface="Arial" panose="020B0604020202020204" pitchFamily="34" charset="0"/>
              <a:buChar char="•"/>
              <a:defRPr/>
            </a:pPr>
            <a:r>
              <a:rPr lang="en-US" sz="2500" b="1" dirty="0">
                <a:latin typeface="Avenir"/>
                <a:cs typeface="Avenir"/>
              </a:rPr>
              <a:t>Why</a:t>
            </a:r>
            <a:r>
              <a:rPr lang="en-US" sz="2500" dirty="0">
                <a:latin typeface="Avenir"/>
                <a:cs typeface="Avenir"/>
              </a:rPr>
              <a:t> don’t hosts have food conversion efficiencies equal to those of their parasites?</a:t>
            </a:r>
          </a:p>
        </p:txBody>
      </p:sp>
      <p:pic>
        <p:nvPicPr>
          <p:cNvPr id="2" name="Picture 1">
            <a:extLst>
              <a:ext uri="{FF2B5EF4-FFF2-40B4-BE49-F238E27FC236}">
                <a16:creationId xmlns:a16="http://schemas.microsoft.com/office/drawing/2014/main" id="{960A6730-4101-BA45-AAAF-99AA724B177D}"/>
              </a:ext>
            </a:extLst>
          </p:cNvPr>
          <p:cNvPicPr>
            <a:picLocks noChangeAspect="1"/>
          </p:cNvPicPr>
          <p:nvPr/>
        </p:nvPicPr>
        <p:blipFill>
          <a:blip r:embed="rId5"/>
          <a:stretch>
            <a:fillRect/>
          </a:stretch>
        </p:blipFill>
        <p:spPr>
          <a:xfrm>
            <a:off x="500072" y="1421762"/>
            <a:ext cx="4608720" cy="3369003"/>
          </a:xfrm>
          <a:prstGeom prst="rect">
            <a:avLst/>
          </a:prstGeom>
        </p:spPr>
      </p:pic>
    </p:spTree>
    <p:extLst>
      <p:ext uri="{BB962C8B-B14F-4D97-AF65-F5344CB8AC3E}">
        <p14:creationId xmlns:p14="http://schemas.microsoft.com/office/powerpoint/2010/main" val="1904203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F37AE3-B782-4641-8C9A-7A9115E2FD8D}"/>
              </a:ext>
            </a:extLst>
          </p:cNvPr>
          <p:cNvPicPr>
            <a:picLocks noChangeAspect="1"/>
          </p:cNvPicPr>
          <p:nvPr/>
        </p:nvPicPr>
        <p:blipFill rotWithShape="1">
          <a:blip r:embed="rId3"/>
          <a:srcRect l="6978" t="6285" r="7095" b="7757"/>
          <a:stretch/>
        </p:blipFill>
        <p:spPr>
          <a:xfrm>
            <a:off x="1128713" y="128588"/>
            <a:ext cx="9929812" cy="6615541"/>
          </a:xfrm>
          <a:prstGeom prst="rect">
            <a:avLst/>
          </a:prstGeom>
        </p:spPr>
      </p:pic>
      <p:sp>
        <p:nvSpPr>
          <p:cNvPr id="7" name="Rectangle 6">
            <a:extLst>
              <a:ext uri="{FF2B5EF4-FFF2-40B4-BE49-F238E27FC236}">
                <a16:creationId xmlns:a16="http://schemas.microsoft.com/office/drawing/2014/main" id="{29291C35-659C-8542-A879-412563D2E1F1}"/>
              </a:ext>
            </a:extLst>
          </p:cNvPr>
          <p:cNvSpPr>
            <a:spLocks noChangeArrowheads="1"/>
          </p:cNvSpPr>
          <p:nvPr/>
        </p:nvSpPr>
        <p:spPr bwMode="auto">
          <a:xfrm>
            <a:off x="271470" y="503921"/>
            <a:ext cx="11649060"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Q1. food conversion efficiency in parasites</a:t>
            </a:r>
          </a:p>
        </p:txBody>
      </p:sp>
    </p:spTree>
    <p:extLst>
      <p:ext uri="{BB962C8B-B14F-4D97-AF65-F5344CB8AC3E}">
        <p14:creationId xmlns:p14="http://schemas.microsoft.com/office/powerpoint/2010/main" val="537128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271470" y="233503"/>
            <a:ext cx="11649060" cy="707886"/>
          </a:xfrm>
          <a:prstGeom prst="rect">
            <a:avLst/>
          </a:prstGeom>
          <a:noFill/>
          <a:ln w="9525">
            <a:noFill/>
            <a:miter lim="800000"/>
            <a:headEnd/>
            <a:tailEnd/>
          </a:ln>
          <a:effectLst/>
        </p:spPr>
        <p:txBody>
          <a:bodyPr wrap="square">
            <a:spAutoFit/>
          </a:bodyPr>
          <a:lstStyle/>
          <a:p>
            <a:pPr algn="ctr">
              <a:defRPr/>
            </a:pPr>
            <a:r>
              <a:rPr lang="en-US" sz="4000" b="1" dirty="0">
                <a:latin typeface="Avenir"/>
                <a:cs typeface="Avenir"/>
              </a:rPr>
              <a:t>Q2. who has it easier?</a:t>
            </a:r>
          </a:p>
        </p:txBody>
      </p:sp>
      <p:pic>
        <p:nvPicPr>
          <p:cNvPr id="6" name="Picture 5">
            <a:extLst>
              <a:ext uri="{FF2B5EF4-FFF2-40B4-BE49-F238E27FC236}">
                <a16:creationId xmlns:a16="http://schemas.microsoft.com/office/drawing/2014/main" id="{24C76115-8B07-BF49-9DDC-5F3B697CE12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781779" y="5481310"/>
            <a:ext cx="3037028" cy="1234618"/>
          </a:xfrm>
          <a:prstGeom prst="rect">
            <a:avLst/>
          </a:prstGeom>
        </p:spPr>
      </p:pic>
      <p:sp>
        <p:nvSpPr>
          <p:cNvPr id="4" name="Rectangle 3"/>
          <p:cNvSpPr>
            <a:spLocks noChangeArrowheads="1"/>
          </p:cNvSpPr>
          <p:nvPr/>
        </p:nvSpPr>
        <p:spPr bwMode="auto">
          <a:xfrm>
            <a:off x="5716309" y="1139519"/>
            <a:ext cx="6179363" cy="4339650"/>
          </a:xfrm>
          <a:prstGeom prst="rect">
            <a:avLst/>
          </a:prstGeom>
          <a:noFill/>
          <a:ln w="9525">
            <a:noFill/>
            <a:miter lim="800000"/>
            <a:headEnd/>
            <a:tailEnd/>
          </a:ln>
          <a:effectLst/>
        </p:spPr>
        <p:txBody>
          <a:bodyPr wrap="square">
            <a:spAutoFit/>
          </a:bodyPr>
          <a:lstStyle/>
          <a:p>
            <a:pPr>
              <a:defRPr/>
            </a:pPr>
            <a:r>
              <a:rPr lang="en-US" sz="2300" dirty="0">
                <a:latin typeface="Avenir"/>
                <a:cs typeface="Avenir"/>
              </a:rPr>
              <a:t>Life always forces trade-offs, but those trade-offs look different for parasites than they do for free-living species. Who has it better for each of the following processes – free-living species or parasitic species? Why?</a:t>
            </a:r>
          </a:p>
          <a:p>
            <a:pPr marL="457200" indent="-457200">
              <a:buFont typeface="+mj-lt"/>
              <a:buAutoNum type="arabicPeriod"/>
              <a:defRPr/>
            </a:pPr>
            <a:r>
              <a:rPr lang="en-US" sz="2300" dirty="0">
                <a:latin typeface="Avenir"/>
                <a:cs typeface="Avenir"/>
              </a:rPr>
              <a:t>Popping out babies</a:t>
            </a:r>
          </a:p>
          <a:p>
            <a:pPr marL="457200" indent="-457200">
              <a:buFont typeface="+mj-lt"/>
              <a:buAutoNum type="arabicPeriod"/>
              <a:defRPr/>
            </a:pPr>
            <a:r>
              <a:rPr lang="en-US" sz="2300" dirty="0">
                <a:latin typeface="Avenir"/>
                <a:cs typeface="Avenir"/>
              </a:rPr>
              <a:t>Dispersing to a new habitat</a:t>
            </a:r>
          </a:p>
          <a:p>
            <a:pPr marL="457200" indent="-457200">
              <a:buFont typeface="+mj-lt"/>
              <a:buAutoNum type="arabicPeriod"/>
              <a:defRPr/>
            </a:pPr>
            <a:r>
              <a:rPr lang="en-US" sz="2300" dirty="0">
                <a:latin typeface="Avenir"/>
                <a:cs typeface="Avenir"/>
              </a:rPr>
              <a:t>Surviving in your environment</a:t>
            </a:r>
          </a:p>
          <a:p>
            <a:pPr marL="457200" indent="-457200">
              <a:buFont typeface="+mj-lt"/>
              <a:buAutoNum type="arabicPeriod"/>
              <a:defRPr/>
            </a:pPr>
            <a:r>
              <a:rPr lang="en-US" sz="2300" dirty="0">
                <a:latin typeface="Avenir"/>
                <a:cs typeface="Avenir"/>
              </a:rPr>
              <a:t>Increasing your body size</a:t>
            </a:r>
          </a:p>
          <a:p>
            <a:pPr marL="457200" indent="-457200">
              <a:buFont typeface="+mj-lt"/>
              <a:buAutoNum type="arabicPeriod"/>
              <a:defRPr/>
            </a:pPr>
            <a:r>
              <a:rPr lang="en-US" sz="2300" dirty="0">
                <a:latin typeface="Avenir"/>
                <a:cs typeface="Avenir"/>
              </a:rPr>
              <a:t>Acquiring food</a:t>
            </a:r>
          </a:p>
          <a:p>
            <a:pPr marL="457200" indent="-457200">
              <a:buFont typeface="+mj-lt"/>
              <a:buAutoNum type="arabicPeriod"/>
              <a:defRPr/>
            </a:pPr>
            <a:r>
              <a:rPr lang="en-US" sz="2300" dirty="0">
                <a:latin typeface="Avenir"/>
                <a:cs typeface="Avenir"/>
              </a:rPr>
              <a:t>Avoiding the extinction of your species</a:t>
            </a:r>
          </a:p>
          <a:p>
            <a:pPr marL="457200" indent="-457200">
              <a:buFont typeface="+mj-lt"/>
              <a:buAutoNum type="arabicPeriod"/>
              <a:defRPr/>
            </a:pPr>
            <a:endParaRPr lang="en-US" sz="2300" dirty="0">
              <a:latin typeface="Avenir"/>
              <a:cs typeface="Avenir"/>
            </a:endParaRPr>
          </a:p>
        </p:txBody>
      </p:sp>
      <p:pic>
        <p:nvPicPr>
          <p:cNvPr id="8" name="Picture 7">
            <a:extLst>
              <a:ext uri="{FF2B5EF4-FFF2-40B4-BE49-F238E27FC236}">
                <a16:creationId xmlns:a16="http://schemas.microsoft.com/office/drawing/2014/main" id="{14CA4DC6-26EA-9A43-A73F-4651CDD727E5}"/>
              </a:ext>
            </a:extLst>
          </p:cNvPr>
          <p:cNvPicPr>
            <a:picLocks noChangeAspect="1"/>
          </p:cNvPicPr>
          <p:nvPr/>
        </p:nvPicPr>
        <p:blipFill rotWithShape="1">
          <a:blip r:embed="rId5"/>
          <a:srcRect l="19012"/>
          <a:stretch/>
        </p:blipFill>
        <p:spPr>
          <a:xfrm>
            <a:off x="367768" y="1177159"/>
            <a:ext cx="5032909" cy="3981572"/>
          </a:xfrm>
          <a:prstGeom prst="rect">
            <a:avLst/>
          </a:prstGeom>
        </p:spPr>
      </p:pic>
      <p:sp>
        <p:nvSpPr>
          <p:cNvPr id="23" name="Rectangle 22">
            <a:extLst>
              <a:ext uri="{FF2B5EF4-FFF2-40B4-BE49-F238E27FC236}">
                <a16:creationId xmlns:a16="http://schemas.microsoft.com/office/drawing/2014/main" id="{0F1BB017-E85C-3048-BCD8-C665675B3362}"/>
              </a:ext>
            </a:extLst>
          </p:cNvPr>
          <p:cNvSpPr>
            <a:spLocks noChangeArrowheads="1"/>
          </p:cNvSpPr>
          <p:nvPr/>
        </p:nvSpPr>
        <p:spPr bwMode="auto">
          <a:xfrm>
            <a:off x="3887389" y="5614537"/>
            <a:ext cx="9074944" cy="1015663"/>
          </a:xfrm>
          <a:prstGeom prst="rect">
            <a:avLst/>
          </a:prstGeom>
          <a:noFill/>
          <a:ln w="9525">
            <a:noFill/>
            <a:miter lim="800000"/>
            <a:headEnd/>
            <a:tailEnd/>
          </a:ln>
          <a:effectLst/>
        </p:spPr>
        <p:txBody>
          <a:bodyPr wrap="square">
            <a:spAutoFit/>
          </a:bodyPr>
          <a:lstStyle/>
          <a:p>
            <a:pPr>
              <a:defRPr/>
            </a:pPr>
            <a:r>
              <a:rPr lang="en-US" sz="3000" b="1" dirty="0">
                <a:latin typeface="Avenir"/>
                <a:cs typeface="Avenir"/>
              </a:rPr>
              <a:t>Work out the answer on your own. </a:t>
            </a:r>
          </a:p>
          <a:p>
            <a:pPr>
              <a:defRPr/>
            </a:pPr>
            <a:r>
              <a:rPr lang="en-US" sz="3000" b="1" dirty="0">
                <a:latin typeface="Avenir"/>
                <a:cs typeface="Avenir"/>
              </a:rPr>
              <a:t>Then compare answers with a partner.</a:t>
            </a:r>
          </a:p>
        </p:txBody>
      </p:sp>
    </p:spTree>
    <p:extLst>
      <p:ext uri="{BB962C8B-B14F-4D97-AF65-F5344CB8AC3E}">
        <p14:creationId xmlns:p14="http://schemas.microsoft.com/office/powerpoint/2010/main" val="2158876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AF54D-CF03-8F46-A759-967D51ED38D0}"/>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0F4202D9-5B82-1B43-B3C9-983357D2C71B}"/>
              </a:ext>
            </a:extLst>
          </p:cNvPr>
          <p:cNvSpPr>
            <a:spLocks noGrp="1"/>
          </p:cNvSpPr>
          <p:nvPr>
            <p:ph type="subTitle" idx="1"/>
          </p:nvPr>
        </p:nvSpPr>
        <p:spPr/>
        <p:txBody>
          <a:bodyPr/>
          <a:lstStyle/>
          <a:p>
            <a:endParaRPr lang="en-US"/>
          </a:p>
        </p:txBody>
      </p:sp>
      <p:pic>
        <p:nvPicPr>
          <p:cNvPr id="5" name="slide.url=https://www.polleverywhere.com/multiple_choice_polls/yX1dNBrTy4p1UBYoJhbrq?flow=Default&amp;onscreen=persist">
            <a:extLst>
              <a:ext uri="{FF2B5EF4-FFF2-40B4-BE49-F238E27FC236}">
                <a16:creationId xmlns:a16="http://schemas.microsoft.com/office/drawing/2014/main" id="{052624C4-22E7-4C47-9D6C-A6F505200301}"/>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1225050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7AC12-AE94-AF4A-97D7-CD28073A1276}"/>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436B4A83-E4B2-ED44-ACD0-85AA56F7FB21}"/>
              </a:ext>
            </a:extLst>
          </p:cNvPr>
          <p:cNvSpPr>
            <a:spLocks noGrp="1"/>
          </p:cNvSpPr>
          <p:nvPr>
            <p:ph type="subTitle" idx="1"/>
          </p:nvPr>
        </p:nvSpPr>
        <p:spPr/>
        <p:txBody>
          <a:bodyPr/>
          <a:lstStyle/>
          <a:p>
            <a:endParaRPr lang="en-US"/>
          </a:p>
        </p:txBody>
      </p:sp>
      <p:pic>
        <p:nvPicPr>
          <p:cNvPr id="5" name="slide.url=https://www.polleverywhere.com/multiple_choice_polls/0E0bZ4i1St4IxFjJ2AwXs?flow=Default&amp;onscreen=persist">
            <a:extLst>
              <a:ext uri="{FF2B5EF4-FFF2-40B4-BE49-F238E27FC236}">
                <a16:creationId xmlns:a16="http://schemas.microsoft.com/office/drawing/2014/main" id="{A21E672A-BDC1-C94D-B955-F5D96DC064E8}"/>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2392797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BA1F4-975B-8E4C-872E-DEA85B19B9BB}"/>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BE23DE72-66A7-4140-B84B-EE0C8AF98D90}"/>
              </a:ext>
            </a:extLst>
          </p:cNvPr>
          <p:cNvSpPr>
            <a:spLocks noGrp="1"/>
          </p:cNvSpPr>
          <p:nvPr>
            <p:ph type="subTitle" idx="1"/>
          </p:nvPr>
        </p:nvSpPr>
        <p:spPr/>
        <p:txBody>
          <a:bodyPr/>
          <a:lstStyle/>
          <a:p>
            <a:endParaRPr lang="en-US"/>
          </a:p>
        </p:txBody>
      </p:sp>
      <p:pic>
        <p:nvPicPr>
          <p:cNvPr id="5" name="slide.url=https://www.polleverywhere.com/multiple_choice_polls/c75ZVabcHpxN7bTwJKWLb?flow=Default&amp;onscreen=persist">
            <a:extLst>
              <a:ext uri="{FF2B5EF4-FFF2-40B4-BE49-F238E27FC236}">
                <a16:creationId xmlns:a16="http://schemas.microsoft.com/office/drawing/2014/main" id="{C364A20B-B538-7548-B199-AC99E170D474}"/>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413976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FD446-A0B3-7144-8B15-1FDD9A1B0A04}"/>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9345B3BB-6075-6D49-9A59-23D1C60A80A9}"/>
              </a:ext>
            </a:extLst>
          </p:cNvPr>
          <p:cNvSpPr>
            <a:spLocks noGrp="1"/>
          </p:cNvSpPr>
          <p:nvPr>
            <p:ph type="subTitle" idx="1"/>
          </p:nvPr>
        </p:nvSpPr>
        <p:spPr/>
        <p:txBody>
          <a:bodyPr/>
          <a:lstStyle/>
          <a:p>
            <a:endParaRPr lang="en-US"/>
          </a:p>
        </p:txBody>
      </p:sp>
      <p:pic>
        <p:nvPicPr>
          <p:cNvPr id="5" name="slide.url=https://www.polleverywhere.com/multiple_choice_polls/LmqHs6H1dWdE0h1aEiCtB?flow=Default&amp;onscreen=persist">
            <a:extLst>
              <a:ext uri="{FF2B5EF4-FFF2-40B4-BE49-F238E27FC236}">
                <a16:creationId xmlns:a16="http://schemas.microsoft.com/office/drawing/2014/main" id="{8E97840B-08C4-0247-86C0-16E427D12EE0}"/>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1528515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155B0-542E-8E4D-AF01-AC803550C275}"/>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DE7CD939-45CC-464E-B57C-7700913CE8B2}"/>
              </a:ext>
            </a:extLst>
          </p:cNvPr>
          <p:cNvSpPr>
            <a:spLocks noGrp="1"/>
          </p:cNvSpPr>
          <p:nvPr>
            <p:ph type="subTitle" idx="1"/>
          </p:nvPr>
        </p:nvSpPr>
        <p:spPr/>
        <p:txBody>
          <a:bodyPr/>
          <a:lstStyle/>
          <a:p>
            <a:endParaRPr lang="en-US"/>
          </a:p>
        </p:txBody>
      </p:sp>
      <p:pic>
        <p:nvPicPr>
          <p:cNvPr id="5" name="slide.url=https://www.polleverywhere.com/multiple_choice_polls/shfhRBHLRmCQG9QXDwBgt?flow=Default&amp;onscreen=persist">
            <a:extLst>
              <a:ext uri="{FF2B5EF4-FFF2-40B4-BE49-F238E27FC236}">
                <a16:creationId xmlns:a16="http://schemas.microsoft.com/office/drawing/2014/main" id="{80087349-F857-D64C-9445-9CB05A6E6E75}"/>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3521946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57795-ADE5-2C4D-89BD-F98B6CDD4EA1}"/>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300B74D-BCDB-0E49-82DB-8117FBCEA25D}"/>
              </a:ext>
            </a:extLst>
          </p:cNvPr>
          <p:cNvSpPr>
            <a:spLocks noGrp="1"/>
          </p:cNvSpPr>
          <p:nvPr>
            <p:ph type="subTitle" idx="1"/>
          </p:nvPr>
        </p:nvSpPr>
        <p:spPr/>
        <p:txBody>
          <a:bodyPr/>
          <a:lstStyle/>
          <a:p>
            <a:endParaRPr lang="en-US"/>
          </a:p>
        </p:txBody>
      </p:sp>
      <p:pic>
        <p:nvPicPr>
          <p:cNvPr id="5" name="slide.url=https://www.polleverywhere.com/multiple_choice_polls/ePU9YsG7NCRM9THKWXCnW?flow=Default&amp;onscreen=persist">
            <a:extLst>
              <a:ext uri="{FF2B5EF4-FFF2-40B4-BE49-F238E27FC236}">
                <a16:creationId xmlns:a16="http://schemas.microsoft.com/office/drawing/2014/main" id="{6FEF6682-E241-C14D-9EAC-CB109978EFCD}"/>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3253128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3">
            <a:extLst>
              <a:ext uri="{FF2B5EF4-FFF2-40B4-BE49-F238E27FC236}">
                <a16:creationId xmlns:a16="http://schemas.microsoft.com/office/drawing/2014/main" id="{C8A648F7-C8C8-6448-AF22-4A59562D12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8700" y="1"/>
            <a:ext cx="4813300" cy="685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7" name="Picture 3">
            <a:extLst>
              <a:ext uri="{FF2B5EF4-FFF2-40B4-BE49-F238E27FC236}">
                <a16:creationId xmlns:a16="http://schemas.microsoft.com/office/drawing/2014/main" id="{43B90306-FE1B-324B-B75E-FCED5D332A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9014" y="1524000"/>
            <a:ext cx="11699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8" name="Picture 2">
            <a:extLst>
              <a:ext uri="{FF2B5EF4-FFF2-40B4-BE49-F238E27FC236}">
                <a16:creationId xmlns:a16="http://schemas.microsoft.com/office/drawing/2014/main" id="{5486AC2C-AACE-1841-BC3D-F91F118CD9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4800600"/>
            <a:ext cx="1214438"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9" name="Picture 1026">
            <a:extLst>
              <a:ext uri="{FF2B5EF4-FFF2-40B4-BE49-F238E27FC236}">
                <a16:creationId xmlns:a16="http://schemas.microsoft.com/office/drawing/2014/main" id="{A41A8C88-276D-D349-A10C-F15F32786C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94700" y="5410200"/>
            <a:ext cx="1968500" cy="106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0" name="Picture 14">
            <a:extLst>
              <a:ext uri="{FF2B5EF4-FFF2-40B4-BE49-F238E27FC236}">
                <a16:creationId xmlns:a16="http://schemas.microsoft.com/office/drawing/2014/main" id="{ECD5E3B1-566A-C244-BE95-2D1A5771DDEF}"/>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rot="10800000">
            <a:off x="8915400" y="3733800"/>
            <a:ext cx="10668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1" name="Picture 16">
            <a:extLst>
              <a:ext uri="{FF2B5EF4-FFF2-40B4-BE49-F238E27FC236}">
                <a16:creationId xmlns:a16="http://schemas.microsoft.com/office/drawing/2014/main" id="{98869391-C589-BD46-B653-263FED9BCAFC}"/>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rot="10800000">
            <a:off x="8229600" y="304800"/>
            <a:ext cx="1841500"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2" name="Picture 17">
            <a:extLst>
              <a:ext uri="{FF2B5EF4-FFF2-40B4-BE49-F238E27FC236}">
                <a16:creationId xmlns:a16="http://schemas.microsoft.com/office/drawing/2014/main" id="{D8240978-BB7B-1D49-B16A-6A71660AAF3E}"/>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8763000" y="2065338"/>
            <a:ext cx="990600" cy="116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3" name="TextBox 18">
            <a:extLst>
              <a:ext uri="{FF2B5EF4-FFF2-40B4-BE49-F238E27FC236}">
                <a16:creationId xmlns:a16="http://schemas.microsoft.com/office/drawing/2014/main" id="{9429B04B-9D26-AB4A-9E1C-9030040BC537}"/>
              </a:ext>
            </a:extLst>
          </p:cNvPr>
          <p:cNvSpPr txBox="1">
            <a:spLocks noChangeArrowheads="1"/>
          </p:cNvSpPr>
          <p:nvPr/>
        </p:nvSpPr>
        <p:spPr bwMode="auto">
          <a:xfrm>
            <a:off x="1828800" y="1143000"/>
            <a:ext cx="2133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a:r>
              <a:rPr lang="en-US" altLang="en-US" sz="2000">
                <a:solidFill>
                  <a:schemeClr val="bg1"/>
                </a:solidFill>
                <a:latin typeface="Times New Roman" panose="02020603050405020304" pitchFamily="18" charset="0"/>
              </a:rPr>
              <a:t>metacercaria</a:t>
            </a:r>
          </a:p>
        </p:txBody>
      </p:sp>
      <p:sp>
        <p:nvSpPr>
          <p:cNvPr id="47114" name="TextBox 19">
            <a:extLst>
              <a:ext uri="{FF2B5EF4-FFF2-40B4-BE49-F238E27FC236}">
                <a16:creationId xmlns:a16="http://schemas.microsoft.com/office/drawing/2014/main" id="{5D93CE3F-2237-9D40-AB63-7250DC6204B0}"/>
              </a:ext>
            </a:extLst>
          </p:cNvPr>
          <p:cNvSpPr txBox="1">
            <a:spLocks noChangeArrowheads="1"/>
          </p:cNvSpPr>
          <p:nvPr/>
        </p:nvSpPr>
        <p:spPr bwMode="auto">
          <a:xfrm>
            <a:off x="1752600" y="4419600"/>
            <a:ext cx="2133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a:r>
              <a:rPr lang="en-US" altLang="en-US" sz="2000">
                <a:solidFill>
                  <a:schemeClr val="bg1"/>
                </a:solidFill>
                <a:latin typeface="Times New Roman" panose="02020603050405020304" pitchFamily="18" charset="0"/>
              </a:rPr>
              <a:t>cercaria</a:t>
            </a:r>
          </a:p>
        </p:txBody>
      </p:sp>
      <p:sp>
        <p:nvSpPr>
          <p:cNvPr id="47115" name="TextBox 20">
            <a:extLst>
              <a:ext uri="{FF2B5EF4-FFF2-40B4-BE49-F238E27FC236}">
                <a16:creationId xmlns:a16="http://schemas.microsoft.com/office/drawing/2014/main" id="{698256E0-DF94-874D-A576-83818A762DA5}"/>
              </a:ext>
            </a:extLst>
          </p:cNvPr>
          <p:cNvSpPr txBox="1">
            <a:spLocks noChangeArrowheads="1"/>
          </p:cNvSpPr>
          <p:nvPr/>
        </p:nvSpPr>
        <p:spPr bwMode="auto">
          <a:xfrm>
            <a:off x="8077200" y="1200150"/>
            <a:ext cx="2133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a:r>
              <a:rPr lang="en-US" altLang="en-US" sz="2000">
                <a:solidFill>
                  <a:schemeClr val="bg1"/>
                </a:solidFill>
                <a:latin typeface="Times New Roman" panose="02020603050405020304" pitchFamily="18" charset="0"/>
              </a:rPr>
              <a:t>adult</a:t>
            </a:r>
          </a:p>
        </p:txBody>
      </p:sp>
      <p:sp>
        <p:nvSpPr>
          <p:cNvPr id="47116" name="TextBox 21">
            <a:extLst>
              <a:ext uri="{FF2B5EF4-FFF2-40B4-BE49-F238E27FC236}">
                <a16:creationId xmlns:a16="http://schemas.microsoft.com/office/drawing/2014/main" id="{0C4D3C11-4F79-EC44-B2BE-CAA69ACC6569}"/>
              </a:ext>
            </a:extLst>
          </p:cNvPr>
          <p:cNvSpPr txBox="1">
            <a:spLocks noChangeArrowheads="1"/>
          </p:cNvSpPr>
          <p:nvPr/>
        </p:nvSpPr>
        <p:spPr bwMode="auto">
          <a:xfrm>
            <a:off x="8229600" y="3124200"/>
            <a:ext cx="2133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a:r>
              <a:rPr lang="en-US" altLang="en-US" sz="2000">
                <a:solidFill>
                  <a:schemeClr val="bg1"/>
                </a:solidFill>
                <a:latin typeface="Times New Roman" panose="02020603050405020304" pitchFamily="18" charset="0"/>
              </a:rPr>
              <a:t>egg</a:t>
            </a:r>
          </a:p>
        </p:txBody>
      </p:sp>
      <p:sp>
        <p:nvSpPr>
          <p:cNvPr id="47117" name="TextBox 22">
            <a:extLst>
              <a:ext uri="{FF2B5EF4-FFF2-40B4-BE49-F238E27FC236}">
                <a16:creationId xmlns:a16="http://schemas.microsoft.com/office/drawing/2014/main" id="{86073145-C04F-454E-B28C-F695ACCD6C08}"/>
              </a:ext>
            </a:extLst>
          </p:cNvPr>
          <p:cNvSpPr txBox="1">
            <a:spLocks noChangeArrowheads="1"/>
          </p:cNvSpPr>
          <p:nvPr/>
        </p:nvSpPr>
        <p:spPr bwMode="auto">
          <a:xfrm>
            <a:off x="8458200" y="4857750"/>
            <a:ext cx="2133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a:r>
              <a:rPr lang="en-US" altLang="en-US" sz="2000">
                <a:solidFill>
                  <a:schemeClr val="bg1"/>
                </a:solidFill>
                <a:latin typeface="Times New Roman" panose="02020603050405020304" pitchFamily="18" charset="0"/>
              </a:rPr>
              <a:t>miracidium</a:t>
            </a:r>
          </a:p>
        </p:txBody>
      </p:sp>
      <p:sp>
        <p:nvSpPr>
          <p:cNvPr id="47118" name="TextBox 23">
            <a:extLst>
              <a:ext uri="{FF2B5EF4-FFF2-40B4-BE49-F238E27FC236}">
                <a16:creationId xmlns:a16="http://schemas.microsoft.com/office/drawing/2014/main" id="{BB4DF4E4-2435-4441-A139-A8BFB2A9B3B6}"/>
              </a:ext>
            </a:extLst>
          </p:cNvPr>
          <p:cNvSpPr txBox="1">
            <a:spLocks noChangeArrowheads="1"/>
          </p:cNvSpPr>
          <p:nvPr/>
        </p:nvSpPr>
        <p:spPr bwMode="auto">
          <a:xfrm>
            <a:off x="8305800" y="6381750"/>
            <a:ext cx="2133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a:r>
              <a:rPr lang="en-US" altLang="en-US" sz="2000">
                <a:solidFill>
                  <a:schemeClr val="bg1"/>
                </a:solidFill>
                <a:latin typeface="Times New Roman" panose="02020603050405020304" pitchFamily="18" charset="0"/>
              </a:rPr>
              <a:t>redia</a:t>
            </a:r>
          </a:p>
        </p:txBody>
      </p:sp>
      <p:sp>
        <p:nvSpPr>
          <p:cNvPr id="47119" name="Content Placeholder 1">
            <a:extLst>
              <a:ext uri="{FF2B5EF4-FFF2-40B4-BE49-F238E27FC236}">
                <a16:creationId xmlns:a16="http://schemas.microsoft.com/office/drawing/2014/main" id="{96CBA30A-C685-774D-8BA4-B12EB8438624}"/>
              </a:ext>
            </a:extLst>
          </p:cNvPr>
          <p:cNvSpPr txBox="1">
            <a:spLocks/>
          </p:cNvSpPr>
          <p:nvPr/>
        </p:nvSpPr>
        <p:spPr bwMode="auto">
          <a:xfrm>
            <a:off x="5029200" y="1295400"/>
            <a:ext cx="2514600" cy="533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a:spcBef>
                <a:spcPct val="20000"/>
              </a:spcBef>
            </a:pPr>
            <a:r>
              <a:rPr lang="en-US" altLang="en-US" sz="2500">
                <a:latin typeface="Avenir" panose="02000503020000020003" pitchFamily="2" charset="0"/>
              </a:rPr>
              <a:t>definitive host</a:t>
            </a:r>
          </a:p>
        </p:txBody>
      </p:sp>
      <p:sp>
        <p:nvSpPr>
          <p:cNvPr id="47120" name="Content Placeholder 1">
            <a:extLst>
              <a:ext uri="{FF2B5EF4-FFF2-40B4-BE49-F238E27FC236}">
                <a16:creationId xmlns:a16="http://schemas.microsoft.com/office/drawing/2014/main" id="{139A7F70-8179-6043-989F-50ADC6D5C699}"/>
              </a:ext>
            </a:extLst>
          </p:cNvPr>
          <p:cNvSpPr txBox="1">
            <a:spLocks/>
          </p:cNvSpPr>
          <p:nvPr/>
        </p:nvSpPr>
        <p:spPr bwMode="auto">
          <a:xfrm>
            <a:off x="4800600" y="5257800"/>
            <a:ext cx="2895600" cy="838200"/>
          </a:xfrm>
          <a:prstGeom prst="rect">
            <a:avLst/>
          </a:prstGeom>
          <a:solidFill>
            <a:schemeClr val="bg1">
              <a:alpha val="5098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a:spcBef>
                <a:spcPct val="20000"/>
              </a:spcBef>
            </a:pPr>
            <a:r>
              <a:rPr lang="en-US" altLang="en-US" sz="2500">
                <a:latin typeface="Avenir" panose="02000503020000020003" pitchFamily="2" charset="0"/>
              </a:rPr>
              <a:t>first intermediate host</a:t>
            </a:r>
          </a:p>
        </p:txBody>
      </p:sp>
      <p:sp>
        <p:nvSpPr>
          <p:cNvPr id="47121" name="Content Placeholder 1">
            <a:extLst>
              <a:ext uri="{FF2B5EF4-FFF2-40B4-BE49-F238E27FC236}">
                <a16:creationId xmlns:a16="http://schemas.microsoft.com/office/drawing/2014/main" id="{AB12F20F-99C3-FF44-83D4-DAEAE6F9011A}"/>
              </a:ext>
            </a:extLst>
          </p:cNvPr>
          <p:cNvSpPr txBox="1">
            <a:spLocks/>
          </p:cNvSpPr>
          <p:nvPr/>
        </p:nvSpPr>
        <p:spPr bwMode="auto">
          <a:xfrm>
            <a:off x="1676400" y="3124200"/>
            <a:ext cx="2895600" cy="838200"/>
          </a:xfrm>
          <a:prstGeom prst="rect">
            <a:avLst/>
          </a:prstGeom>
          <a:solidFill>
            <a:schemeClr val="bg1">
              <a:alpha val="5098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a:spcBef>
                <a:spcPct val="20000"/>
              </a:spcBef>
            </a:pPr>
            <a:r>
              <a:rPr lang="en-US" altLang="en-US" sz="2500">
                <a:latin typeface="Avenir" panose="02000503020000020003" pitchFamily="2" charset="0"/>
              </a:rPr>
              <a:t>second intermediate hosts</a:t>
            </a:r>
          </a:p>
        </p:txBody>
      </p:sp>
    </p:spTree>
    <p:extLst>
      <p:ext uri="{BB962C8B-B14F-4D97-AF65-F5344CB8AC3E}">
        <p14:creationId xmlns:p14="http://schemas.microsoft.com/office/powerpoint/2010/main" val="4052745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a:extLst>
              <a:ext uri="{FF2B5EF4-FFF2-40B4-BE49-F238E27FC236}">
                <a16:creationId xmlns:a16="http://schemas.microsoft.com/office/drawing/2014/main" id="{7C986A84-3E3E-6748-A892-3B27FE24963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9801" y="0"/>
            <a:ext cx="77628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2070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271470" y="233503"/>
            <a:ext cx="11649060" cy="707886"/>
          </a:xfrm>
          <a:prstGeom prst="rect">
            <a:avLst/>
          </a:prstGeom>
          <a:noFill/>
          <a:ln w="9525">
            <a:noFill/>
            <a:miter lim="800000"/>
            <a:headEnd/>
            <a:tailEnd/>
          </a:ln>
          <a:effectLst/>
        </p:spPr>
        <p:txBody>
          <a:bodyPr wrap="square">
            <a:spAutoFit/>
          </a:bodyPr>
          <a:lstStyle/>
          <a:p>
            <a:pPr algn="ctr">
              <a:defRPr/>
            </a:pPr>
            <a:r>
              <a:rPr lang="en-US" sz="4000" b="1" dirty="0">
                <a:latin typeface="Avenir"/>
                <a:cs typeface="Avenir"/>
              </a:rPr>
              <a:t>Q2. evolution of the trematode life cycle</a:t>
            </a:r>
          </a:p>
        </p:txBody>
      </p:sp>
      <p:sp>
        <p:nvSpPr>
          <p:cNvPr id="5" name="Rectangle 4">
            <a:extLst>
              <a:ext uri="{FF2B5EF4-FFF2-40B4-BE49-F238E27FC236}">
                <a16:creationId xmlns:a16="http://schemas.microsoft.com/office/drawing/2014/main" id="{D83FDACC-4EF5-E74C-8D56-ECAC6322227B}"/>
              </a:ext>
            </a:extLst>
          </p:cNvPr>
          <p:cNvSpPr>
            <a:spLocks noChangeArrowheads="1"/>
          </p:cNvSpPr>
          <p:nvPr/>
        </p:nvSpPr>
        <p:spPr bwMode="auto">
          <a:xfrm>
            <a:off x="3887389" y="5614537"/>
            <a:ext cx="9074944" cy="1015663"/>
          </a:xfrm>
          <a:prstGeom prst="rect">
            <a:avLst/>
          </a:prstGeom>
          <a:noFill/>
          <a:ln w="9525">
            <a:noFill/>
            <a:miter lim="800000"/>
            <a:headEnd/>
            <a:tailEnd/>
          </a:ln>
          <a:effectLst/>
        </p:spPr>
        <p:txBody>
          <a:bodyPr wrap="square">
            <a:spAutoFit/>
          </a:bodyPr>
          <a:lstStyle/>
          <a:p>
            <a:pPr>
              <a:defRPr/>
            </a:pPr>
            <a:r>
              <a:rPr lang="en-US" sz="3000" b="1" dirty="0">
                <a:latin typeface="Avenir"/>
                <a:cs typeface="Avenir"/>
              </a:rPr>
              <a:t>Work out the answer on your own. </a:t>
            </a:r>
          </a:p>
          <a:p>
            <a:pPr>
              <a:defRPr/>
            </a:pPr>
            <a:r>
              <a:rPr lang="en-US" sz="3000" b="1" dirty="0">
                <a:latin typeface="Avenir"/>
                <a:cs typeface="Avenir"/>
              </a:rPr>
              <a:t>Then share your answer with the class.</a:t>
            </a:r>
          </a:p>
        </p:txBody>
      </p:sp>
      <p:pic>
        <p:nvPicPr>
          <p:cNvPr id="6" name="Picture 5">
            <a:extLst>
              <a:ext uri="{FF2B5EF4-FFF2-40B4-BE49-F238E27FC236}">
                <a16:creationId xmlns:a16="http://schemas.microsoft.com/office/drawing/2014/main" id="{24C76115-8B07-BF49-9DDC-5F3B697CE12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781779" y="5481310"/>
            <a:ext cx="3037028" cy="1234618"/>
          </a:xfrm>
          <a:prstGeom prst="rect">
            <a:avLst/>
          </a:prstGeom>
        </p:spPr>
      </p:pic>
      <p:sp>
        <p:nvSpPr>
          <p:cNvPr id="4" name="Rectangle 3"/>
          <p:cNvSpPr>
            <a:spLocks noChangeArrowheads="1"/>
          </p:cNvSpPr>
          <p:nvPr/>
        </p:nvSpPr>
        <p:spPr bwMode="auto">
          <a:xfrm>
            <a:off x="5316257" y="1353838"/>
            <a:ext cx="6179363" cy="3985706"/>
          </a:xfrm>
          <a:prstGeom prst="rect">
            <a:avLst/>
          </a:prstGeom>
          <a:noFill/>
          <a:ln w="9525">
            <a:noFill/>
            <a:miter lim="800000"/>
            <a:headEnd/>
            <a:tailEnd/>
          </a:ln>
          <a:effectLst/>
        </p:spPr>
        <p:txBody>
          <a:bodyPr wrap="square">
            <a:spAutoFit/>
          </a:bodyPr>
          <a:lstStyle/>
          <a:p>
            <a:pPr>
              <a:defRPr/>
            </a:pPr>
            <a:r>
              <a:rPr lang="en-US" sz="2300" dirty="0">
                <a:latin typeface="Avenir"/>
                <a:cs typeface="Avenir"/>
              </a:rPr>
              <a:t>Trematodes have wild life cycles, and you might find yourself thinking: how and why would such a complex, precarious, fragile thing evolve?</a:t>
            </a:r>
          </a:p>
          <a:p>
            <a:pPr>
              <a:defRPr/>
            </a:pPr>
            <a:endParaRPr lang="en-US" sz="2300" dirty="0">
              <a:latin typeface="Avenir"/>
              <a:cs typeface="Avenir"/>
            </a:endParaRPr>
          </a:p>
          <a:p>
            <a:pPr>
              <a:defRPr/>
            </a:pPr>
            <a:r>
              <a:rPr lang="en-US" sz="2300" dirty="0">
                <a:latin typeface="Avenir"/>
                <a:cs typeface="Avenir"/>
              </a:rPr>
              <a:t>Propose a solution. How might the complex life cycle of the trematodes have evolved from something simpler? What selective pressures might have driven the evolution of the complex life cycle?</a:t>
            </a:r>
          </a:p>
          <a:p>
            <a:pPr marL="457200" indent="-457200">
              <a:buFont typeface="+mj-lt"/>
              <a:buAutoNum type="arabicPeriod"/>
              <a:defRPr/>
            </a:pPr>
            <a:endParaRPr lang="en-US" sz="2300" dirty="0">
              <a:latin typeface="Avenir"/>
              <a:cs typeface="Avenir"/>
            </a:endParaRPr>
          </a:p>
        </p:txBody>
      </p:sp>
      <p:pic>
        <p:nvPicPr>
          <p:cNvPr id="7" name="Picture 2">
            <a:extLst>
              <a:ext uri="{FF2B5EF4-FFF2-40B4-BE49-F238E27FC236}">
                <a16:creationId xmlns:a16="http://schemas.microsoft.com/office/drawing/2014/main" id="{CB231FE8-4F2F-0748-B79D-EC4EAEC50C7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23940" y="1330686"/>
            <a:ext cx="4119562" cy="3639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6808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304800" y="2274838"/>
            <a:ext cx="10896600" cy="1569660"/>
          </a:xfrm>
          <a:prstGeom prst="rect">
            <a:avLst/>
          </a:prstGeom>
          <a:noFill/>
          <a:ln w="9525">
            <a:noFill/>
            <a:miter lim="800000"/>
            <a:headEnd/>
            <a:tailEnd/>
          </a:ln>
          <a:effectLst/>
        </p:spPr>
        <p:txBody>
          <a:bodyPr wrap="square">
            <a:spAutoFit/>
          </a:bodyPr>
          <a:lstStyle/>
          <a:p>
            <a:pPr>
              <a:defRPr/>
            </a:pPr>
            <a:r>
              <a:rPr lang="en-US" sz="4800" b="1">
                <a:solidFill>
                  <a:schemeClr val="bg1">
                    <a:lumMod val="65000"/>
                  </a:schemeClr>
                </a:solidFill>
                <a:latin typeface="Avenir Book" panose="02000503020000020003" pitchFamily="2" charset="0"/>
                <a:cs typeface="Avenir"/>
              </a:rPr>
              <a:t>Class 2</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Adaptations to parasitism and introduction to the trematodes</a:t>
            </a:r>
          </a:p>
        </p:txBody>
      </p:sp>
    </p:spTree>
    <p:extLst>
      <p:ext uri="{BB962C8B-B14F-4D97-AF65-F5344CB8AC3E}">
        <p14:creationId xmlns:p14="http://schemas.microsoft.com/office/powerpoint/2010/main" val="14200770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5027</TotalTime>
  <Words>697</Words>
  <Application>Microsoft Macintosh PowerPoint</Application>
  <PresentationFormat>Widescreen</PresentationFormat>
  <Paragraphs>79</Paragraphs>
  <Slides>17</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Avenir</vt:lpstr>
      <vt:lpstr>Avenir Book</vt:lpstr>
      <vt:lpstr>Calibri</vt:lpstr>
      <vt:lpstr>Calibri Light</vt:lpstr>
      <vt:lpstr>Times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Chelsea L. Wood</dc:creator>
  <cp:lastModifiedBy>Chelsea Wood</cp:lastModifiedBy>
  <cp:revision>38</cp:revision>
  <dcterms:created xsi:type="dcterms:W3CDTF">2020-04-03T14:55:00Z</dcterms:created>
  <dcterms:modified xsi:type="dcterms:W3CDTF">2026-10-07T18:21:29Z</dcterms:modified>
</cp:coreProperties>
</file>