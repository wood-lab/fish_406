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480" r:id="rId2"/>
    <p:sldId id="1594" r:id="rId3"/>
    <p:sldId id="1595" r:id="rId4"/>
    <p:sldId id="1596" r:id="rId5"/>
    <p:sldId id="1598" r:id="rId6"/>
    <p:sldId id="1599" r:id="rId7"/>
    <p:sldId id="723" r:id="rId8"/>
    <p:sldId id="1590" r:id="rId9"/>
    <p:sldId id="1591" r:id="rId10"/>
    <p:sldId id="1587" r:id="rId11"/>
    <p:sldId id="1592" r:id="rId12"/>
    <p:sldId id="159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755"/>
    <p:restoredTop sz="95884"/>
  </p:normalViewPr>
  <p:slideViewPr>
    <p:cSldViewPr snapToGrid="0" snapToObjects="1">
      <p:cViewPr varScale="1">
        <p:scale>
          <a:sx n="112" d="100"/>
          <a:sy n="112" d="100"/>
        </p:scale>
        <p:origin x="208"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11/19/25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9CD1A-C810-49FD-1379-2D57D8DB0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657E7-3677-958A-F165-47E7D4FCB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6A094-12F8-BF06-098C-0D9736A9B6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1739EB-6D04-5E3A-AEBD-EA8E4DD52313}"/>
              </a:ext>
            </a:extLst>
          </p:cNvPr>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52968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0ED7-760F-F576-5E3D-B650E5519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845FC-6DE4-05D5-D60C-608B6D1BA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AE808-EB79-CAA5-0404-ADECA488B6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EEA904-C069-B1F4-D9EF-EFA804DD3D90}"/>
              </a:ext>
            </a:extLst>
          </p:cNvPr>
          <p:cNvSpPr>
            <a:spLocks noGrp="1"/>
          </p:cNvSpPr>
          <p:nvPr>
            <p:ph type="sldNum" sz="quarter" idx="5"/>
          </p:nvPr>
        </p:nvSpPr>
        <p:spPr/>
        <p:txBody>
          <a:bodyPr/>
          <a:lstStyle/>
          <a:p>
            <a:fld id="{4218707C-A528-5347-B512-111D9A72273A}" type="slidenum">
              <a:rPr lang="en-US" smtClean="0"/>
              <a:t>3</a:t>
            </a:fld>
            <a:endParaRPr lang="en-US"/>
          </a:p>
        </p:txBody>
      </p:sp>
    </p:spTree>
    <p:extLst>
      <p:ext uri="{BB962C8B-B14F-4D97-AF65-F5344CB8AC3E}">
        <p14:creationId xmlns:p14="http://schemas.microsoft.com/office/powerpoint/2010/main" val="2850239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9321C-3443-E703-49F7-69CAF47D6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0E0C7-802F-AABF-B53E-8D01F7AE3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E6159E-4BE6-182A-1C8E-034F7E7F0F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86F2EC-EC0B-7B16-C7D9-A92CC696B86D}"/>
              </a:ext>
            </a:extLst>
          </p:cNvPr>
          <p:cNvSpPr>
            <a:spLocks noGrp="1"/>
          </p:cNvSpPr>
          <p:nvPr>
            <p:ph type="sldNum" sz="quarter" idx="5"/>
          </p:nvPr>
        </p:nvSpPr>
        <p:spPr/>
        <p:txBody>
          <a:bodyPr/>
          <a:lstStyle/>
          <a:p>
            <a:fld id="{4218707C-A528-5347-B512-111D9A72273A}" type="slidenum">
              <a:rPr lang="en-US" smtClean="0"/>
              <a:t>4</a:t>
            </a:fld>
            <a:endParaRPr lang="en-US"/>
          </a:p>
        </p:txBody>
      </p:sp>
    </p:spTree>
    <p:extLst>
      <p:ext uri="{BB962C8B-B14F-4D97-AF65-F5344CB8AC3E}">
        <p14:creationId xmlns:p14="http://schemas.microsoft.com/office/powerpoint/2010/main" val="37703798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94943-0A6B-2333-1918-756B9EC97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A22EE-09FA-DB7C-3B8E-CC8E30252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DCF34-79D1-859D-5441-71A6B27470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0873B5-CAE9-270D-F7D2-F555F6449780}"/>
              </a:ext>
            </a:extLst>
          </p:cNvPr>
          <p:cNvSpPr>
            <a:spLocks noGrp="1"/>
          </p:cNvSpPr>
          <p:nvPr>
            <p:ph type="sldNum" sz="quarter" idx="5"/>
          </p:nvPr>
        </p:nvSpPr>
        <p:spPr/>
        <p:txBody>
          <a:bodyPr/>
          <a:lstStyle/>
          <a:p>
            <a:fld id="{4218707C-A528-5347-B512-111D9A72273A}" type="slidenum">
              <a:rPr lang="en-US" smtClean="0"/>
              <a:t>5</a:t>
            </a:fld>
            <a:endParaRPr lang="en-US"/>
          </a:p>
        </p:txBody>
      </p:sp>
    </p:spTree>
    <p:extLst>
      <p:ext uri="{BB962C8B-B14F-4D97-AF65-F5344CB8AC3E}">
        <p14:creationId xmlns:p14="http://schemas.microsoft.com/office/powerpoint/2010/main" val="3475602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79E0C-2FF6-BB46-A47E-A751BECA5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14810-5FDE-E461-CF48-4B49F84AD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AAC63-79D6-F596-7BBA-E868CD0522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AF7365-3076-50C2-18FC-D8D89252D010}"/>
              </a:ext>
            </a:extLst>
          </p:cNvPr>
          <p:cNvSpPr>
            <a:spLocks noGrp="1"/>
          </p:cNvSpPr>
          <p:nvPr>
            <p:ph type="sldNum" sz="quarter" idx="5"/>
          </p:nvPr>
        </p:nvSpPr>
        <p:spPr/>
        <p:txBody>
          <a:bodyPr/>
          <a:lstStyle/>
          <a:p>
            <a:fld id="{4218707C-A528-5347-B512-111D9A72273A}" type="slidenum">
              <a:rPr lang="en-US" smtClean="0"/>
              <a:t>6</a:t>
            </a:fld>
            <a:endParaRPr lang="en-US"/>
          </a:p>
        </p:txBody>
      </p:sp>
    </p:spTree>
    <p:extLst>
      <p:ext uri="{BB962C8B-B14F-4D97-AF65-F5344CB8AC3E}">
        <p14:creationId xmlns:p14="http://schemas.microsoft.com/office/powerpoint/2010/main" val="3459697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7</a:t>
            </a:fld>
            <a:endParaRPr lang="en-US"/>
          </a:p>
        </p:txBody>
      </p:sp>
    </p:spTree>
    <p:extLst>
      <p:ext uri="{BB962C8B-B14F-4D97-AF65-F5344CB8AC3E}">
        <p14:creationId xmlns:p14="http://schemas.microsoft.com/office/powerpoint/2010/main" val="4229072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8</a:t>
            </a:fld>
            <a:endParaRPr lang="en-US"/>
          </a:p>
        </p:txBody>
      </p:sp>
    </p:spTree>
    <p:extLst>
      <p:ext uri="{BB962C8B-B14F-4D97-AF65-F5344CB8AC3E}">
        <p14:creationId xmlns:p14="http://schemas.microsoft.com/office/powerpoint/2010/main" val="1417164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Changes in any attribute of a population over time. </a:t>
            </a:r>
          </a:p>
          <a:p>
            <a:r>
              <a:rPr lang="en-US" dirty="0"/>
              <a:t>Evolutionary</a:t>
            </a:r>
            <a:r>
              <a:rPr lang="en-US" baseline="0" dirty="0"/>
              <a:t> change leads to adaptation and must involve a change in the frequency of individual genes in a population from generation to generation.</a:t>
            </a:r>
            <a:endParaRPr lang="en-US" dirty="0"/>
          </a:p>
        </p:txBody>
      </p:sp>
      <p:sp>
        <p:nvSpPr>
          <p:cNvPr id="4" name="Slide Number Placeholder 3"/>
          <p:cNvSpPr>
            <a:spLocks noGrp="1"/>
          </p:cNvSpPr>
          <p:nvPr>
            <p:ph type="sldNum" sz="quarter" idx="10"/>
          </p:nvPr>
        </p:nvSpPr>
        <p:spPr/>
        <p:txBody>
          <a:bodyPr/>
          <a:lstStyle/>
          <a:p>
            <a:pPr>
              <a:defRPr/>
            </a:pPr>
            <a:fld id="{217FB9E2-7C0C-AB45-B0B4-06C6B1BD2B82}" type="slidenum">
              <a:rPr lang="en-US" smtClean="0"/>
              <a:pPr>
                <a:defRPr/>
              </a:pPr>
              <a:t>9</a:t>
            </a:fld>
            <a:endParaRPr lang="en-US"/>
          </a:p>
        </p:txBody>
      </p:sp>
    </p:spTree>
    <p:extLst>
      <p:ext uri="{BB962C8B-B14F-4D97-AF65-F5344CB8AC3E}">
        <p14:creationId xmlns:p14="http://schemas.microsoft.com/office/powerpoint/2010/main" val="551942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10</a:t>
            </a:fld>
            <a:endParaRPr lang="en-US"/>
          </a:p>
        </p:txBody>
      </p:sp>
    </p:spTree>
    <p:extLst>
      <p:ext uri="{BB962C8B-B14F-4D97-AF65-F5344CB8AC3E}">
        <p14:creationId xmlns:p14="http://schemas.microsoft.com/office/powerpoint/2010/main" val="1830605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Name all the possible approaches to malaria control that you can think of, no matter how off-beat.</a:t>
            </a:r>
          </a:p>
          <a:p>
            <a:r>
              <a:rPr lang="en-US"/>
              <a:t>https://www.polleverywhere.com/free_text_polls/vsf2KQkyvrM1PaFnc4kyp</a:t>
            </a:r>
          </a:p>
        </p:txBody>
      </p:sp>
      <p:sp>
        <p:nvSpPr>
          <p:cNvPr id="4" name="Slide Number Placeholder 3"/>
          <p:cNvSpPr>
            <a:spLocks noGrp="1"/>
          </p:cNvSpPr>
          <p:nvPr>
            <p:ph type="sldNum" sz="quarter" idx="5"/>
          </p:nvPr>
        </p:nvSpPr>
        <p:spPr/>
        <p:txBody>
          <a:bodyPr/>
          <a:lstStyle/>
          <a:p>
            <a:fld id="{4218707C-A528-5347-B512-111D9A72273A}" type="slidenum">
              <a:rPr lang="en-US" smtClean="0"/>
              <a:t>11</a:t>
            </a:fld>
            <a:endParaRPr lang="en-US"/>
          </a:p>
        </p:txBody>
      </p:sp>
    </p:spTree>
    <p:extLst>
      <p:ext uri="{BB962C8B-B14F-4D97-AF65-F5344CB8AC3E}">
        <p14:creationId xmlns:p14="http://schemas.microsoft.com/office/powerpoint/2010/main" val="2272736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12</a:t>
            </a:fld>
            <a:endParaRPr lang="en-US"/>
          </a:p>
        </p:txBody>
      </p:sp>
    </p:spTree>
    <p:extLst>
      <p:ext uri="{BB962C8B-B14F-4D97-AF65-F5344CB8AC3E}">
        <p14:creationId xmlns:p14="http://schemas.microsoft.com/office/powerpoint/2010/main" val="951516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11/19/25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11/19/25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jpe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52524" y="2644170"/>
            <a:ext cx="10896600" cy="1569660"/>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Practical session 22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The apicomplexan </a:t>
            </a:r>
            <a:r>
              <a:rPr lang="en-US" sz="4800" i="1" dirty="0">
                <a:solidFill>
                  <a:srgbClr val="FFFFFF"/>
                </a:solidFill>
                <a:latin typeface="Avenir Book" panose="02000503020000020003" pitchFamily="2" charset="0"/>
                <a:cs typeface="Avenir"/>
              </a:rPr>
              <a:t>Plasmodium</a:t>
            </a: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B9AE-0CE9-A608-8D2B-7DA957E3919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2581A73-A10D-DA55-E986-78B392375BD4}"/>
              </a:ext>
            </a:extLst>
          </p:cNvPr>
          <p:cNvSpPr>
            <a:spLocks noChangeArrowheads="1"/>
          </p:cNvSpPr>
          <p:nvPr/>
        </p:nvSpPr>
        <p:spPr bwMode="auto">
          <a:xfrm>
            <a:off x="688454" y="470060"/>
            <a:ext cx="10815091"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The Situation</a:t>
            </a:r>
            <a:endParaRPr lang="en-US" sz="3500" b="1" i="1" dirty="0">
              <a:latin typeface="Avenir"/>
              <a:cs typeface="Avenir"/>
            </a:endParaRPr>
          </a:p>
        </p:txBody>
      </p:sp>
      <p:sp>
        <p:nvSpPr>
          <p:cNvPr id="4" name="Rectangle 3">
            <a:extLst>
              <a:ext uri="{FF2B5EF4-FFF2-40B4-BE49-F238E27FC236}">
                <a16:creationId xmlns:a16="http://schemas.microsoft.com/office/drawing/2014/main" id="{EA52E57D-9DED-BC72-2786-6FE07CE6CBB2}"/>
              </a:ext>
            </a:extLst>
          </p:cNvPr>
          <p:cNvSpPr>
            <a:spLocks noChangeArrowheads="1"/>
          </p:cNvSpPr>
          <p:nvPr/>
        </p:nvSpPr>
        <p:spPr bwMode="auto">
          <a:xfrm>
            <a:off x="4871544" y="1808892"/>
            <a:ext cx="6819581" cy="2862322"/>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Imagine for a moment that you are a </a:t>
            </a:r>
            <a:r>
              <a:rPr lang="en-US" sz="3000" i="1" dirty="0">
                <a:latin typeface="Avenir"/>
                <a:cs typeface="Avenir"/>
              </a:rPr>
              <a:t>Plasmodium</a:t>
            </a:r>
            <a:r>
              <a:rPr lang="en-US" sz="3000" dirty="0">
                <a:latin typeface="Avenir"/>
                <a:cs typeface="Avenir"/>
              </a:rPr>
              <a:t> parasite, working your way through a host. Every aspect of the </a:t>
            </a:r>
            <a:r>
              <a:rPr lang="en-US" sz="3000" i="1" dirty="0">
                <a:latin typeface="Avenir"/>
                <a:cs typeface="Avenir"/>
              </a:rPr>
              <a:t>Plasmodium </a:t>
            </a:r>
            <a:r>
              <a:rPr lang="en-US" sz="3000" dirty="0">
                <a:latin typeface="Avenir"/>
                <a:cs typeface="Avenir"/>
              </a:rPr>
              <a:t>life cycle plays a critical role in the proliferation of malaria in a host…</a:t>
            </a:r>
          </a:p>
        </p:txBody>
      </p:sp>
      <p:pic>
        <p:nvPicPr>
          <p:cNvPr id="10" name="Picture 9">
            <a:extLst>
              <a:ext uri="{FF2B5EF4-FFF2-40B4-BE49-F238E27FC236}">
                <a16:creationId xmlns:a16="http://schemas.microsoft.com/office/drawing/2014/main" id="{7D4C2863-35C3-0021-734D-EA7D4FF194C9}"/>
              </a:ext>
            </a:extLst>
          </p:cNvPr>
          <p:cNvPicPr>
            <a:picLocks noChangeAspect="1"/>
          </p:cNvPicPr>
          <p:nvPr/>
        </p:nvPicPr>
        <p:blipFill>
          <a:blip r:embed="rId3"/>
          <a:stretch>
            <a:fillRect/>
          </a:stretch>
        </p:blipFill>
        <p:spPr>
          <a:xfrm>
            <a:off x="866224" y="1385665"/>
            <a:ext cx="3753070" cy="3700853"/>
          </a:xfrm>
          <a:prstGeom prst="rect">
            <a:avLst/>
          </a:prstGeom>
        </p:spPr>
      </p:pic>
    </p:spTree>
    <p:extLst>
      <p:ext uri="{BB962C8B-B14F-4D97-AF65-F5344CB8AC3E}">
        <p14:creationId xmlns:p14="http://schemas.microsoft.com/office/powerpoint/2010/main" val="181739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73669-847E-B77B-D62F-8C721296A74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D754AA4-8B06-2351-34F1-D0EC57A7292D}"/>
              </a:ext>
            </a:extLst>
          </p:cNvPr>
          <p:cNvSpPr>
            <a:spLocks noChangeArrowheads="1"/>
          </p:cNvSpPr>
          <p:nvPr/>
        </p:nvSpPr>
        <p:spPr bwMode="auto">
          <a:xfrm>
            <a:off x="688454" y="470060"/>
            <a:ext cx="10815091"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The Roles</a:t>
            </a:r>
            <a:endParaRPr lang="en-US" sz="3500" b="1" i="1" dirty="0">
              <a:latin typeface="Avenir"/>
              <a:cs typeface="Avenir"/>
            </a:endParaRPr>
          </a:p>
        </p:txBody>
      </p:sp>
      <p:sp>
        <p:nvSpPr>
          <p:cNvPr id="4" name="Rectangle 3">
            <a:extLst>
              <a:ext uri="{FF2B5EF4-FFF2-40B4-BE49-F238E27FC236}">
                <a16:creationId xmlns:a16="http://schemas.microsoft.com/office/drawing/2014/main" id="{165E5ACB-9716-AB28-35A4-BFD2942281EE}"/>
              </a:ext>
            </a:extLst>
          </p:cNvPr>
          <p:cNvSpPr>
            <a:spLocks noChangeArrowheads="1"/>
          </p:cNvSpPr>
          <p:nvPr/>
        </p:nvSpPr>
        <p:spPr bwMode="auto">
          <a:xfrm>
            <a:off x="4846830" y="1101002"/>
            <a:ext cx="6819581" cy="5016758"/>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In groups, assign the following rolls to each member of the team :</a:t>
            </a:r>
          </a:p>
          <a:p>
            <a:pPr marL="457200" indent="-457200">
              <a:buFontTx/>
              <a:buChar char="-"/>
              <a:defRPr/>
            </a:pPr>
            <a:r>
              <a:rPr lang="en-US" sz="2000" dirty="0">
                <a:latin typeface="Avenir"/>
                <a:cs typeface="Avenir"/>
              </a:rPr>
              <a:t>mosquito</a:t>
            </a:r>
          </a:p>
          <a:p>
            <a:pPr marL="457200" indent="-457200">
              <a:buFontTx/>
              <a:buChar char="-"/>
              <a:defRPr/>
            </a:pPr>
            <a:r>
              <a:rPr lang="en-US" sz="2000" dirty="0">
                <a:latin typeface="Avenir"/>
                <a:cs typeface="Avenir"/>
              </a:rPr>
              <a:t>zygote</a:t>
            </a:r>
          </a:p>
          <a:p>
            <a:pPr marL="457200" indent="-457200">
              <a:buFontTx/>
              <a:buChar char="-"/>
              <a:defRPr/>
            </a:pPr>
            <a:r>
              <a:rPr lang="en-US" sz="2000" dirty="0">
                <a:latin typeface="Avenir"/>
                <a:cs typeface="Avenir"/>
              </a:rPr>
              <a:t>ookinete</a:t>
            </a:r>
          </a:p>
          <a:p>
            <a:pPr marL="457200" indent="-457200">
              <a:buFontTx/>
              <a:buChar char="-"/>
              <a:defRPr/>
            </a:pPr>
            <a:r>
              <a:rPr lang="en-US" sz="2000" dirty="0">
                <a:latin typeface="Avenir"/>
                <a:cs typeface="Avenir"/>
              </a:rPr>
              <a:t>oocyst</a:t>
            </a:r>
          </a:p>
          <a:p>
            <a:pPr marL="457200" indent="-457200">
              <a:buFontTx/>
              <a:buChar char="-"/>
              <a:defRPr/>
            </a:pPr>
            <a:r>
              <a:rPr lang="en-US" sz="2000" dirty="0">
                <a:latin typeface="Avenir"/>
                <a:cs typeface="Avenir"/>
              </a:rPr>
              <a:t>sporozoites </a:t>
            </a:r>
          </a:p>
          <a:p>
            <a:pPr marL="457200" indent="-457200">
              <a:buFontTx/>
              <a:buChar char="-"/>
              <a:defRPr/>
            </a:pPr>
            <a:r>
              <a:rPr lang="en-US" sz="2000" dirty="0">
                <a:latin typeface="Avenir"/>
                <a:cs typeface="Avenir"/>
              </a:rPr>
              <a:t>merozoites</a:t>
            </a:r>
          </a:p>
          <a:p>
            <a:pPr marL="457200" indent="-457200">
              <a:buFontTx/>
              <a:buChar char="-"/>
              <a:defRPr/>
            </a:pPr>
            <a:r>
              <a:rPr lang="en-US" sz="2000" dirty="0">
                <a:latin typeface="Avenir"/>
                <a:cs typeface="Avenir"/>
              </a:rPr>
              <a:t>human liver </a:t>
            </a:r>
          </a:p>
          <a:p>
            <a:pPr marL="457200" indent="-457200">
              <a:buFontTx/>
              <a:buChar char="-"/>
              <a:defRPr/>
            </a:pPr>
            <a:r>
              <a:rPr lang="en-US" sz="2000" dirty="0">
                <a:latin typeface="Avenir"/>
                <a:cs typeface="Avenir"/>
              </a:rPr>
              <a:t>human erythrocytes</a:t>
            </a:r>
          </a:p>
          <a:p>
            <a:pPr marL="457200" indent="-457200">
              <a:buFontTx/>
              <a:buChar char="-"/>
              <a:defRPr/>
            </a:pPr>
            <a:r>
              <a:rPr lang="en-US" sz="2000" dirty="0">
                <a:latin typeface="Avenir"/>
                <a:cs typeface="Avenir"/>
              </a:rPr>
              <a:t>gametocytes</a:t>
            </a:r>
            <a:endParaRPr lang="en-US" sz="2000" i="1" dirty="0">
              <a:latin typeface="Avenir"/>
              <a:cs typeface="Avenir"/>
            </a:endParaRPr>
          </a:p>
          <a:p>
            <a:pPr>
              <a:defRPr/>
            </a:pPr>
            <a:endParaRPr lang="en-US" sz="2000" dirty="0">
              <a:latin typeface="Avenir"/>
              <a:cs typeface="Avenir"/>
            </a:endParaRPr>
          </a:p>
          <a:p>
            <a:pPr marL="457200" indent="-457200">
              <a:buFontTx/>
              <a:buChar char="-"/>
              <a:defRPr/>
            </a:pPr>
            <a:endParaRPr lang="en-US" sz="3000" dirty="0">
              <a:latin typeface="Avenir"/>
              <a:cs typeface="Avenir"/>
            </a:endParaRPr>
          </a:p>
          <a:p>
            <a:pPr marL="457200" indent="-457200">
              <a:buFontTx/>
              <a:buChar char="-"/>
              <a:defRPr/>
            </a:pPr>
            <a:endParaRPr lang="en-US" sz="3000" dirty="0">
              <a:latin typeface="Avenir"/>
              <a:cs typeface="Avenir"/>
            </a:endParaRPr>
          </a:p>
        </p:txBody>
      </p:sp>
      <p:pic>
        <p:nvPicPr>
          <p:cNvPr id="10" name="Picture 9">
            <a:extLst>
              <a:ext uri="{FF2B5EF4-FFF2-40B4-BE49-F238E27FC236}">
                <a16:creationId xmlns:a16="http://schemas.microsoft.com/office/drawing/2014/main" id="{585A3DD1-DC3C-8935-C863-84ACEC253621}"/>
              </a:ext>
            </a:extLst>
          </p:cNvPr>
          <p:cNvPicPr>
            <a:picLocks noChangeAspect="1"/>
          </p:cNvPicPr>
          <p:nvPr/>
        </p:nvPicPr>
        <p:blipFill>
          <a:blip r:embed="rId3"/>
          <a:stretch>
            <a:fillRect/>
          </a:stretch>
        </p:blipFill>
        <p:spPr>
          <a:xfrm>
            <a:off x="866224" y="1385665"/>
            <a:ext cx="3753070" cy="3700853"/>
          </a:xfrm>
          <a:prstGeom prst="rect">
            <a:avLst/>
          </a:prstGeom>
        </p:spPr>
      </p:pic>
      <p:sp>
        <p:nvSpPr>
          <p:cNvPr id="2" name="Rectangle 1">
            <a:extLst>
              <a:ext uri="{FF2B5EF4-FFF2-40B4-BE49-F238E27FC236}">
                <a16:creationId xmlns:a16="http://schemas.microsoft.com/office/drawing/2014/main" id="{0423773E-1707-DB86-E9A2-8FE87042D536}"/>
              </a:ext>
            </a:extLst>
          </p:cNvPr>
          <p:cNvSpPr>
            <a:spLocks noChangeArrowheads="1"/>
          </p:cNvSpPr>
          <p:nvPr/>
        </p:nvSpPr>
        <p:spPr bwMode="auto">
          <a:xfrm>
            <a:off x="3394451" y="5756998"/>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Be assigned into groups (1 min) and assign each other’s roles within the group (3 min). </a:t>
            </a:r>
          </a:p>
        </p:txBody>
      </p:sp>
      <p:pic>
        <p:nvPicPr>
          <p:cNvPr id="5" name="Picture 4">
            <a:extLst>
              <a:ext uri="{FF2B5EF4-FFF2-40B4-BE49-F238E27FC236}">
                <a16:creationId xmlns:a16="http://schemas.microsoft.com/office/drawing/2014/main" id="{A2E362B8-D17E-A894-87F4-F751047A436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spTree>
    <p:extLst>
      <p:ext uri="{BB962C8B-B14F-4D97-AF65-F5344CB8AC3E}">
        <p14:creationId xmlns:p14="http://schemas.microsoft.com/office/powerpoint/2010/main" val="949240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E2143-1FD4-60C9-36A3-3B6B884A107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25D1E8-CA36-0486-18CA-6A4ECA4F3C8F}"/>
              </a:ext>
            </a:extLst>
          </p:cNvPr>
          <p:cNvSpPr>
            <a:spLocks noChangeArrowheads="1"/>
          </p:cNvSpPr>
          <p:nvPr/>
        </p:nvSpPr>
        <p:spPr bwMode="auto">
          <a:xfrm>
            <a:off x="688454" y="470060"/>
            <a:ext cx="10815091"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The Task</a:t>
            </a:r>
            <a:endParaRPr lang="en-US" sz="3500" b="1" i="1" dirty="0">
              <a:latin typeface="Avenir"/>
              <a:cs typeface="Avenir"/>
            </a:endParaRPr>
          </a:p>
        </p:txBody>
      </p:sp>
      <p:sp>
        <p:nvSpPr>
          <p:cNvPr id="4" name="Rectangle 3">
            <a:extLst>
              <a:ext uri="{FF2B5EF4-FFF2-40B4-BE49-F238E27FC236}">
                <a16:creationId xmlns:a16="http://schemas.microsoft.com/office/drawing/2014/main" id="{A9896013-1EED-6CF3-4B96-707BED414834}"/>
              </a:ext>
            </a:extLst>
          </p:cNvPr>
          <p:cNvSpPr>
            <a:spLocks noChangeArrowheads="1"/>
          </p:cNvSpPr>
          <p:nvPr/>
        </p:nvSpPr>
        <p:spPr bwMode="auto">
          <a:xfrm>
            <a:off x="4809761" y="1235405"/>
            <a:ext cx="6819581" cy="3785652"/>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In these groups, design a plan to demonstrate to the class the entire </a:t>
            </a:r>
            <a:r>
              <a:rPr lang="en-US" sz="3000" i="1" dirty="0">
                <a:latin typeface="Avenir"/>
                <a:cs typeface="Avenir"/>
              </a:rPr>
              <a:t>Plasmodium </a:t>
            </a:r>
            <a:r>
              <a:rPr lang="en-US" sz="3000" dirty="0">
                <a:latin typeface="Avenir"/>
                <a:cs typeface="Avenir"/>
              </a:rPr>
              <a:t>life cycle from start to finish. Be sure to note who the definitive host of </a:t>
            </a:r>
            <a:r>
              <a:rPr lang="en-US" sz="3000" i="1" dirty="0">
                <a:latin typeface="Avenir"/>
                <a:cs typeface="Avenir"/>
              </a:rPr>
              <a:t>Plasmodium </a:t>
            </a:r>
            <a:r>
              <a:rPr lang="en-US" sz="3000" dirty="0">
                <a:latin typeface="Avenir"/>
                <a:cs typeface="Avenir"/>
              </a:rPr>
              <a:t>is and what part of a human you are referencing. How will you express what the parasite is doing during your role?</a:t>
            </a:r>
          </a:p>
        </p:txBody>
      </p:sp>
      <p:pic>
        <p:nvPicPr>
          <p:cNvPr id="10" name="Picture 9">
            <a:extLst>
              <a:ext uri="{FF2B5EF4-FFF2-40B4-BE49-F238E27FC236}">
                <a16:creationId xmlns:a16="http://schemas.microsoft.com/office/drawing/2014/main" id="{BA09583D-E2FC-B78C-1A71-2E3579BBDBDB}"/>
              </a:ext>
            </a:extLst>
          </p:cNvPr>
          <p:cNvPicPr>
            <a:picLocks noChangeAspect="1"/>
          </p:cNvPicPr>
          <p:nvPr/>
        </p:nvPicPr>
        <p:blipFill>
          <a:blip r:embed="rId3"/>
          <a:stretch>
            <a:fillRect/>
          </a:stretch>
        </p:blipFill>
        <p:spPr>
          <a:xfrm>
            <a:off x="866224" y="1385665"/>
            <a:ext cx="3753070" cy="3700853"/>
          </a:xfrm>
          <a:prstGeom prst="rect">
            <a:avLst/>
          </a:prstGeom>
        </p:spPr>
      </p:pic>
      <p:sp>
        <p:nvSpPr>
          <p:cNvPr id="2" name="Rectangle 1">
            <a:extLst>
              <a:ext uri="{FF2B5EF4-FFF2-40B4-BE49-F238E27FC236}">
                <a16:creationId xmlns:a16="http://schemas.microsoft.com/office/drawing/2014/main" id="{1BDE4FA5-150D-501D-00FF-B826B02367A4}"/>
              </a:ext>
            </a:extLst>
          </p:cNvPr>
          <p:cNvSpPr>
            <a:spLocks noChangeArrowheads="1"/>
          </p:cNvSpPr>
          <p:nvPr/>
        </p:nvSpPr>
        <p:spPr bwMode="auto">
          <a:xfrm>
            <a:off x="3394451" y="5432458"/>
            <a:ext cx="8485079" cy="129266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Discuss with your group how the roles work together (7.5 min) and design a way of clearly communicating the life cycle to the entire class (7.5 min)</a:t>
            </a:r>
          </a:p>
        </p:txBody>
      </p:sp>
      <p:pic>
        <p:nvPicPr>
          <p:cNvPr id="5" name="Picture 4">
            <a:extLst>
              <a:ext uri="{FF2B5EF4-FFF2-40B4-BE49-F238E27FC236}">
                <a16:creationId xmlns:a16="http://schemas.microsoft.com/office/drawing/2014/main" id="{A5034690-9FDF-E7AB-21A2-A2F5D0B1142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spTree>
    <p:extLst>
      <p:ext uri="{BB962C8B-B14F-4D97-AF65-F5344CB8AC3E}">
        <p14:creationId xmlns:p14="http://schemas.microsoft.com/office/powerpoint/2010/main" val="3251544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43F66-A705-CF44-6443-E5767538B74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1FFA4AD-33B4-A405-6A14-961BB3A30AC1}"/>
              </a:ext>
            </a:extLst>
          </p:cNvPr>
          <p:cNvSpPr>
            <a:spLocks noChangeArrowheads="1"/>
          </p:cNvSpPr>
          <p:nvPr/>
        </p:nvSpPr>
        <p:spPr bwMode="auto">
          <a:xfrm>
            <a:off x="688454" y="470060"/>
            <a:ext cx="10815091"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The Life Cycle </a:t>
            </a:r>
            <a:endParaRPr lang="en-US" sz="3500" b="1" i="1" dirty="0">
              <a:latin typeface="Avenir"/>
              <a:cs typeface="Avenir"/>
            </a:endParaRPr>
          </a:p>
        </p:txBody>
      </p:sp>
      <p:sp>
        <p:nvSpPr>
          <p:cNvPr id="4" name="Rectangle 3">
            <a:extLst>
              <a:ext uri="{FF2B5EF4-FFF2-40B4-BE49-F238E27FC236}">
                <a16:creationId xmlns:a16="http://schemas.microsoft.com/office/drawing/2014/main" id="{FA95E0E1-3CBD-E95E-A629-F5CCC774214B}"/>
              </a:ext>
            </a:extLst>
          </p:cNvPr>
          <p:cNvSpPr>
            <a:spLocks noChangeArrowheads="1"/>
          </p:cNvSpPr>
          <p:nvPr/>
        </p:nvSpPr>
        <p:spPr bwMode="auto">
          <a:xfrm>
            <a:off x="4871544" y="1808892"/>
            <a:ext cx="6819581" cy="3323987"/>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Now that your plan is fully solidified, we will take turns as groups presenting your life cycle plan to the class. Make sure you fully explain all that is happening as you move through each step. </a:t>
            </a:r>
          </a:p>
          <a:p>
            <a:pPr marL="457200" indent="-457200">
              <a:buFontTx/>
              <a:buChar char="-"/>
              <a:defRPr/>
            </a:pPr>
            <a:endParaRPr lang="en-US" sz="3000" dirty="0">
              <a:latin typeface="Avenir"/>
              <a:cs typeface="Avenir"/>
            </a:endParaRPr>
          </a:p>
        </p:txBody>
      </p:sp>
      <p:pic>
        <p:nvPicPr>
          <p:cNvPr id="10" name="Picture 9">
            <a:extLst>
              <a:ext uri="{FF2B5EF4-FFF2-40B4-BE49-F238E27FC236}">
                <a16:creationId xmlns:a16="http://schemas.microsoft.com/office/drawing/2014/main" id="{9A4059D9-3ABC-C91F-3FD3-E91ADB43DEAD}"/>
              </a:ext>
            </a:extLst>
          </p:cNvPr>
          <p:cNvPicPr>
            <a:picLocks noChangeAspect="1"/>
          </p:cNvPicPr>
          <p:nvPr/>
        </p:nvPicPr>
        <p:blipFill>
          <a:blip r:embed="rId3"/>
          <a:stretch>
            <a:fillRect/>
          </a:stretch>
        </p:blipFill>
        <p:spPr>
          <a:xfrm>
            <a:off x="866224" y="1385665"/>
            <a:ext cx="3753070" cy="3700853"/>
          </a:xfrm>
          <a:prstGeom prst="rect">
            <a:avLst/>
          </a:prstGeom>
        </p:spPr>
      </p:pic>
      <p:sp>
        <p:nvSpPr>
          <p:cNvPr id="2" name="Rectangle 1">
            <a:extLst>
              <a:ext uri="{FF2B5EF4-FFF2-40B4-BE49-F238E27FC236}">
                <a16:creationId xmlns:a16="http://schemas.microsoft.com/office/drawing/2014/main" id="{28541D6B-96F4-182C-6642-86D4472A50A0}"/>
              </a:ext>
            </a:extLst>
          </p:cNvPr>
          <p:cNvSpPr>
            <a:spLocks noChangeArrowheads="1"/>
          </p:cNvSpPr>
          <p:nvPr/>
        </p:nvSpPr>
        <p:spPr bwMode="auto">
          <a:xfrm>
            <a:off x="3394451" y="5321060"/>
            <a:ext cx="8485079" cy="492443"/>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Present your life cycle to the class (10 min)</a:t>
            </a:r>
          </a:p>
        </p:txBody>
      </p:sp>
      <p:pic>
        <p:nvPicPr>
          <p:cNvPr id="5" name="Picture 4">
            <a:extLst>
              <a:ext uri="{FF2B5EF4-FFF2-40B4-BE49-F238E27FC236}">
                <a16:creationId xmlns:a16="http://schemas.microsoft.com/office/drawing/2014/main" id="{9DA18F1E-FE0D-1E3B-D0B3-450DC8FD72C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spTree>
    <p:extLst>
      <p:ext uri="{BB962C8B-B14F-4D97-AF65-F5344CB8AC3E}">
        <p14:creationId xmlns:p14="http://schemas.microsoft.com/office/powerpoint/2010/main" val="972951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71E6F21-CA5C-59A3-F66E-EB7FDA09AF0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C3C5743-AD32-DABA-BD3F-61717FA25615}"/>
              </a:ext>
            </a:extLst>
          </p:cNvPr>
          <p:cNvSpPr>
            <a:spLocks noChangeArrowheads="1"/>
          </p:cNvSpPr>
          <p:nvPr/>
        </p:nvSpPr>
        <p:spPr bwMode="auto">
          <a:xfrm>
            <a:off x="352524" y="2644170"/>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Additional Questions</a:t>
            </a:r>
            <a:endParaRPr lang="en-US" sz="4800" i="1" dirty="0">
              <a:solidFill>
                <a:srgbClr val="FFFFFF"/>
              </a:solidFill>
              <a:latin typeface="Avenir Book" panose="02000503020000020003" pitchFamily="2" charset="0"/>
              <a:cs typeface="Avenir"/>
            </a:endParaRPr>
          </a:p>
        </p:txBody>
      </p:sp>
    </p:spTree>
    <p:extLst>
      <p:ext uri="{BB962C8B-B14F-4D97-AF65-F5344CB8AC3E}">
        <p14:creationId xmlns:p14="http://schemas.microsoft.com/office/powerpoint/2010/main" val="3859364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688454" y="470060"/>
            <a:ext cx="10815091"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Q1. who is the definitive host of </a:t>
            </a:r>
            <a:r>
              <a:rPr lang="en-US" sz="3500" b="1" i="1" dirty="0">
                <a:latin typeface="Avenir"/>
                <a:cs typeface="Avenir"/>
              </a:rPr>
              <a:t>Plasmodium</a:t>
            </a:r>
            <a:r>
              <a:rPr lang="en-US" sz="3500" b="1" dirty="0">
                <a:latin typeface="Avenir"/>
                <a:cs typeface="Avenir"/>
              </a:rPr>
              <a:t>?</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4871544" y="1808892"/>
            <a:ext cx="6819581" cy="2862322"/>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Now that you know the malaria life cycle, identify the definitive host. The answer might not be as straightforward as you think, so carefully review the life cycle to figure it out.</a:t>
            </a:r>
          </a:p>
        </p:txBody>
      </p:sp>
      <p:sp>
        <p:nvSpPr>
          <p:cNvPr id="7" name="Rectangle 6">
            <a:extLst>
              <a:ext uri="{FF2B5EF4-FFF2-40B4-BE49-F238E27FC236}">
                <a16:creationId xmlns:a16="http://schemas.microsoft.com/office/drawing/2014/main" id="{147961A3-2B95-0A43-B11C-D68C6B37CF80}"/>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(2 m), discuss with your group </a:t>
            </a:r>
          </a:p>
          <a:p>
            <a:pPr>
              <a:defRPr/>
            </a:pPr>
            <a:r>
              <a:rPr lang="en-US" sz="2600" b="1" dirty="0">
                <a:latin typeface="Avenir"/>
                <a:cs typeface="Avenir"/>
              </a:rPr>
              <a:t>(3 m), then share with the class (7 m).</a:t>
            </a:r>
          </a:p>
        </p:txBody>
      </p:sp>
      <p:pic>
        <p:nvPicPr>
          <p:cNvPr id="9" name="Picture 8">
            <a:extLst>
              <a:ext uri="{FF2B5EF4-FFF2-40B4-BE49-F238E27FC236}">
                <a16:creationId xmlns:a16="http://schemas.microsoft.com/office/drawing/2014/main" id="{F0868F39-A23A-9E47-BC8C-16103DF44A1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10" name="Picture 9">
            <a:extLst>
              <a:ext uri="{FF2B5EF4-FFF2-40B4-BE49-F238E27FC236}">
                <a16:creationId xmlns:a16="http://schemas.microsoft.com/office/drawing/2014/main" id="{AB0EA2F9-AF97-7646-9F1A-717B25B81413}"/>
              </a:ext>
            </a:extLst>
          </p:cNvPr>
          <p:cNvPicPr>
            <a:picLocks noChangeAspect="1"/>
          </p:cNvPicPr>
          <p:nvPr/>
        </p:nvPicPr>
        <p:blipFill>
          <a:blip r:embed="rId5"/>
          <a:stretch>
            <a:fillRect/>
          </a:stretch>
        </p:blipFill>
        <p:spPr>
          <a:xfrm>
            <a:off x="866224" y="1385665"/>
            <a:ext cx="3753070" cy="3700853"/>
          </a:xfrm>
          <a:prstGeom prst="rect">
            <a:avLst/>
          </a:prstGeom>
        </p:spPr>
      </p:pic>
    </p:spTree>
    <p:extLst>
      <p:ext uri="{BB962C8B-B14F-4D97-AF65-F5344CB8AC3E}">
        <p14:creationId xmlns:p14="http://schemas.microsoft.com/office/powerpoint/2010/main" val="328958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688454" y="375465"/>
            <a:ext cx="10815091"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Q2. a synchronized attack</a:t>
            </a:r>
            <a:endParaRPr lang="en-US" sz="35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737867" y="1553928"/>
            <a:ext cx="6141663" cy="3323987"/>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The recurring fevers of malaria result of cycles of schizogony that are synchronized across among many </a:t>
            </a:r>
            <a:r>
              <a:rPr lang="en-US" sz="3000" i="1" dirty="0">
                <a:latin typeface="Avenir"/>
                <a:cs typeface="Avenir"/>
              </a:rPr>
              <a:t>Plasmodium</a:t>
            </a:r>
            <a:r>
              <a:rPr lang="en-US" sz="3000" dirty="0">
                <a:latin typeface="Avenir"/>
                <a:cs typeface="Avenir"/>
              </a:rPr>
              <a:t> individuals. </a:t>
            </a:r>
            <a:r>
              <a:rPr lang="en-US" sz="3000" u="sng" dirty="0">
                <a:latin typeface="Avenir"/>
                <a:cs typeface="Avenir"/>
              </a:rPr>
              <a:t>How</a:t>
            </a:r>
            <a:r>
              <a:rPr lang="en-US" sz="3000" dirty="0">
                <a:latin typeface="Avenir"/>
                <a:cs typeface="Avenir"/>
              </a:rPr>
              <a:t> might they synchronize their attack? </a:t>
            </a:r>
            <a:r>
              <a:rPr lang="en-US" sz="3000" u="sng">
                <a:latin typeface="Avenir"/>
                <a:cs typeface="Avenir"/>
              </a:rPr>
              <a:t>Why</a:t>
            </a:r>
            <a:r>
              <a:rPr lang="en-US" sz="3000">
                <a:latin typeface="Avenir"/>
                <a:cs typeface="Avenir"/>
              </a:rPr>
              <a:t> might </a:t>
            </a:r>
            <a:r>
              <a:rPr lang="en-US" sz="3000" dirty="0">
                <a:latin typeface="Avenir"/>
                <a:cs typeface="Avenir"/>
              </a:rPr>
              <a:t>they synchronize their attack?</a:t>
            </a:r>
          </a:p>
        </p:txBody>
      </p:sp>
      <p:sp>
        <p:nvSpPr>
          <p:cNvPr id="7" name="Rectangle 6">
            <a:extLst>
              <a:ext uri="{FF2B5EF4-FFF2-40B4-BE49-F238E27FC236}">
                <a16:creationId xmlns:a16="http://schemas.microsoft.com/office/drawing/2014/main" id="{147961A3-2B95-0A43-B11C-D68C6B37CF80}"/>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(2 m), discuss with your group </a:t>
            </a:r>
          </a:p>
          <a:p>
            <a:pPr>
              <a:defRPr/>
            </a:pPr>
            <a:r>
              <a:rPr lang="en-US" sz="2600" b="1" dirty="0">
                <a:latin typeface="Avenir"/>
                <a:cs typeface="Avenir"/>
              </a:rPr>
              <a:t>(3 m), then share with the class (7 m).</a:t>
            </a:r>
          </a:p>
        </p:txBody>
      </p:sp>
      <p:pic>
        <p:nvPicPr>
          <p:cNvPr id="9" name="Picture 8">
            <a:extLst>
              <a:ext uri="{FF2B5EF4-FFF2-40B4-BE49-F238E27FC236}">
                <a16:creationId xmlns:a16="http://schemas.microsoft.com/office/drawing/2014/main" id="{F0868F39-A23A-9E47-BC8C-16103DF44A1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8" name="Picture 2" descr="P">
            <a:extLst>
              <a:ext uri="{FF2B5EF4-FFF2-40B4-BE49-F238E27FC236}">
                <a16:creationId xmlns:a16="http://schemas.microsoft.com/office/drawing/2014/main" id="{980171B8-7D13-7041-BC82-E8BF0F7411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856" y="1319357"/>
            <a:ext cx="4968887" cy="36467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196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F37AE3-B782-4641-8C9A-7A9115E2FD8D}"/>
              </a:ext>
            </a:extLst>
          </p:cNvPr>
          <p:cNvPicPr>
            <a:picLocks noChangeAspect="1"/>
          </p:cNvPicPr>
          <p:nvPr/>
        </p:nvPicPr>
        <p:blipFill rotWithShape="1">
          <a:blip r:embed="rId3"/>
          <a:srcRect l="6978" t="6285" r="7095" b="7757"/>
          <a:stretch/>
        </p:blipFill>
        <p:spPr>
          <a:xfrm>
            <a:off x="1128713" y="128588"/>
            <a:ext cx="9929812" cy="6615541"/>
          </a:xfrm>
          <a:prstGeom prst="rect">
            <a:avLst/>
          </a:prstGeom>
        </p:spPr>
      </p:pic>
      <p:sp>
        <p:nvSpPr>
          <p:cNvPr id="6" name="Rectangle 5">
            <a:extLst>
              <a:ext uri="{FF2B5EF4-FFF2-40B4-BE49-F238E27FC236}">
                <a16:creationId xmlns:a16="http://schemas.microsoft.com/office/drawing/2014/main" id="{32412F99-E42B-A845-AD27-4D9798CD38B1}"/>
              </a:ext>
            </a:extLst>
          </p:cNvPr>
          <p:cNvSpPr>
            <a:spLocks noChangeArrowheads="1"/>
          </p:cNvSpPr>
          <p:nvPr/>
        </p:nvSpPr>
        <p:spPr bwMode="auto">
          <a:xfrm>
            <a:off x="688454" y="375465"/>
            <a:ext cx="10815091" cy="630942"/>
          </a:xfrm>
          <a:prstGeom prst="rect">
            <a:avLst/>
          </a:prstGeom>
          <a:noFill/>
          <a:ln w="9525">
            <a:noFill/>
            <a:miter lim="800000"/>
            <a:headEnd/>
            <a:tailEnd/>
          </a:ln>
          <a:effectLst/>
        </p:spPr>
        <p:txBody>
          <a:bodyPr wrap="square">
            <a:spAutoFit/>
          </a:bodyPr>
          <a:lstStyle/>
          <a:p>
            <a:pPr algn="ctr">
              <a:defRPr/>
            </a:pPr>
            <a:r>
              <a:rPr lang="en-US" sz="3500" b="1" dirty="0">
                <a:latin typeface="Avenir"/>
                <a:cs typeface="Avenir"/>
              </a:rPr>
              <a:t>Q2. a synchronized attack</a:t>
            </a:r>
            <a:endParaRPr lang="en-US" sz="3500" b="1" i="1" dirty="0">
              <a:latin typeface="Avenir"/>
              <a:cs typeface="Avenir"/>
            </a:endParaRPr>
          </a:p>
        </p:txBody>
      </p:sp>
    </p:spTree>
    <p:extLst>
      <p:ext uri="{BB962C8B-B14F-4D97-AF65-F5344CB8AC3E}">
        <p14:creationId xmlns:p14="http://schemas.microsoft.com/office/powerpoint/2010/main" val="1922457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290725" y="2132881"/>
            <a:ext cx="9610544" cy="1938992"/>
          </a:xfrm>
          <a:prstGeom prst="rect">
            <a:avLst/>
          </a:prstGeom>
          <a:noFill/>
          <a:ln w="9525">
            <a:noFill/>
            <a:miter lim="800000"/>
            <a:headEnd/>
            <a:tailEnd/>
          </a:ln>
          <a:effectLst/>
        </p:spPr>
        <p:txBody>
          <a:bodyPr wrap="square">
            <a:spAutoFit/>
          </a:bodyPr>
          <a:lstStyle/>
          <a:p>
            <a:pPr>
              <a:defRPr/>
            </a:pPr>
            <a:r>
              <a:rPr lang="en-US" sz="4000" b="1" dirty="0">
                <a:latin typeface="Avenir"/>
                <a:cs typeface="Avenir"/>
              </a:rPr>
              <a:t>Q3. Name all the possible approaches to malaria control that you can think of, no matter how off-beat.</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4423137" y="4526619"/>
            <a:ext cx="3345721" cy="541574"/>
          </a:xfrm>
          <a:prstGeom prst="rect">
            <a:avLst/>
          </a:prstGeom>
        </p:spPr>
      </p:pic>
    </p:spTree>
    <p:extLst>
      <p:ext uri="{BB962C8B-B14F-4D97-AF65-F5344CB8AC3E}">
        <p14:creationId xmlns:p14="http://schemas.microsoft.com/office/powerpoint/2010/main" val="2235385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35DE-EFFA-4743-9340-27C8F7D02E1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737E0AA-F0EF-2345-B4E0-3ADC4009057C}"/>
              </a:ext>
            </a:extLst>
          </p:cNvPr>
          <p:cNvSpPr>
            <a:spLocks noGrp="1"/>
          </p:cNvSpPr>
          <p:nvPr>
            <p:ph type="subTitle" idx="1"/>
          </p:nvPr>
        </p:nvSpPr>
        <p:spPr/>
        <p:txBody>
          <a:bodyPr/>
          <a:lstStyle/>
          <a:p>
            <a:endParaRPr lang="en-US"/>
          </a:p>
        </p:txBody>
      </p:sp>
      <p:pic>
        <p:nvPicPr>
          <p:cNvPr id="5" name="slide.url=https://www.polleverywhere.com/free_text_polls/vsf2KQkyvrM1PaFnc4kyp">
            <a:extLst>
              <a:ext uri="{FF2B5EF4-FFF2-40B4-BE49-F238E27FC236}">
                <a16:creationId xmlns:a16="http://schemas.microsoft.com/office/drawing/2014/main" id="{19A4FBBD-9D12-D945-8345-AF9553165F66}"/>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148876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52524" y="2644170"/>
            <a:ext cx="10896600" cy="1569660"/>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Practical session 22</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The apicomplexan </a:t>
            </a:r>
            <a:r>
              <a:rPr lang="en-US" sz="4800" i="1" dirty="0">
                <a:solidFill>
                  <a:srgbClr val="FFFFFF"/>
                </a:solidFill>
                <a:latin typeface="Avenir Book" panose="02000503020000020003" pitchFamily="2" charset="0"/>
                <a:cs typeface="Avenir"/>
              </a:rPr>
              <a:t>Plasmodium</a:t>
            </a:r>
          </a:p>
        </p:txBody>
      </p:sp>
    </p:spTree>
    <p:extLst>
      <p:ext uri="{BB962C8B-B14F-4D97-AF65-F5344CB8AC3E}">
        <p14:creationId xmlns:p14="http://schemas.microsoft.com/office/powerpoint/2010/main" val="2371518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7933</TotalTime>
  <Words>485</Words>
  <Application>Microsoft Macintosh PowerPoint</Application>
  <PresentationFormat>Widescreen</PresentationFormat>
  <Paragraphs>51</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Avenir</vt:lpstr>
      <vt:lpstr>Avenir Book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Connor Whalen</cp:lastModifiedBy>
  <cp:revision>194</cp:revision>
  <dcterms:created xsi:type="dcterms:W3CDTF">2020-04-03T14:55:00Z</dcterms:created>
  <dcterms:modified xsi:type="dcterms:W3CDTF">2025-11-19T23:35:36Z</dcterms:modified>
</cp:coreProperties>
</file>