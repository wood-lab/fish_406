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80" r:id="rId2"/>
    <p:sldId id="715" r:id="rId3"/>
    <p:sldId id="716" r:id="rId4"/>
    <p:sldId id="714" r:id="rId5"/>
    <p:sldId id="712" r:id="rId6"/>
    <p:sldId id="720" r:id="rId7"/>
    <p:sldId id="721" r:id="rId8"/>
    <p:sldId id="71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884"/>
  </p:normalViewPr>
  <p:slideViewPr>
    <p:cSldViewPr snapToGrid="0" snapToObjects="1">
      <p:cViewPr varScale="1">
        <p:scale>
          <a:sx n="110" d="100"/>
          <a:sy n="110" d="100"/>
        </p:scale>
        <p:origin x="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DB66-C6D6-B24E-B345-FA3772C924EA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8707C-A528-5347-B512-111D9A72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5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742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88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56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715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07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Name one microparasite</a:t>
            </a:r>
          </a:p>
          <a:p>
            <a:r>
              <a:rPr lang="en-US"/>
              <a:t>https://www.polleverywhere.com/free_text_polls/1tmJyt0UcEOmnwFFsYh1n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10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Name one macroparasite</a:t>
            </a:r>
          </a:p>
          <a:p>
            <a:r>
              <a:rPr lang="en-US"/>
              <a:t>https://www.polleverywhere.com/free_text_polls/FzcFp94mZGXZ0OD73sF5S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86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33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38A5-77CF-4444-B9C4-4E86A2AE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BB0CE-1E17-7E44-A60C-C4870D474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7BE3-EFDF-DA44-AA27-F0607BEF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F08DB-758A-CE42-BF14-C796921C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D87E2-36DD-094B-976D-5D590803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0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3727-A794-4042-BF97-D4E5E255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6DC3-C8EA-0441-8F53-7878D4469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3028-8ABF-084B-958C-E5D9B41B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AB7C-ECF7-2E4C-924B-4E91B62D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A8C5-6364-1B49-BF43-8C17388D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ED12-49A7-1148-AA33-34CAB4FC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3A772-1ECD-0342-8A17-4FABBAEE7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0C112-BD32-3746-A4C3-943B604F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27BC-3697-B548-91F3-BCBF3F5C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7D53-D2B9-684C-96F8-BB104413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1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2D9E-643B-7E4B-872E-9412A700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80E6-8617-AA4D-B46F-9CC4896C8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B783B-B1E8-C54D-8F59-3F89A76D1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AD1F-F077-684C-825B-C70FB96B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75C02-EF59-8A48-A2C8-380404CF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292BB-8AAE-DE4E-AEA5-D84CEBB0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7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12B8-927D-3440-A90F-CEE85721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37DF9-7AE9-244A-B880-477F5166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B2535-D060-6345-9A9D-248269C2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1F656-2CF8-3C40-BFA2-38D3E456A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9AB57-D4A7-A44B-9DC2-3238EBA3F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2D1E4-9846-5948-BE81-54250E2A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27541-6DB6-BF46-9566-A28E02A60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06EEE-891D-834D-A782-1C80536A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5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8B81-6CFF-BB42-B48A-62FE961F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5E796-21ED-0646-ACBF-271AEEB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8FDD5-F21A-134E-AA9A-2830EBC8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FD440-2197-894C-BBF5-275EB6A7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9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E7DC6-C98E-4D41-8312-C6A00B91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D30B3-F181-1740-9B5B-0C72FEA4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48BF8-D524-E946-A5F8-6EDB8EC6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6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8C6B-44FC-DF4B-A8BD-B9B86A46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512D-A868-3942-8652-3DCABEFC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B6CDD-B55E-CF40-A890-84FFA90C2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9B9BC-EA10-2643-91D2-3C7BEB05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C55D-AE82-E348-AA9F-92C25203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800D4-D451-3941-ABED-C84A7503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4BDC-8058-8A4C-9BB2-057FDB83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7E264-76A7-5245-B655-C26D83912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22F39-AC8F-9242-8291-F11D54004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46B85-9220-174D-9DEE-0F36C128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13209-F023-304D-B738-0493FEA8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2D87-2351-334C-BE56-4B8A31CE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7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A934-82C2-4642-9056-03D6888A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7669D-25CA-F248-A4A3-81DBDBF73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BB9E-51D5-534F-9A5F-0DE70E1D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600DF-C942-F44F-84F3-4E7BC2F0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EA3C-3249-9B4A-B424-1F83C20D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0C8A5-DD27-8040-BD1A-86BF1F293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36609-7FEC-1340-94C8-5409F510C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A5258-5E66-DE42-A23B-E1D3C015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C25B-3FDB-BD4C-8299-934B911F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138FA-EF83-EA42-9E21-8B8892B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E0A7-698E-D742-A4C4-45629B74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D6F1A-825E-2B4D-8FFE-066CF32E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1E9B-BC61-3141-8DBB-53CB9EC8D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E3A9-9D48-7D40-AF95-520AE186EA5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4E5A4-CAAB-9C49-8EEB-830328D99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919D9-A8E0-C542-ADA8-7A31C9A61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7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82497" y="2644170"/>
            <a:ext cx="10896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6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Turbellarians, </a:t>
            </a:r>
            <a:r>
              <a:rPr lang="en-US" sz="4800" dirty="0" err="1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fecampiids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, and </a:t>
            </a:r>
            <a:r>
              <a:rPr lang="en-US" sz="4800" dirty="0" err="1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monogenes</a:t>
            </a:r>
            <a:endParaRPr lang="en-US" sz="4800" dirty="0">
              <a:solidFill>
                <a:srgbClr val="FFFFFF"/>
              </a:solidFill>
              <a:latin typeface="Avenir Book" panose="02000503020000020003" pitchFamily="2" charset="0"/>
              <a:cs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111664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2983" y="334863"/>
            <a:ext cx="7066033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500" b="1" dirty="0">
                <a:latin typeface="Avenir"/>
                <a:cs typeface="Avenir"/>
              </a:rPr>
              <a:t>Q1. commensal versus parasite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B46C97-D958-FD43-966A-BF2A6706D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834" y="5431211"/>
            <a:ext cx="848507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Ponder on your own (2 m) then share with the class (5 m).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FFA79-A980-C544-9079-7FB56D39BF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8183" y="5321734"/>
            <a:ext cx="3037028" cy="1234618"/>
          </a:xfrm>
          <a:prstGeom prst="rect">
            <a:avLst/>
          </a:prstGeom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2D266CA3-B538-C74E-B5C0-0CFEC902BA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335" y="1771245"/>
            <a:ext cx="4598019" cy="2655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BDA32B6-642D-E045-9838-AFB157F1A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7418" y="1249200"/>
            <a:ext cx="6667495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Avenir"/>
                <a:cs typeface="Avenir"/>
              </a:rPr>
              <a:t>Turbellarians are generally considered to be commensals, but the line between commensal and parasite can sometimes get blurry.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Think about the </a:t>
            </a:r>
            <a:r>
              <a:rPr lang="en-US" sz="2400" dirty="0" err="1">
                <a:latin typeface="Avenir"/>
                <a:cs typeface="Avenir"/>
              </a:rPr>
              <a:t>temnocephalids</a:t>
            </a:r>
            <a:r>
              <a:rPr lang="en-US" sz="2400" dirty="0">
                <a:latin typeface="Avenir"/>
                <a:cs typeface="Avenir"/>
              </a:rPr>
              <a:t> (turbellarians parasitic on freshwater crustaceans like crayfish).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What are some circumstances in which </a:t>
            </a:r>
            <a:r>
              <a:rPr lang="en-US" sz="2400" dirty="0" err="1">
                <a:latin typeface="Avenir"/>
                <a:cs typeface="Avenir"/>
              </a:rPr>
              <a:t>temnocephalid</a:t>
            </a:r>
            <a:r>
              <a:rPr lang="en-US" sz="2400" dirty="0">
                <a:latin typeface="Avenir"/>
                <a:cs typeface="Avenir"/>
              </a:rPr>
              <a:t> commensals might become parasitic?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Generate at least three ideas.</a:t>
            </a:r>
          </a:p>
        </p:txBody>
      </p:sp>
    </p:spTree>
    <p:extLst>
      <p:ext uri="{BB962C8B-B14F-4D97-AF65-F5344CB8AC3E}">
        <p14:creationId xmlns:p14="http://schemas.microsoft.com/office/powerpoint/2010/main" val="316055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bldLvl="5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2983" y="136004"/>
            <a:ext cx="7066033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Q2. killing your host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B46C97-D958-FD43-966A-BF2A6706D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834" y="5545514"/>
            <a:ext cx="848507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Ponder on your own (3 m), discuss with a partner (5 m), then share with the class (5 m).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FFA79-A980-C544-9079-7FB56D39BF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8183" y="5436037"/>
            <a:ext cx="3037028" cy="12346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BDA32B6-642D-E045-9838-AFB157F1A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686" y="785493"/>
            <a:ext cx="9572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Avenir"/>
                <a:cs typeface="Avenir"/>
              </a:rPr>
              <a:t>Generally parasites don’t have incentives to kill their hosts. </a:t>
            </a:r>
          </a:p>
          <a:p>
            <a:pPr algn="ctr">
              <a:defRPr/>
            </a:pPr>
            <a:r>
              <a:rPr lang="en-US" sz="2400" dirty="0">
                <a:latin typeface="Avenir"/>
                <a:cs typeface="Avenir"/>
              </a:rPr>
              <a:t>So why do the </a:t>
            </a:r>
            <a:r>
              <a:rPr lang="en-US" sz="2400" dirty="0" err="1">
                <a:latin typeface="Avenir"/>
                <a:cs typeface="Avenir"/>
              </a:rPr>
              <a:t>fecampiids</a:t>
            </a:r>
            <a:r>
              <a:rPr lang="en-US" sz="2400" dirty="0">
                <a:latin typeface="Avenir"/>
                <a:cs typeface="Avenir"/>
              </a:rPr>
              <a:t> do it?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3481930-32CA-E149-9C09-41CED1B8C8A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46" t="2284" r="-10496"/>
          <a:stretch/>
        </p:blipFill>
        <p:spPr bwMode="auto">
          <a:xfrm>
            <a:off x="1209675" y="1725967"/>
            <a:ext cx="10684142" cy="3595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307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bldLvl="5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1470" y="190858"/>
            <a:ext cx="1164906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Q3. host specificity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3FDACC-4EF5-E74C-8D56-ECAC63222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8774" y="5354387"/>
            <a:ext cx="849034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Ponder on your own (2 m), then white board </a:t>
            </a:r>
          </a:p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with your group (5 m).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C76115-8B07-BF49-9DDC-5F3B697CE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3164" y="5295566"/>
            <a:ext cx="3037028" cy="1234618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981565" y="1052777"/>
            <a:ext cx="6667495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Avenir"/>
                <a:cs typeface="Avenir"/>
              </a:rPr>
              <a:t>The </a:t>
            </a:r>
            <a:r>
              <a:rPr lang="en-US" sz="2400" dirty="0" err="1">
                <a:latin typeface="Avenir"/>
                <a:cs typeface="Avenir"/>
              </a:rPr>
              <a:t>monogenes</a:t>
            </a:r>
            <a:r>
              <a:rPr lang="en-US" sz="2400" dirty="0">
                <a:latin typeface="Avenir"/>
                <a:cs typeface="Avenir"/>
              </a:rPr>
              <a:t> exhibit extreme host specificity. If you are a species looking to increase your fitness, is it good or bad to evolve extreme host specificity?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First, brainstorm ideas on our Google Doc.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Then, the class will be split into six groups.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Three groups will argue for the benefits of extreme host specificity.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Three groups will argue for the risks of extreme host specificity. 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B7E6B50-3575-AF4C-B3FA-F301641E4C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58"/>
          <a:stretch/>
        </p:blipFill>
        <p:spPr bwMode="auto">
          <a:xfrm>
            <a:off x="982655" y="947947"/>
            <a:ext cx="3675063" cy="39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611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1470" y="2516451"/>
            <a:ext cx="1164906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Avenir"/>
                <a:cs typeface="Avenir"/>
              </a:rPr>
              <a:t>Q4. </a:t>
            </a:r>
            <a:r>
              <a:rPr lang="en-US" sz="4000" b="1" dirty="0" err="1">
                <a:latin typeface="Avenir"/>
                <a:cs typeface="Avenir"/>
              </a:rPr>
              <a:t>macroparasites</a:t>
            </a:r>
            <a:r>
              <a:rPr lang="en-US" sz="4000" b="1" dirty="0">
                <a:latin typeface="Avenir"/>
                <a:cs typeface="Avenir"/>
              </a:rPr>
              <a:t> versus microparasites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00" y="3484755"/>
            <a:ext cx="35306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24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818-9C93-6725-04C0-97E7EBE41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3245C-DD27-66E5-A94E-10E3386295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free_text_polls/1tmJyt0UcEOmnwFFsYh1n">
            <a:extLst>
              <a:ext uri="{FF2B5EF4-FFF2-40B4-BE49-F238E27FC236}">
                <a16:creationId xmlns:a16="http://schemas.microsoft.com/office/drawing/2014/main" id="{17088A43-A610-8331-129F-D82B0536340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798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C8B7-B36C-3B54-9BFA-DEEA48D638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F5A37-6138-4221-9B26-26511483CD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free_text_polls/FzcFp94mZGXZ0OD73sF5S">
            <a:extLst>
              <a:ext uri="{FF2B5EF4-FFF2-40B4-BE49-F238E27FC236}">
                <a16:creationId xmlns:a16="http://schemas.microsoft.com/office/drawing/2014/main" id="{9046046F-2FA1-F6D4-DA80-EE76CA1AB4E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999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82497" y="2644170"/>
            <a:ext cx="10896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6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Turbellarians, </a:t>
            </a:r>
            <a:r>
              <a:rPr lang="en-US" sz="4800" dirty="0" err="1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fecampiids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, and </a:t>
            </a:r>
            <a:r>
              <a:rPr lang="en-US" sz="4800" dirty="0" err="1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monogenes</a:t>
            </a:r>
            <a:endParaRPr lang="en-US" sz="4800" dirty="0">
              <a:solidFill>
                <a:srgbClr val="FFFFFF"/>
              </a:solidFill>
              <a:latin typeface="Avenir Book" panose="02000503020000020003" pitchFamily="2" charset="0"/>
              <a:cs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2439505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4807</TotalTime>
  <Words>339</Words>
  <Application>Microsoft Macintosh PowerPoint</Application>
  <PresentationFormat>Widescreen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Avenir</vt:lpstr>
      <vt:lpstr>Avenir Book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Chelsea L. Wood</dc:creator>
  <cp:lastModifiedBy>Chelsea Wood</cp:lastModifiedBy>
  <cp:revision>83</cp:revision>
  <dcterms:created xsi:type="dcterms:W3CDTF">2020-04-03T14:55:00Z</dcterms:created>
  <dcterms:modified xsi:type="dcterms:W3CDTF">2026-10-14T18:56:00Z</dcterms:modified>
</cp:coreProperties>
</file>