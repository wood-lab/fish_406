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480" r:id="rId2"/>
    <p:sldId id="715" r:id="rId3"/>
    <p:sldId id="716" r:id="rId4"/>
    <p:sldId id="714" r:id="rId5"/>
    <p:sldId id="712" r:id="rId6"/>
    <p:sldId id="720" r:id="rId7"/>
    <p:sldId id="721" r:id="rId8"/>
    <p:sldId id="71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884"/>
  </p:normalViewPr>
  <p:slideViewPr>
    <p:cSldViewPr snapToGrid="0" snapToObjects="1">
      <p:cViewPr varScale="1">
        <p:scale>
          <a:sx n="110" d="100"/>
          <a:sy n="110" d="100"/>
        </p:scale>
        <p:origin x="5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C7DB66-C6D6-B24E-B345-FA3772C924EA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18707C-A528-5347-B512-111D9A722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951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742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6881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756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7153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3074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modify the notes in this section to avoid tampering with the Poll Everywhere activity.
More info at </a:t>
            </a:r>
            <a:r>
              <a:rPr lang="en-US" dirty="0" err="1"/>
              <a:t>polleverywhere.com</a:t>
            </a:r>
            <a:r>
              <a:rPr lang="en-US" dirty="0"/>
              <a:t>/support
Name one microparasite</a:t>
            </a:r>
          </a:p>
          <a:p>
            <a:r>
              <a:rPr lang="en-US" dirty="0"/>
              <a:t>https://</a:t>
            </a:r>
            <a:r>
              <a:rPr lang="en-US" dirty="0" err="1"/>
              <a:t>www.polleverywhere.com</a:t>
            </a:r>
            <a:r>
              <a:rPr lang="en-US" dirty="0"/>
              <a:t>/</a:t>
            </a:r>
            <a:r>
              <a:rPr lang="en-US" dirty="0" err="1"/>
              <a:t>free_text_polls</a:t>
            </a:r>
            <a:r>
              <a:rPr lang="en-US" dirty="0"/>
              <a:t>/1tmJyt0UcEOmnwFFsYh1n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6102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modify the notes in this section to avoid tampering with the Poll Everywhere activity.
More info at </a:t>
            </a:r>
            <a:r>
              <a:rPr lang="en-US" dirty="0" err="1"/>
              <a:t>polleverywhere.com</a:t>
            </a:r>
            <a:r>
              <a:rPr lang="en-US" dirty="0"/>
              <a:t>/support
Name one </a:t>
            </a:r>
            <a:r>
              <a:rPr lang="en-US" dirty="0" err="1"/>
              <a:t>macroparasite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www.polleverywhere.com</a:t>
            </a:r>
            <a:r>
              <a:rPr lang="en-US" dirty="0"/>
              <a:t>/</a:t>
            </a:r>
            <a:r>
              <a:rPr lang="en-US" dirty="0" err="1"/>
              <a:t>free_text_polls</a:t>
            </a:r>
            <a:r>
              <a:rPr lang="en-US" dirty="0"/>
              <a:t>/FzcFp94mZGXZ0OD73sF5S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886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8333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838A5-77CF-4444-B9C4-4E86A2AEB4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ABB0CE-1E17-7E44-A60C-C4870D474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A47BE3-EFDF-DA44-AA27-F0607BEFB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F08DB-758A-CE42-BF14-C796921CA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D87E2-36DD-094B-976D-5D5908031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504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83727-A794-4042-BF97-D4E5E2555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B6DC3-C8EA-0441-8F53-7878D4469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03028-8ABF-084B-958C-E5D9B41B3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0AB7C-ECF7-2E4C-924B-4E91B62D2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AA8C5-6364-1B49-BF43-8C17388D5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692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9ED12-49A7-1148-AA33-34CAB4FC4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93A772-1ECD-0342-8A17-4FABBAEE73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0C112-BD32-3746-A4C3-943B604FC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B27BC-3697-B548-91F3-BCBF3F5CA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7D53-D2B9-684C-96F8-BB1044135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512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F2D9E-643B-7E4B-872E-9412A7003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B80E6-8617-AA4D-B46F-9CC4896C8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DB783B-B1E8-C54D-8F59-3F89A76D1D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AD1F-F077-684C-825B-C70FB96BD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75C02-EF59-8A48-A2C8-380404CF1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1292BB-8AAE-DE4E-AEA5-D84CEBB00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871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F12B8-927D-3440-A90F-CEE85721D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537DF9-7AE9-244A-B880-477F51666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DB2535-D060-6345-9A9D-248269C20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41F656-2CF8-3C40-BFA2-38D3E456A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F9AB57-D4A7-A44B-9DC2-3238EBA3F4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E2D1E4-9846-5948-BE81-54250E2A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127541-6DB6-BF46-9566-A28E02A60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A06EEE-891D-834D-A782-1C80536A8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056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88B81-6CFF-BB42-B48A-62FE961F0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95E796-21ED-0646-ACBF-271AEEB75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18FDD5-F21A-134E-AA9A-2830EBC81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D440-2197-894C-BBF5-275EB6A7E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397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4E7DC6-C98E-4D41-8312-C6A00B91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7D30B3-F181-1740-9B5B-0C72FEA43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C48BF8-D524-E946-A5F8-6EDB8EC65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966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E8C6B-44FC-DF4B-A8BD-B9B86A46C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C0512D-A868-3942-8652-3DCABEFC8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1B6CDD-B55E-CF40-A890-84FFA90C28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C9B9BC-EA10-2643-91D2-3C7BEB05A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E1C55D-AE82-E348-AA9F-92C252030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800D4-D451-3941-ABED-C84A75035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217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34BDC-8058-8A4C-9BB2-057FDB839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F7E264-76A7-5245-B655-C26D839129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22F39-AC8F-9242-8291-F11D540045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346B85-9220-174D-9DEE-0F36C1282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313209-F023-304D-B738-0493FEA82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A32D87-2351-334C-BE56-4B8A31CED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478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FA934-82C2-4642-9056-03D6888AC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B7669D-25CA-F248-A4A3-81DBDBF738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F7BB9E-51D5-534F-9A5F-0DE70E1D6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600DF-C942-F44F-84F3-4E7BC2F0D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AEA3C-3249-9B4A-B424-1F83C20D4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137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50C8A5-DD27-8040-BD1A-86BF1F2936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36609-7FEC-1340-94C8-5409F510C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0A5258-5E66-DE42-A23B-E1D3C015A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8C25B-3FDB-BD4C-8299-934B911F0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9138FA-EF83-EA42-9E21-8B8892B65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17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35E0A7-698E-D742-A4C4-45629B746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4D6F1A-825E-2B4D-8FFE-066CF32E20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661E9B-BC61-3141-8DBB-53CB9EC8D6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DE3A9-9D48-7D40-AF95-520AE186EA5D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4E5A4-CAAB-9C49-8EEB-830328D99D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919D9-A8E0-C542-ADA8-7A31C9A61D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679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282497" y="2644170"/>
            <a:ext cx="10896600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800" b="1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Class 6</a:t>
            </a:r>
            <a:r>
              <a:rPr lang="en-US" sz="4800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: 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Turbellarians, </a:t>
            </a:r>
            <a:r>
              <a:rPr lang="en-US" sz="4800" dirty="0" err="1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fecampiids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, and </a:t>
            </a:r>
            <a:r>
              <a:rPr lang="en-US" sz="4800" dirty="0" err="1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monogenes</a:t>
            </a:r>
            <a:endParaRPr lang="en-US" sz="4800" dirty="0">
              <a:solidFill>
                <a:srgbClr val="FFFFFF"/>
              </a:solidFill>
              <a:latin typeface="Avenir Book" panose="02000503020000020003" pitchFamily="2" charset="0"/>
              <a:cs typeface="Avenir"/>
            </a:endParaRPr>
          </a:p>
        </p:txBody>
      </p:sp>
    </p:spTree>
    <p:extLst>
      <p:ext uri="{BB962C8B-B14F-4D97-AF65-F5344CB8AC3E}">
        <p14:creationId xmlns:p14="http://schemas.microsoft.com/office/powerpoint/2010/main" val="1116647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0E344C-83F1-EF43-BD0A-F5094F52EC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2983" y="334863"/>
            <a:ext cx="7066033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500" b="1" dirty="0">
                <a:latin typeface="Avenir"/>
                <a:cs typeface="Avenir"/>
              </a:rPr>
              <a:t>Q1. commensal versus parasite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B46C97-D958-FD43-966A-BF2A6706D3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9834" y="5431211"/>
            <a:ext cx="848507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Ponder on your own (2 m) then share with the class (5 m).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FFA79-A980-C544-9079-7FB56D39BF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67" b="89867" l="6196" r="91630">
                        <a14:foregroundMark x1="39022" y1="64000" x2="39022" y2="64000"/>
                        <a14:foregroundMark x1="10000" y1="55200" x2="10000" y2="55200"/>
                        <a14:foregroundMark x1="6304" y1="63467" x2="6304" y2="63467"/>
                        <a14:foregroundMark x1="12935" y1="81067" x2="12935" y2="81067"/>
                        <a14:foregroundMark x1="12500" y1="78933" x2="12500" y2="78933"/>
                        <a14:foregroundMark x1="13152" y1="78933" x2="13152" y2="78933"/>
                        <a14:foregroundMark x1="46413" y1="79467" x2="46413" y2="79467"/>
                        <a14:foregroundMark x1="36630" y1="39200" x2="36630" y2="39200"/>
                        <a14:foregroundMark x1="36630" y1="38667" x2="36630" y2="38667"/>
                        <a14:foregroundMark x1="36630" y1="38400" x2="36630" y2="38400"/>
                        <a14:foregroundMark x1="36630" y1="37867" x2="36630" y2="37867"/>
                        <a14:foregroundMark x1="36630" y1="37867" x2="36630" y2="37867"/>
                        <a14:foregroundMark x1="36630" y1="36800" x2="36630" y2="36800"/>
                        <a14:foregroundMark x1="30109" y1="29067" x2="30109" y2="29067"/>
                        <a14:foregroundMark x1="30326" y1="29067" x2="30326" y2="29067"/>
                        <a14:foregroundMark x1="29891" y1="34667" x2="29891" y2="34667"/>
                        <a14:foregroundMark x1="30109" y1="34667" x2="30109" y2="34667"/>
                        <a14:foregroundMark x1="30543" y1="35733" x2="30543" y2="35733"/>
                        <a14:foregroundMark x1="40326" y1="26400" x2="40326" y2="26400"/>
                        <a14:foregroundMark x1="40761" y1="26400" x2="40761" y2="26400"/>
                        <a14:foregroundMark x1="40761" y1="33067" x2="40761" y2="33067"/>
                        <a14:foregroundMark x1="39891" y1="37333" x2="39891" y2="37333"/>
                        <a14:foregroundMark x1="38261" y1="38667" x2="38261" y2="38667"/>
                        <a14:foregroundMark x1="44565" y1="22933" x2="44565" y2="22933"/>
                        <a14:foregroundMark x1="44783" y1="22933" x2="44783" y2="22933"/>
                        <a14:foregroundMark x1="49130" y1="15733" x2="49130" y2="15733"/>
                        <a14:foregroundMark x1="54783" y1="22400" x2="54783" y2="22400"/>
                        <a14:foregroundMark x1="52935" y1="29600" x2="52935" y2="29600"/>
                        <a14:foregroundMark x1="38043" y1="29600" x2="38043" y2="29600"/>
                        <a14:foregroundMark x1="67500" y1="26933" x2="67500" y2="26933"/>
                        <a14:foregroundMark x1="66739" y1="19733" x2="66739" y2="19733"/>
                        <a14:foregroundMark x1="88043" y1="16800" x2="88043" y2="16800"/>
                        <a14:foregroundMark x1="84674" y1="16800" x2="84674" y2="16800"/>
                        <a14:foregroundMark x1="85326" y1="22933" x2="85326" y2="22933"/>
                        <a14:foregroundMark x1="90326" y1="24800" x2="90326" y2="24800"/>
                        <a14:foregroundMark x1="91630" y1="18133" x2="91630" y2="18133"/>
                        <a14:foregroundMark x1="72174" y1="20267" x2="72174" y2="20267"/>
                        <a14:foregroundMark x1="72935" y1="25867" x2="72935" y2="25867"/>
                        <a14:foregroundMark x1="52935" y1="17067" x2="52935" y2="17067"/>
                        <a14:foregroundMark x1="53696" y1="17067" x2="53696" y2="17067"/>
                        <a14:foregroundMark x1="38696" y1="24800" x2="38696" y2="24800"/>
                        <a14:foregroundMark x1="17174" y1="20800" x2="17174" y2="20800"/>
                        <a14:foregroundMark x1="18152" y1="20800" x2="18152" y2="20800"/>
                        <a14:foregroundMark x1="18804" y1="17600" x2="18804" y2="17600"/>
                        <a14:foregroundMark x1="18804" y1="16267" x2="18804" y2="16267"/>
                        <a14:foregroundMark x1="12717" y1="32000" x2="12717" y2="32000"/>
                        <a14:foregroundMark x1="12500" y1="13067" x2="12500" y2="13067"/>
                        <a14:foregroundMark x1="12500" y1="12533" x2="12500" y2="12533"/>
                        <a14:foregroundMark x1="34457" y1="26400" x2="34457" y2="26400"/>
                        <a14:foregroundMark x1="49130" y1="22933" x2="49130" y2="22933"/>
                        <a14:foregroundMark x1="67283" y1="17067" x2="67283" y2="17067"/>
                        <a14:foregroundMark x1="67283" y1="16800" x2="67283" y2="16800"/>
                        <a14:foregroundMark x1="67283" y1="16267" x2="67283" y2="162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8183" y="5321734"/>
            <a:ext cx="3037028" cy="1234618"/>
          </a:xfrm>
          <a:prstGeom prst="rect">
            <a:avLst/>
          </a:prstGeom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2D266CA3-B538-C74E-B5C0-0CFEC902BA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335" y="1771245"/>
            <a:ext cx="4598019" cy="26558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BDA32B6-642D-E045-9838-AFB157F1AA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7418" y="1249200"/>
            <a:ext cx="666749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latin typeface="Avenir"/>
                <a:cs typeface="Avenir"/>
              </a:rPr>
              <a:t>Turbellarians are generally considered to be commensals, but the line between commensal and parasite can sometimes get blurry.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Think about the </a:t>
            </a:r>
            <a:r>
              <a:rPr lang="en-US" sz="2400" dirty="0" err="1">
                <a:latin typeface="Avenir"/>
                <a:cs typeface="Avenir"/>
              </a:rPr>
              <a:t>temnocephalids</a:t>
            </a:r>
            <a:r>
              <a:rPr lang="en-US" sz="2400" dirty="0">
                <a:latin typeface="Avenir"/>
                <a:cs typeface="Avenir"/>
              </a:rPr>
              <a:t> (turbellarians parasitic on freshwater crustaceans like crayfish).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What are some circumstances in which </a:t>
            </a:r>
            <a:r>
              <a:rPr lang="en-US" sz="2400" dirty="0" err="1">
                <a:latin typeface="Avenir"/>
                <a:cs typeface="Avenir"/>
              </a:rPr>
              <a:t>temnocephalid</a:t>
            </a:r>
            <a:r>
              <a:rPr lang="en-US" sz="2400" dirty="0">
                <a:latin typeface="Avenir"/>
                <a:cs typeface="Avenir"/>
              </a:rPr>
              <a:t> commensals might become parasitic?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Generate at least three ideas.</a:t>
            </a:r>
          </a:p>
        </p:txBody>
      </p:sp>
    </p:spTree>
    <p:extLst>
      <p:ext uri="{BB962C8B-B14F-4D97-AF65-F5344CB8AC3E}">
        <p14:creationId xmlns:p14="http://schemas.microsoft.com/office/powerpoint/2010/main" val="3160559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bldLvl="5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0E344C-83F1-EF43-BD0A-F5094F52EC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2983" y="136004"/>
            <a:ext cx="7066033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3500" b="1" dirty="0">
                <a:latin typeface="Avenir"/>
                <a:cs typeface="Avenir"/>
              </a:rPr>
              <a:t>Q2. killing your host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B46C97-D958-FD43-966A-BF2A6706D3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9834" y="5545514"/>
            <a:ext cx="848507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Ponder on your own (3 m), discuss with a partner (5 m), then share with the class (5 m).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FFA79-A980-C544-9079-7FB56D39BF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67" b="89867" l="6196" r="91630">
                        <a14:foregroundMark x1="39022" y1="64000" x2="39022" y2="64000"/>
                        <a14:foregroundMark x1="10000" y1="55200" x2="10000" y2="55200"/>
                        <a14:foregroundMark x1="6304" y1="63467" x2="6304" y2="63467"/>
                        <a14:foregroundMark x1="12935" y1="81067" x2="12935" y2="81067"/>
                        <a14:foregroundMark x1="12500" y1="78933" x2="12500" y2="78933"/>
                        <a14:foregroundMark x1="13152" y1="78933" x2="13152" y2="78933"/>
                        <a14:foregroundMark x1="46413" y1="79467" x2="46413" y2="79467"/>
                        <a14:foregroundMark x1="36630" y1="39200" x2="36630" y2="39200"/>
                        <a14:foregroundMark x1="36630" y1="38667" x2="36630" y2="38667"/>
                        <a14:foregroundMark x1="36630" y1="38400" x2="36630" y2="38400"/>
                        <a14:foregroundMark x1="36630" y1="37867" x2="36630" y2="37867"/>
                        <a14:foregroundMark x1="36630" y1="37867" x2="36630" y2="37867"/>
                        <a14:foregroundMark x1="36630" y1="36800" x2="36630" y2="36800"/>
                        <a14:foregroundMark x1="30109" y1="29067" x2="30109" y2="29067"/>
                        <a14:foregroundMark x1="30326" y1="29067" x2="30326" y2="29067"/>
                        <a14:foregroundMark x1="29891" y1="34667" x2="29891" y2="34667"/>
                        <a14:foregroundMark x1="30109" y1="34667" x2="30109" y2="34667"/>
                        <a14:foregroundMark x1="30543" y1="35733" x2="30543" y2="35733"/>
                        <a14:foregroundMark x1="40326" y1="26400" x2="40326" y2="26400"/>
                        <a14:foregroundMark x1="40761" y1="26400" x2="40761" y2="26400"/>
                        <a14:foregroundMark x1="40761" y1="33067" x2="40761" y2="33067"/>
                        <a14:foregroundMark x1="39891" y1="37333" x2="39891" y2="37333"/>
                        <a14:foregroundMark x1="38261" y1="38667" x2="38261" y2="38667"/>
                        <a14:foregroundMark x1="44565" y1="22933" x2="44565" y2="22933"/>
                        <a14:foregroundMark x1="44783" y1="22933" x2="44783" y2="22933"/>
                        <a14:foregroundMark x1="49130" y1="15733" x2="49130" y2="15733"/>
                        <a14:foregroundMark x1="54783" y1="22400" x2="54783" y2="22400"/>
                        <a14:foregroundMark x1="52935" y1="29600" x2="52935" y2="29600"/>
                        <a14:foregroundMark x1="38043" y1="29600" x2="38043" y2="29600"/>
                        <a14:foregroundMark x1="67500" y1="26933" x2="67500" y2="26933"/>
                        <a14:foregroundMark x1="66739" y1="19733" x2="66739" y2="19733"/>
                        <a14:foregroundMark x1="88043" y1="16800" x2="88043" y2="16800"/>
                        <a14:foregroundMark x1="84674" y1="16800" x2="84674" y2="16800"/>
                        <a14:foregroundMark x1="85326" y1="22933" x2="85326" y2="22933"/>
                        <a14:foregroundMark x1="90326" y1="24800" x2="90326" y2="24800"/>
                        <a14:foregroundMark x1="91630" y1="18133" x2="91630" y2="18133"/>
                        <a14:foregroundMark x1="72174" y1="20267" x2="72174" y2="20267"/>
                        <a14:foregroundMark x1="72935" y1="25867" x2="72935" y2="25867"/>
                        <a14:foregroundMark x1="52935" y1="17067" x2="52935" y2="17067"/>
                        <a14:foregroundMark x1="53696" y1="17067" x2="53696" y2="17067"/>
                        <a14:foregroundMark x1="38696" y1="24800" x2="38696" y2="24800"/>
                        <a14:foregroundMark x1="17174" y1="20800" x2="17174" y2="20800"/>
                        <a14:foregroundMark x1="18152" y1="20800" x2="18152" y2="20800"/>
                        <a14:foregroundMark x1="18804" y1="17600" x2="18804" y2="17600"/>
                        <a14:foregroundMark x1="18804" y1="16267" x2="18804" y2="16267"/>
                        <a14:foregroundMark x1="12717" y1="32000" x2="12717" y2="32000"/>
                        <a14:foregroundMark x1="12500" y1="13067" x2="12500" y2="13067"/>
                        <a14:foregroundMark x1="12500" y1="12533" x2="12500" y2="12533"/>
                        <a14:foregroundMark x1="34457" y1="26400" x2="34457" y2="26400"/>
                        <a14:foregroundMark x1="49130" y1="22933" x2="49130" y2="22933"/>
                        <a14:foregroundMark x1="67283" y1="17067" x2="67283" y2="17067"/>
                        <a14:foregroundMark x1="67283" y1="16800" x2="67283" y2="16800"/>
                        <a14:foregroundMark x1="67283" y1="16267" x2="67283" y2="162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8183" y="5436037"/>
            <a:ext cx="3037028" cy="123461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BDA32B6-642D-E045-9838-AFB157F1AA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9686" y="785493"/>
            <a:ext cx="9572625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400" dirty="0">
                <a:latin typeface="Avenir"/>
                <a:cs typeface="Avenir"/>
              </a:rPr>
              <a:t>Generally parasites don’t have incentives to kill their hosts. </a:t>
            </a:r>
          </a:p>
          <a:p>
            <a:pPr algn="ctr">
              <a:defRPr/>
            </a:pPr>
            <a:r>
              <a:rPr lang="en-US" sz="2400" dirty="0">
                <a:latin typeface="Avenir"/>
                <a:cs typeface="Avenir"/>
              </a:rPr>
              <a:t>So why do the </a:t>
            </a:r>
            <a:r>
              <a:rPr lang="en-US" sz="2400" dirty="0" err="1">
                <a:latin typeface="Avenir"/>
                <a:cs typeface="Avenir"/>
              </a:rPr>
              <a:t>fecampiids</a:t>
            </a:r>
            <a:r>
              <a:rPr lang="en-US" sz="2400" dirty="0">
                <a:latin typeface="Avenir"/>
                <a:cs typeface="Avenir"/>
              </a:rPr>
              <a:t> do it?</a:t>
            </a:r>
          </a:p>
        </p:txBody>
      </p:sp>
      <p:pic>
        <p:nvPicPr>
          <p:cNvPr id="8" name="Picture 4">
            <a:extLst>
              <a:ext uri="{FF2B5EF4-FFF2-40B4-BE49-F238E27FC236}">
                <a16:creationId xmlns:a16="http://schemas.microsoft.com/office/drawing/2014/main" id="{83481930-32CA-E149-9C09-41CED1B8C8A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46" t="2284" r="-10496"/>
          <a:stretch/>
        </p:blipFill>
        <p:spPr bwMode="auto">
          <a:xfrm>
            <a:off x="1209675" y="1725967"/>
            <a:ext cx="10684142" cy="3595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23071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bldLvl="5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71470" y="190858"/>
            <a:ext cx="11649060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3500" b="1" dirty="0">
                <a:latin typeface="Avenir"/>
                <a:cs typeface="Avenir"/>
              </a:rPr>
              <a:t>Q3. host specificity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3FDACC-4EF5-E74C-8D56-ECAC632222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8774" y="5354387"/>
            <a:ext cx="8490345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Ponder on your own (2 m), then white board </a:t>
            </a:r>
          </a:p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with your group (5 m).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C76115-8B07-BF49-9DDC-5F3B697CE1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67" b="89867" l="6196" r="91630">
                        <a14:foregroundMark x1="39022" y1="64000" x2="39022" y2="64000"/>
                        <a14:foregroundMark x1="10000" y1="55200" x2="10000" y2="55200"/>
                        <a14:foregroundMark x1="6304" y1="63467" x2="6304" y2="63467"/>
                        <a14:foregroundMark x1="12935" y1="81067" x2="12935" y2="81067"/>
                        <a14:foregroundMark x1="12500" y1="78933" x2="12500" y2="78933"/>
                        <a14:foregroundMark x1="13152" y1="78933" x2="13152" y2="78933"/>
                        <a14:foregroundMark x1="46413" y1="79467" x2="46413" y2="79467"/>
                        <a14:foregroundMark x1="36630" y1="39200" x2="36630" y2="39200"/>
                        <a14:foregroundMark x1="36630" y1="38667" x2="36630" y2="38667"/>
                        <a14:foregroundMark x1="36630" y1="38400" x2="36630" y2="38400"/>
                        <a14:foregroundMark x1="36630" y1="37867" x2="36630" y2="37867"/>
                        <a14:foregroundMark x1="36630" y1="37867" x2="36630" y2="37867"/>
                        <a14:foregroundMark x1="36630" y1="36800" x2="36630" y2="36800"/>
                        <a14:foregroundMark x1="30109" y1="29067" x2="30109" y2="29067"/>
                        <a14:foregroundMark x1="30326" y1="29067" x2="30326" y2="29067"/>
                        <a14:foregroundMark x1="29891" y1="34667" x2="29891" y2="34667"/>
                        <a14:foregroundMark x1="30109" y1="34667" x2="30109" y2="34667"/>
                        <a14:foregroundMark x1="30543" y1="35733" x2="30543" y2="35733"/>
                        <a14:foregroundMark x1="40326" y1="26400" x2="40326" y2="26400"/>
                        <a14:foregroundMark x1="40761" y1="26400" x2="40761" y2="26400"/>
                        <a14:foregroundMark x1="40761" y1="33067" x2="40761" y2="33067"/>
                        <a14:foregroundMark x1="39891" y1="37333" x2="39891" y2="37333"/>
                        <a14:foregroundMark x1="38261" y1="38667" x2="38261" y2="38667"/>
                        <a14:foregroundMark x1="44565" y1="22933" x2="44565" y2="22933"/>
                        <a14:foregroundMark x1="44783" y1="22933" x2="44783" y2="22933"/>
                        <a14:foregroundMark x1="49130" y1="15733" x2="49130" y2="15733"/>
                        <a14:foregroundMark x1="54783" y1="22400" x2="54783" y2="22400"/>
                        <a14:foregroundMark x1="52935" y1="29600" x2="52935" y2="29600"/>
                        <a14:foregroundMark x1="38043" y1="29600" x2="38043" y2="29600"/>
                        <a14:foregroundMark x1="67500" y1="26933" x2="67500" y2="26933"/>
                        <a14:foregroundMark x1="66739" y1="19733" x2="66739" y2="19733"/>
                        <a14:foregroundMark x1="88043" y1="16800" x2="88043" y2="16800"/>
                        <a14:foregroundMark x1="84674" y1="16800" x2="84674" y2="16800"/>
                        <a14:foregroundMark x1="85326" y1="22933" x2="85326" y2="22933"/>
                        <a14:foregroundMark x1="90326" y1="24800" x2="90326" y2="24800"/>
                        <a14:foregroundMark x1="91630" y1="18133" x2="91630" y2="18133"/>
                        <a14:foregroundMark x1="72174" y1="20267" x2="72174" y2="20267"/>
                        <a14:foregroundMark x1="72935" y1="25867" x2="72935" y2="25867"/>
                        <a14:foregroundMark x1="52935" y1="17067" x2="52935" y2="17067"/>
                        <a14:foregroundMark x1="53696" y1="17067" x2="53696" y2="17067"/>
                        <a14:foregroundMark x1="38696" y1="24800" x2="38696" y2="24800"/>
                        <a14:foregroundMark x1="17174" y1="20800" x2="17174" y2="20800"/>
                        <a14:foregroundMark x1="18152" y1="20800" x2="18152" y2="20800"/>
                        <a14:foregroundMark x1="18804" y1="17600" x2="18804" y2="17600"/>
                        <a14:foregroundMark x1="18804" y1="16267" x2="18804" y2="16267"/>
                        <a14:foregroundMark x1="12717" y1="32000" x2="12717" y2="32000"/>
                        <a14:foregroundMark x1="12500" y1="13067" x2="12500" y2="13067"/>
                        <a14:foregroundMark x1="12500" y1="12533" x2="12500" y2="12533"/>
                        <a14:foregroundMark x1="34457" y1="26400" x2="34457" y2="26400"/>
                        <a14:foregroundMark x1="49130" y1="22933" x2="49130" y2="22933"/>
                        <a14:foregroundMark x1="67283" y1="17067" x2="67283" y2="17067"/>
                        <a14:foregroundMark x1="67283" y1="16800" x2="67283" y2="16800"/>
                        <a14:foregroundMark x1="67283" y1="16267" x2="67283" y2="162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3164" y="5295566"/>
            <a:ext cx="3037028" cy="1234618"/>
          </a:xfrm>
          <a:prstGeom prst="rect">
            <a:avLst/>
          </a:prstGeom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981565" y="1052777"/>
            <a:ext cx="666749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latin typeface="Avenir"/>
                <a:cs typeface="Avenir"/>
              </a:rPr>
              <a:t>The </a:t>
            </a:r>
            <a:r>
              <a:rPr lang="en-US" sz="2400" dirty="0" err="1">
                <a:latin typeface="Avenir"/>
                <a:cs typeface="Avenir"/>
              </a:rPr>
              <a:t>monogenes</a:t>
            </a:r>
            <a:r>
              <a:rPr lang="en-US" sz="2400" dirty="0">
                <a:latin typeface="Avenir"/>
                <a:cs typeface="Avenir"/>
              </a:rPr>
              <a:t> exhibit extreme host specificity. If you are a species looking to increase your fitness, is it good or bad to evolve extreme host specificity?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First, brainstorm ideas on our Google Doc.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Then, the class will be split into six groups.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Three groups will argue for the benefits of extreme host specificity.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Three groups will argue for the risks of extreme host specificity. 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FB7E6B50-3575-AF4C-B3FA-F301641E4C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958"/>
          <a:stretch/>
        </p:blipFill>
        <p:spPr bwMode="auto">
          <a:xfrm>
            <a:off x="982655" y="947947"/>
            <a:ext cx="3675063" cy="3995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66110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5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71470" y="2516451"/>
            <a:ext cx="11649060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b="1" dirty="0">
                <a:latin typeface="Avenir"/>
                <a:cs typeface="Avenir"/>
              </a:rPr>
              <a:t>Q4. </a:t>
            </a:r>
            <a:r>
              <a:rPr lang="en-US" sz="4000" b="1" dirty="0" err="1">
                <a:latin typeface="Avenir"/>
                <a:cs typeface="Avenir"/>
              </a:rPr>
              <a:t>macroparasites</a:t>
            </a:r>
            <a:r>
              <a:rPr lang="en-US" sz="4000" b="1" dirty="0">
                <a:latin typeface="Avenir"/>
                <a:cs typeface="Avenir"/>
              </a:rPr>
              <a:t> versus microparasites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ACBA41-11B5-F54D-A1B8-5709EE3A2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700" y="3484755"/>
            <a:ext cx="3530600" cy="5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724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818-9C93-6725-04C0-97E7EBE41C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63245C-DD27-66E5-A94E-10E3386295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free_text_polls/1tmJyt0UcEOmnwFFsYh1n">
            <a:extLst>
              <a:ext uri="{FF2B5EF4-FFF2-40B4-BE49-F238E27FC236}">
                <a16:creationId xmlns:a16="http://schemas.microsoft.com/office/drawing/2014/main" id="{17088A43-A610-8331-129F-D82B0536340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798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5C8B7-B36C-3B54-9BFA-DEEA48D638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AF5A37-6138-4221-9B26-26511483CD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free_text_polls/FzcFp94mZGXZ0OD73sF5S">
            <a:extLst>
              <a:ext uri="{FF2B5EF4-FFF2-40B4-BE49-F238E27FC236}">
                <a16:creationId xmlns:a16="http://schemas.microsoft.com/office/drawing/2014/main" id="{9046046F-2FA1-F6D4-DA80-EE76CA1AB4E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999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282497" y="2644170"/>
            <a:ext cx="10896600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800" b="1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Class 6</a:t>
            </a:r>
            <a:r>
              <a:rPr lang="en-US" sz="4800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: 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Turbellarians, </a:t>
            </a:r>
            <a:r>
              <a:rPr lang="en-US" sz="4800" dirty="0" err="1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fecampiids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, and </a:t>
            </a:r>
            <a:r>
              <a:rPr lang="en-US" sz="4800" dirty="0" err="1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monogenes</a:t>
            </a:r>
            <a:endParaRPr lang="en-US" sz="4800" dirty="0">
              <a:solidFill>
                <a:srgbClr val="FFFFFF"/>
              </a:solidFill>
              <a:latin typeface="Avenir Book" panose="02000503020000020003" pitchFamily="2" charset="0"/>
              <a:cs typeface="Avenir"/>
            </a:endParaRPr>
          </a:p>
        </p:txBody>
      </p:sp>
    </p:spTree>
    <p:extLst>
      <p:ext uri="{BB962C8B-B14F-4D97-AF65-F5344CB8AC3E}">
        <p14:creationId xmlns:p14="http://schemas.microsoft.com/office/powerpoint/2010/main" val="2439505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7871</TotalTime>
  <Words>339</Words>
  <Application>Microsoft Macintosh PowerPoint</Application>
  <PresentationFormat>Widescreen</PresentationFormat>
  <Paragraphs>33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Avenir</vt:lpstr>
      <vt:lpstr>Avenir Book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Chelsea L. Wood</dc:creator>
  <cp:lastModifiedBy>Chelsea Wood</cp:lastModifiedBy>
  <cp:revision>84</cp:revision>
  <dcterms:created xsi:type="dcterms:W3CDTF">2020-04-03T14:55:00Z</dcterms:created>
  <dcterms:modified xsi:type="dcterms:W3CDTF">2026-10-16T22:00:18Z</dcterms:modified>
</cp:coreProperties>
</file>