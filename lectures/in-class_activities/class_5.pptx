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80" r:id="rId2"/>
    <p:sldId id="717" r:id="rId3"/>
    <p:sldId id="500" r:id="rId4"/>
    <p:sldId id="716" r:id="rId5"/>
    <p:sldId id="719" r:id="rId6"/>
    <p:sldId id="715" r:id="rId7"/>
    <p:sldId id="714" r:id="rId8"/>
    <p:sldId id="720" r:id="rId9"/>
    <p:sldId id="7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F93233C5-A576-0940-A976-BECE3A3492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1049A900-6E22-6B46-9002-E00595DF5A88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FF9B434B-80E4-0740-9E63-865691554F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37A70EA-7377-0441-A233-496CCA6D7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3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4800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Schistosomes 2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is Week in Parasitism | Podcast on Spotify">
            <a:extLst>
              <a:ext uri="{FF2B5EF4-FFF2-40B4-BE49-F238E27FC236}">
                <a16:creationId xmlns:a16="http://schemas.microsoft.com/office/drawing/2014/main" id="{B615EBEE-2512-09F0-9DC1-79164B383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365760"/>
            <a:ext cx="5600700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7CD181-E80D-671F-F5AE-8EAA84CD0BA7}"/>
              </a:ext>
            </a:extLst>
          </p:cNvPr>
          <p:cNvSpPr txBox="1"/>
          <p:nvPr/>
        </p:nvSpPr>
        <p:spPr>
          <a:xfrm>
            <a:off x="2663190" y="6044684"/>
            <a:ext cx="70551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www.microbe.tv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twip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54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">
            <a:extLst>
              <a:ext uri="{FF2B5EF4-FFF2-40B4-BE49-F238E27FC236}">
                <a16:creationId xmlns:a16="http://schemas.microsoft.com/office/drawing/2014/main" id="{F5417753-90F8-4E49-902E-7919AFB41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660400"/>
            <a:ext cx="66675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077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3">
            <a:extLst>
              <a:ext uri="{FF2B5EF4-FFF2-40B4-BE49-F238E27FC236}">
                <a16:creationId xmlns:a16="http://schemas.microsoft.com/office/drawing/2014/main" id="{50B60F48-C02A-124B-B63D-1ECF61023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 contras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76" y="0"/>
            <a:ext cx="4860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240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F94E55-23FF-595C-756F-55252A2A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09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5D9480-F7C4-974C-93C1-1C766EB2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05" y="0"/>
            <a:ext cx="552040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9" y="170651"/>
            <a:ext cx="6053183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Q1. What does this map of schistosome-competent snail distributions tell you about where risk is greatest for people? Does it suggest that snail control will be easy or hard?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46C97-D958-FD43-966A-BF2A6706D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9" y="5155285"/>
            <a:ext cx="6053183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Ponder on your own (3 m), discuss with a partner (3 m), then share with the class (5 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FFA79-A980-C544-9079-7FB56D39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1677" y="3920667"/>
            <a:ext cx="3037028" cy="123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70651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Q2. eliminating schistosomes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FDACC-4EF5-E74C-8D56-ECAC6322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185" y="5232494"/>
            <a:ext cx="849034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(10 m), discuss and make a compromise plan with a partner (7 m), then share with the class (10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76115-8B07-BF49-9DDC-5F3B697C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4575" y="5324142"/>
            <a:ext cx="3037028" cy="1234618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443535" y="889545"/>
            <a:ext cx="6667495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You are tasked with eliminating schistosomiasis from an entire Senegalese village. Their sole water-access point is shown at left. How would you do it?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Make a plan for what </a:t>
            </a:r>
            <a:r>
              <a:rPr lang="en-US" sz="2400" b="1" dirty="0">
                <a:latin typeface="Avenir"/>
                <a:cs typeface="Avenir"/>
              </a:rPr>
              <a:t>intervention</a:t>
            </a:r>
            <a:r>
              <a:rPr lang="en-US" sz="2400" dirty="0">
                <a:latin typeface="Avenir"/>
                <a:cs typeface="Avenir"/>
              </a:rPr>
              <a:t> you would put in place.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Design an </a:t>
            </a:r>
            <a:r>
              <a:rPr lang="en-US" sz="2400" b="1" dirty="0">
                <a:latin typeface="Avenir"/>
                <a:cs typeface="Avenir"/>
              </a:rPr>
              <a:t>experiment</a:t>
            </a:r>
            <a:r>
              <a:rPr lang="en-US" sz="2400" dirty="0">
                <a:latin typeface="Avenir"/>
                <a:cs typeface="Avenir"/>
              </a:rPr>
              <a:t> that would let you monitor whether your intervention is </a:t>
            </a:r>
            <a:r>
              <a:rPr lang="en-US" sz="2400" b="1" dirty="0">
                <a:latin typeface="Avenir"/>
                <a:cs typeface="Avenir"/>
              </a:rPr>
              <a:t>successful</a:t>
            </a:r>
            <a:r>
              <a:rPr lang="en-US" sz="2400" dirty="0">
                <a:latin typeface="Avenir"/>
                <a:cs typeface="Avenir"/>
              </a:rPr>
              <a:t>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What could happen to </a:t>
            </a:r>
            <a:r>
              <a:rPr lang="en-US" sz="2400" b="1" dirty="0">
                <a:latin typeface="Avenir"/>
                <a:cs typeface="Avenir"/>
              </a:rPr>
              <a:t>derail your plans</a:t>
            </a:r>
            <a:r>
              <a:rPr lang="en-US" sz="2400" dirty="0">
                <a:latin typeface="Avenir"/>
                <a:cs typeface="Avenir"/>
              </a:rPr>
              <a:t>? Account for these possible contingencies.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01D8C9-8176-714D-8706-FA0ED3E11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27" y="1097212"/>
            <a:ext cx="4906966" cy="368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1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ADD2-D25F-6AD9-42AD-256609C2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D27AD3-A2B3-D296-8696-ECF344287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70" y="436869"/>
            <a:ext cx="1164906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Parasites of the past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5519B-C4B8-A1D7-6A32-C29040C97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185" y="5232494"/>
            <a:ext cx="849034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Ponder on your own (5 m), discuss and make a compromise plan with a partner (5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5AD88-DF76-D7AC-99F8-EA3EB037D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4575" y="5324142"/>
            <a:ext cx="3037028" cy="12346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AC7448-722E-7517-3060-CECE4B931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960" y="1410407"/>
            <a:ext cx="6667495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venir"/>
                <a:cs typeface="Avenir"/>
              </a:rPr>
              <a:t>Historical data are a key ingredient in conservation, as conservation interventions are often inspired by precipitous declines in species.</a:t>
            </a:r>
          </a:p>
          <a:p>
            <a:pPr marL="457200" indent="-457200"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Search Google Scholar.</a:t>
            </a:r>
          </a:p>
          <a:p>
            <a:pPr marL="457200" indent="-457200"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Identify papers that document declines in a species or group of species (e.g., birds).</a:t>
            </a:r>
          </a:p>
          <a:p>
            <a:pPr marL="457200" indent="-457200"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Read the abstract</a:t>
            </a:r>
          </a:p>
          <a:p>
            <a:pPr marL="457200" indent="-457200">
              <a:buAutoNum type="arabicPeriod"/>
              <a:defRPr/>
            </a:pPr>
            <a:r>
              <a:rPr lang="en-US" sz="2400" dirty="0">
                <a:latin typeface="Avenir"/>
                <a:cs typeface="Avenir"/>
              </a:rPr>
              <a:t>Share with your colleague.</a:t>
            </a:r>
          </a:p>
        </p:txBody>
      </p:sp>
      <p:pic>
        <p:nvPicPr>
          <p:cNvPr id="7" name="Picture 6" descr="Bending the curve of biodiversity loss">
            <a:extLst>
              <a:ext uri="{FF2B5EF4-FFF2-40B4-BE49-F238E27FC236}">
                <a16:creationId xmlns:a16="http://schemas.microsoft.com/office/drawing/2014/main" id="{EC4219FA-CDC2-691C-687E-202F0B91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61" y="1610168"/>
            <a:ext cx="4961178" cy="304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4800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5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Schistosomes 2</a:t>
            </a:r>
          </a:p>
        </p:txBody>
      </p:sp>
    </p:spTree>
    <p:extLst>
      <p:ext uri="{BB962C8B-B14F-4D97-AF65-F5344CB8AC3E}">
        <p14:creationId xmlns:p14="http://schemas.microsoft.com/office/powerpoint/2010/main" val="1568813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4825</TotalTime>
  <Words>266</Words>
  <Application>Microsoft Macintosh PowerPoint</Application>
  <PresentationFormat>Widescreen</PresentationFormat>
  <Paragraphs>19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</vt:lpstr>
      <vt:lpstr>Avenir Book</vt:lpstr>
      <vt:lpstr>Calibri</vt:lpstr>
      <vt:lpstr>Calibri Light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75</cp:revision>
  <dcterms:created xsi:type="dcterms:W3CDTF">2020-04-03T14:55:00Z</dcterms:created>
  <dcterms:modified xsi:type="dcterms:W3CDTF">2026-10-12T18:54:48Z</dcterms:modified>
</cp:coreProperties>
</file>