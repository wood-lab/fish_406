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480" r:id="rId2"/>
    <p:sldId id="718" r:id="rId3"/>
    <p:sldId id="717" r:id="rId4"/>
    <p:sldId id="500" r:id="rId5"/>
    <p:sldId id="716" r:id="rId6"/>
    <p:sldId id="719" r:id="rId7"/>
    <p:sldId id="715" r:id="rId8"/>
    <p:sldId id="714" r:id="rId9"/>
    <p:sldId id="707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5884"/>
  </p:normalViewPr>
  <p:slideViewPr>
    <p:cSldViewPr snapToGrid="0" snapToObjects="1">
      <p:cViewPr varScale="1">
        <p:scale>
          <a:sx n="112" d="100"/>
          <a:sy n="112" d="100"/>
        </p:scale>
        <p:origin x="48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AC7DB66-C6D6-B24E-B345-FA3772C924EA}" type="datetimeFigureOut">
              <a:rPr lang="en-US" smtClean="0"/>
              <a:t>10/8/25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18707C-A528-5347-B512-111D9A7227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49516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Do not modify the notes in this section to avoid tampering with the Poll Everywhere activity.
More info at polleverywhere.com/support
What podcasts do you listen to?</a:t>
            </a:r>
          </a:p>
          <a:p>
            <a:r>
              <a:rPr lang="en-US"/>
              <a:t>https://www.polleverywhere.com/discourses/UTHyvtXD8FTS3bAs7amuM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18707C-A528-5347-B512-111D9A72273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50417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5" name="Rectangle 7">
            <a:extLst>
              <a:ext uri="{FF2B5EF4-FFF2-40B4-BE49-F238E27FC236}">
                <a16:creationId xmlns:a16="http://schemas.microsoft.com/office/drawing/2014/main" id="{F93233C5-A576-0940-A976-BECE3A3492B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bg1"/>
                </a:solidFill>
                <a:latin typeface="Times" pitchFamily="2" charset="0"/>
                <a:ea typeface="ＭＳ Ｐゴシック" panose="020B0600070205080204" pitchFamily="34" charset="-128"/>
              </a:defRPr>
            </a:lvl1pPr>
            <a:lvl2pPr marL="742950" indent="-285750">
              <a:defRPr sz="2400">
                <a:solidFill>
                  <a:schemeClr val="bg1"/>
                </a:solidFill>
                <a:latin typeface="Times" pitchFamily="2" charset="0"/>
                <a:ea typeface="ＭＳ Ｐゴシック" panose="020B0600070205080204" pitchFamily="34" charset="-128"/>
              </a:defRPr>
            </a:lvl2pPr>
            <a:lvl3pPr marL="1143000" indent="-228600">
              <a:defRPr sz="2400">
                <a:solidFill>
                  <a:schemeClr val="bg1"/>
                </a:solidFill>
                <a:latin typeface="Times" pitchFamily="2" charset="0"/>
                <a:ea typeface="ＭＳ Ｐゴシック" panose="020B0600070205080204" pitchFamily="34" charset="-128"/>
              </a:defRPr>
            </a:lvl3pPr>
            <a:lvl4pPr marL="1600200" indent="-228600">
              <a:defRPr sz="2400">
                <a:solidFill>
                  <a:schemeClr val="bg1"/>
                </a:solidFill>
                <a:latin typeface="Times" pitchFamily="2" charset="0"/>
                <a:ea typeface="ＭＳ Ｐゴシック" panose="020B0600070205080204" pitchFamily="34" charset="-128"/>
              </a:defRPr>
            </a:lvl4pPr>
            <a:lvl5pPr marL="2057400" indent="-228600">
              <a:defRPr sz="2400">
                <a:solidFill>
                  <a:schemeClr val="bg1"/>
                </a:solidFill>
                <a:latin typeface="Times" pitchFamily="2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bg1"/>
                </a:solidFill>
                <a:latin typeface="Times" pitchFamily="2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bg1"/>
                </a:solidFill>
                <a:latin typeface="Times" pitchFamily="2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bg1"/>
                </a:solidFill>
                <a:latin typeface="Times" pitchFamily="2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bg1"/>
                </a:solidFill>
                <a:latin typeface="Times" pitchFamily="2" charset="0"/>
                <a:ea typeface="ＭＳ Ｐゴシック" panose="020B0600070205080204" pitchFamily="34" charset="-128"/>
              </a:defRPr>
            </a:lvl9pPr>
          </a:lstStyle>
          <a:p>
            <a:fld id="{1049A900-6E22-6B46-9002-E00595DF5A88}" type="slidenum">
              <a:rPr lang="en-US" altLang="en-US" sz="1200"/>
              <a:pPr/>
              <a:t>5</a:t>
            </a:fld>
            <a:endParaRPr lang="en-US" altLang="en-US" sz="1200"/>
          </a:p>
        </p:txBody>
      </p:sp>
      <p:sp>
        <p:nvSpPr>
          <p:cNvPr id="47106" name="Rectangle 2">
            <a:extLst>
              <a:ext uri="{FF2B5EF4-FFF2-40B4-BE49-F238E27FC236}">
                <a16:creationId xmlns:a16="http://schemas.microsoft.com/office/drawing/2014/main" id="{FF9B434B-80E4-0740-9E63-865691554F6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7107" name="Rectangle 3">
            <a:extLst>
              <a:ext uri="{FF2B5EF4-FFF2-40B4-BE49-F238E27FC236}">
                <a16:creationId xmlns:a16="http://schemas.microsoft.com/office/drawing/2014/main" id="{F37A70EA-7377-0441-A233-496CCA6D7FC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US">
              <a:latin typeface="Times" pitchFamily="2" charset="0"/>
              <a:ea typeface="ＭＳ Ｐゴシック" panose="020B060007020508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72336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B838A5-77CF-4444-B9C4-4E86A2AEB4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5ABB0CE-1E17-7E44-A60C-C4870D474C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A47BE3-EFDF-DA44-AA27-F0607BEFBC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DE3A9-9D48-7D40-AF95-520AE186EA5D}" type="datetimeFigureOut">
              <a:rPr lang="en-US" smtClean="0"/>
              <a:t>10/8/25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FF08DB-758A-CE42-BF14-C796921CA7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DD87E2-36DD-094B-976D-5D5908031C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6A688-FD6D-2B46-9274-DA17D6C870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15042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883727-A794-4042-BF97-D4E5E2555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2B6DC3-C8EA-0441-8F53-7878D4469F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003028-8ABF-084B-958C-E5D9B41B3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DE3A9-9D48-7D40-AF95-520AE186EA5D}" type="datetimeFigureOut">
              <a:rPr lang="en-US" smtClean="0"/>
              <a:t>10/8/25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90AB7C-ECF7-2E4C-924B-4E91B62D2F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CAA8C5-6364-1B49-BF43-8C17388D5E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6A688-FD6D-2B46-9274-DA17D6C870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56920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39ED12-49A7-1148-AA33-34CAB4FC4A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93A772-1ECD-0342-8A17-4FABBAEE73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C0C112-BD32-3746-A4C3-943B604FC6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DE3A9-9D48-7D40-AF95-520AE186EA5D}" type="datetimeFigureOut">
              <a:rPr lang="en-US" smtClean="0"/>
              <a:t>10/8/25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9B27BC-3697-B548-91F3-BCBF3F5CAA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A67D53-D2B9-684C-96F8-BB1044135D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6A688-FD6D-2B46-9274-DA17D6C870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45125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9F2D9E-643B-7E4B-872E-9412A7003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BB80E6-8617-AA4D-B46F-9CC4896C8D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DB783B-B1E8-C54D-8F59-3F89A76D1D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97AD1F-F077-684C-825B-C70FB96BD6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DE3A9-9D48-7D40-AF95-520AE186EA5D}" type="datetimeFigureOut">
              <a:rPr lang="en-US" smtClean="0"/>
              <a:t>10/8/25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975C02-EF59-8A48-A2C8-380404CF14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1292BB-8AAE-DE4E-AEA5-D84CEBB00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6A688-FD6D-2B46-9274-DA17D6C870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78716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BF12B8-927D-3440-A90F-CEE85721D6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537DF9-7AE9-244A-B880-477F51666D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2DB2535-D060-6345-9A9D-248269C20D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41F656-2CF8-3C40-BFA2-38D3E456AF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AF9AB57-D4A7-A44B-9DC2-3238EBA3F48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CE2D1E4-9846-5948-BE81-54250E2A19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DE3A9-9D48-7D40-AF95-520AE186EA5D}" type="datetimeFigureOut">
              <a:rPr lang="en-US" smtClean="0"/>
              <a:t>10/8/25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D127541-6DB6-BF46-9566-A28E02A604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8A06EEE-891D-834D-A782-1C80536A8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6A688-FD6D-2B46-9274-DA17D6C870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20569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788B81-6CFF-BB42-B48A-62FE961F09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95E796-21ED-0646-ACBF-271AEEB759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DE3A9-9D48-7D40-AF95-520AE186EA5D}" type="datetimeFigureOut">
              <a:rPr lang="en-US" smtClean="0"/>
              <a:t>10/8/25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818FDD5-F21A-134E-AA9A-2830EBC816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6FD440-2197-894C-BBF5-275EB6A7E5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6A688-FD6D-2B46-9274-DA17D6C870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53975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E4E7DC6-C98E-4D41-8312-C6A00B917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DE3A9-9D48-7D40-AF95-520AE186EA5D}" type="datetimeFigureOut">
              <a:rPr lang="en-US" smtClean="0"/>
              <a:t>10/8/25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D7D30B3-F181-1740-9B5B-0C72FEA436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C48BF8-D524-E946-A5F8-6EDB8EC65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6A688-FD6D-2B46-9274-DA17D6C870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19666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AE8C6B-44FC-DF4B-A8BD-B9B86A46C9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C0512D-A868-3942-8652-3DCABEFC8C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1B6CDD-B55E-CF40-A890-84FFA90C28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C9B9BC-EA10-2643-91D2-3C7BEB05A9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DE3A9-9D48-7D40-AF95-520AE186EA5D}" type="datetimeFigureOut">
              <a:rPr lang="en-US" smtClean="0"/>
              <a:t>10/8/25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E1C55D-AE82-E348-AA9F-92C252030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3800D4-D451-3941-ABED-C84A75035F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6A688-FD6D-2B46-9274-DA17D6C870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12171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A34BDC-8058-8A4C-9BB2-057FDB839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6F7E264-76A7-5245-B655-C26D839129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B22F39-AC8F-9242-8291-F11D540045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346B85-9220-174D-9DEE-0F36C1282C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DE3A9-9D48-7D40-AF95-520AE186EA5D}" type="datetimeFigureOut">
              <a:rPr lang="en-US" smtClean="0"/>
              <a:t>10/8/25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313209-F023-304D-B738-0493FEA828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A32D87-2351-334C-BE56-4B8A31CED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6A688-FD6D-2B46-9274-DA17D6C870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44787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FA934-82C2-4642-9056-03D6888AC5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CB7669D-25CA-F248-A4A3-81DBDBF738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F7BB9E-51D5-534F-9A5F-0DE70E1D6D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DE3A9-9D48-7D40-AF95-520AE186EA5D}" type="datetimeFigureOut">
              <a:rPr lang="en-US" smtClean="0"/>
              <a:t>10/8/25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B600DF-C942-F44F-84F3-4E7BC2F0DF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FAEA3C-3249-9B4A-B424-1F83C20D4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6A688-FD6D-2B46-9274-DA17D6C870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11375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E50C8A5-DD27-8040-BD1A-86BF1F29366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036609-7FEC-1340-94C8-5409F510CE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0A5258-5E66-DE42-A23B-E1D3C015A3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DE3A9-9D48-7D40-AF95-520AE186EA5D}" type="datetimeFigureOut">
              <a:rPr lang="en-US" smtClean="0"/>
              <a:t>10/8/25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58C25B-3FDB-BD4C-8299-934B911F00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9138FA-EF83-EA42-9E21-8B8892B656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6A688-FD6D-2B46-9274-DA17D6C870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4179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F35E0A7-698E-D742-A4C4-45629B7469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4D6F1A-825E-2B4D-8FFE-066CF32E20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661E9B-BC61-3141-8DBB-53CB9EC8D6C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DDE3A9-9D48-7D40-AF95-520AE186EA5D}" type="datetimeFigureOut">
              <a:rPr lang="en-US" smtClean="0"/>
              <a:t>10/8/25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54E5A4-CAAB-9C49-8EEB-830328D99D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F919D9-A8E0-C542-ADA8-7A31C9A61D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16A688-FD6D-2B46-9274-DA17D6C870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06792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tiff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tiff"/><Relationship Id="rId1" Type="http://schemas.openxmlformats.org/officeDocument/2006/relationships/slideLayout" Target="../slideLayouts/slideLayout7.xml"/><Relationship Id="rId4" Type="http://schemas.microsoft.com/office/2007/relationships/hdphoto" Target="../media/hdphoto1.wdp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tiff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ChangeArrowheads="1"/>
          </p:cNvSpPr>
          <p:nvPr/>
        </p:nvSpPr>
        <p:spPr bwMode="auto">
          <a:xfrm>
            <a:off x="304800" y="3013501"/>
            <a:ext cx="10896600" cy="8309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4800" b="1" dirty="0">
                <a:solidFill>
                  <a:schemeClr val="bg1">
                    <a:lumMod val="65000"/>
                  </a:schemeClr>
                </a:solidFill>
                <a:latin typeface="Avenir Book" panose="02000503020000020003" pitchFamily="2" charset="0"/>
                <a:cs typeface="Avenir"/>
              </a:rPr>
              <a:t>Class 5</a:t>
            </a:r>
            <a:r>
              <a:rPr lang="en-US" sz="4800" dirty="0">
                <a:solidFill>
                  <a:schemeClr val="bg1">
                    <a:lumMod val="65000"/>
                  </a:schemeClr>
                </a:solidFill>
                <a:latin typeface="Avenir Book" panose="02000503020000020003" pitchFamily="2" charset="0"/>
                <a:cs typeface="Avenir"/>
              </a:rPr>
              <a:t>: </a:t>
            </a:r>
            <a:r>
              <a:rPr lang="en-US" sz="4800" dirty="0">
                <a:solidFill>
                  <a:srgbClr val="FFFFFF"/>
                </a:solidFill>
                <a:latin typeface="Avenir Book" panose="02000503020000020003" pitchFamily="2" charset="0"/>
                <a:cs typeface="Avenir"/>
              </a:rPr>
              <a:t>Schistosomes 2</a:t>
            </a:r>
          </a:p>
        </p:txBody>
      </p:sp>
    </p:spTree>
    <p:extLst>
      <p:ext uri="{BB962C8B-B14F-4D97-AF65-F5344CB8AC3E}">
        <p14:creationId xmlns:p14="http://schemas.microsoft.com/office/powerpoint/2010/main" val="11166472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119C03-3E69-DA48-B419-6820C3D65D1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7C1206B-44D2-007B-A5E2-EC2F5366606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slide.url=https://www.polleverywhere.com/discourses/UTHyvtXD8FTS3bAs7amuM">
            <a:extLst>
              <a:ext uri="{FF2B5EF4-FFF2-40B4-BE49-F238E27FC236}">
                <a16:creationId xmlns:a16="http://schemas.microsoft.com/office/drawing/2014/main" id="{85C250C2-4C28-D623-088C-B7F209C720F7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" y="63500"/>
            <a:ext cx="12065000" cy="673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71015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This Week in Parasitism | Podcast on Spotify">
            <a:extLst>
              <a:ext uri="{FF2B5EF4-FFF2-40B4-BE49-F238E27FC236}">
                <a16:creationId xmlns:a16="http://schemas.microsoft.com/office/drawing/2014/main" id="{B615EBEE-2512-09F0-9DC1-79164B383E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5650" y="365760"/>
            <a:ext cx="5600700" cy="5600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D7CD181-E80D-671F-F5AE-8EAA84CD0BA7}"/>
              </a:ext>
            </a:extLst>
          </p:cNvPr>
          <p:cNvSpPr txBox="1"/>
          <p:nvPr/>
        </p:nvSpPr>
        <p:spPr>
          <a:xfrm>
            <a:off x="2663190" y="6044684"/>
            <a:ext cx="705516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https://</a:t>
            </a:r>
            <a:r>
              <a:rPr lang="en-US" sz="4000" dirty="0" err="1">
                <a:latin typeface="Arial" panose="020B0604020202020204" pitchFamily="34" charset="0"/>
                <a:cs typeface="Arial" panose="020B0604020202020204" pitchFamily="34" charset="0"/>
              </a:rPr>
              <a:t>www.microbe.tv</a:t>
            </a:r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sz="4000" dirty="0" err="1">
                <a:latin typeface="Arial" panose="020B0604020202020204" pitchFamily="34" charset="0"/>
                <a:cs typeface="Arial" panose="020B0604020202020204" pitchFamily="34" charset="0"/>
              </a:rPr>
              <a:t>twip</a:t>
            </a:r>
            <a:endParaRPr lang="en-US"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615468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650" name="Picture 1">
            <a:extLst>
              <a:ext uri="{FF2B5EF4-FFF2-40B4-BE49-F238E27FC236}">
                <a16:creationId xmlns:a16="http://schemas.microsoft.com/office/drawing/2014/main" id="{F5417753-90F8-4E49-902E-7919AFB416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55900" y="660400"/>
            <a:ext cx="6667500" cy="5524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3807712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081" name="Picture 3">
            <a:extLst>
              <a:ext uri="{FF2B5EF4-FFF2-40B4-BE49-F238E27FC236}">
                <a16:creationId xmlns:a16="http://schemas.microsoft.com/office/drawing/2014/main" id="{50B60F48-C02A-124B-B63D-1ECF610230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lum bright="-20000" contrast="22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44876" y="0"/>
            <a:ext cx="4860925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0524036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BF94E55-23FF-595C-756F-55252A2A85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1609" y="0"/>
            <a:ext cx="91439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40807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C5D9480-F7C4-974C-93C1-1C766EB2C4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8705" y="0"/>
            <a:ext cx="5520407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70E344C-83F1-EF43-BD0A-F5094F52EC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1469" y="170651"/>
            <a:ext cx="6053183" cy="38625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3500" b="1" dirty="0">
                <a:latin typeface="Avenir"/>
                <a:cs typeface="Avenir"/>
              </a:rPr>
              <a:t>Q1. What does this map of schistosome-competent snail distributions tell you about where risk is greatest for people? Does it suggest that snail control will be easy or hard?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AB46C97-D958-FD43-966A-BF2A6706D3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1469" y="5155285"/>
            <a:ext cx="6053183" cy="14773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3000" dirty="0">
                <a:latin typeface="Avenir"/>
                <a:cs typeface="Avenir"/>
              </a:rPr>
              <a:t>Ponder on your own (5 m), discuss with a partner (5 m), then share with the class (5 m).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3CFFA79-A980-C544-9079-7FB56D39BFF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9867" b="89867" l="6196" r="91630">
                        <a14:foregroundMark x1="39022" y1="64000" x2="39022" y2="64000"/>
                        <a14:foregroundMark x1="10000" y1="55200" x2="10000" y2="55200"/>
                        <a14:foregroundMark x1="6304" y1="63467" x2="6304" y2="63467"/>
                        <a14:foregroundMark x1="12935" y1="81067" x2="12935" y2="81067"/>
                        <a14:foregroundMark x1="12500" y1="78933" x2="12500" y2="78933"/>
                        <a14:foregroundMark x1="13152" y1="78933" x2="13152" y2="78933"/>
                        <a14:foregroundMark x1="46413" y1="79467" x2="46413" y2="79467"/>
                        <a14:foregroundMark x1="36630" y1="39200" x2="36630" y2="39200"/>
                        <a14:foregroundMark x1="36630" y1="38667" x2="36630" y2="38667"/>
                        <a14:foregroundMark x1="36630" y1="38400" x2="36630" y2="38400"/>
                        <a14:foregroundMark x1="36630" y1="37867" x2="36630" y2="37867"/>
                        <a14:foregroundMark x1="36630" y1="37867" x2="36630" y2="37867"/>
                        <a14:foregroundMark x1="36630" y1="36800" x2="36630" y2="36800"/>
                        <a14:foregroundMark x1="30109" y1="29067" x2="30109" y2="29067"/>
                        <a14:foregroundMark x1="30326" y1="29067" x2="30326" y2="29067"/>
                        <a14:foregroundMark x1="29891" y1="34667" x2="29891" y2="34667"/>
                        <a14:foregroundMark x1="30109" y1="34667" x2="30109" y2="34667"/>
                        <a14:foregroundMark x1="30543" y1="35733" x2="30543" y2="35733"/>
                        <a14:foregroundMark x1="40326" y1="26400" x2="40326" y2="26400"/>
                        <a14:foregroundMark x1="40761" y1="26400" x2="40761" y2="26400"/>
                        <a14:foregroundMark x1="40761" y1="33067" x2="40761" y2="33067"/>
                        <a14:foregroundMark x1="39891" y1="37333" x2="39891" y2="37333"/>
                        <a14:foregroundMark x1="38261" y1="38667" x2="38261" y2="38667"/>
                        <a14:foregroundMark x1="44565" y1="22933" x2="44565" y2="22933"/>
                        <a14:foregroundMark x1="44783" y1="22933" x2="44783" y2="22933"/>
                        <a14:foregroundMark x1="49130" y1="15733" x2="49130" y2="15733"/>
                        <a14:foregroundMark x1="54783" y1="22400" x2="54783" y2="22400"/>
                        <a14:foregroundMark x1="52935" y1="29600" x2="52935" y2="29600"/>
                        <a14:foregroundMark x1="38043" y1="29600" x2="38043" y2="29600"/>
                        <a14:foregroundMark x1="67500" y1="26933" x2="67500" y2="26933"/>
                        <a14:foregroundMark x1="66739" y1="19733" x2="66739" y2="19733"/>
                        <a14:foregroundMark x1="88043" y1="16800" x2="88043" y2="16800"/>
                        <a14:foregroundMark x1="84674" y1="16800" x2="84674" y2="16800"/>
                        <a14:foregroundMark x1="85326" y1="22933" x2="85326" y2="22933"/>
                        <a14:foregroundMark x1="90326" y1="24800" x2="90326" y2="24800"/>
                        <a14:foregroundMark x1="91630" y1="18133" x2="91630" y2="18133"/>
                        <a14:foregroundMark x1="72174" y1="20267" x2="72174" y2="20267"/>
                        <a14:foregroundMark x1="72935" y1="25867" x2="72935" y2="25867"/>
                        <a14:foregroundMark x1="52935" y1="17067" x2="52935" y2="17067"/>
                        <a14:foregroundMark x1="53696" y1="17067" x2="53696" y2="17067"/>
                        <a14:foregroundMark x1="38696" y1="24800" x2="38696" y2="24800"/>
                        <a14:foregroundMark x1="17174" y1="20800" x2="17174" y2="20800"/>
                        <a14:foregroundMark x1="18152" y1="20800" x2="18152" y2="20800"/>
                        <a14:foregroundMark x1="18804" y1="17600" x2="18804" y2="17600"/>
                        <a14:foregroundMark x1="18804" y1="16267" x2="18804" y2="16267"/>
                        <a14:foregroundMark x1="12717" y1="32000" x2="12717" y2="32000"/>
                        <a14:foregroundMark x1="12500" y1="13067" x2="12500" y2="13067"/>
                        <a14:foregroundMark x1="12500" y1="12533" x2="12500" y2="12533"/>
                        <a14:foregroundMark x1="34457" y1="26400" x2="34457" y2="26400"/>
                        <a14:foregroundMark x1="49130" y1="22933" x2="49130" y2="22933"/>
                        <a14:foregroundMark x1="67283" y1="17067" x2="67283" y2="17067"/>
                        <a14:foregroundMark x1="67283" y1="16800" x2="67283" y2="16800"/>
                        <a14:foregroundMark x1="67283" y1="16267" x2="67283" y2="16267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431677" y="3920667"/>
            <a:ext cx="3037028" cy="1234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05594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>
            <a:spLocks noChangeArrowheads="1"/>
          </p:cNvSpPr>
          <p:nvPr/>
        </p:nvSpPr>
        <p:spPr bwMode="auto">
          <a:xfrm>
            <a:off x="271470" y="170651"/>
            <a:ext cx="11649060" cy="63094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3500" b="1" dirty="0">
                <a:latin typeface="Avenir"/>
                <a:cs typeface="Avenir"/>
              </a:rPr>
              <a:t>Q2. eliminating schistosomes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83FDACC-4EF5-E74C-8D56-ECAC632222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30185" y="5232494"/>
            <a:ext cx="8490345" cy="14773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3000" b="1" dirty="0">
                <a:latin typeface="Avenir"/>
                <a:cs typeface="Avenir"/>
              </a:rPr>
              <a:t>Ponder on your own (10 m), discuss and make a compromise plan with a partner (7 m), then share with the class (10 m).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4C76115-8B07-BF49-9DDC-5F3B697CE1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867" b="89867" l="6196" r="91630">
                        <a14:foregroundMark x1="39022" y1="64000" x2="39022" y2="64000"/>
                        <a14:foregroundMark x1="10000" y1="55200" x2="10000" y2="55200"/>
                        <a14:foregroundMark x1="6304" y1="63467" x2="6304" y2="63467"/>
                        <a14:foregroundMark x1="12935" y1="81067" x2="12935" y2="81067"/>
                        <a14:foregroundMark x1="12500" y1="78933" x2="12500" y2="78933"/>
                        <a14:foregroundMark x1="13152" y1="78933" x2="13152" y2="78933"/>
                        <a14:foregroundMark x1="46413" y1="79467" x2="46413" y2="79467"/>
                        <a14:foregroundMark x1="36630" y1="39200" x2="36630" y2="39200"/>
                        <a14:foregroundMark x1="36630" y1="38667" x2="36630" y2="38667"/>
                        <a14:foregroundMark x1="36630" y1="38400" x2="36630" y2="38400"/>
                        <a14:foregroundMark x1="36630" y1="37867" x2="36630" y2="37867"/>
                        <a14:foregroundMark x1="36630" y1="37867" x2="36630" y2="37867"/>
                        <a14:foregroundMark x1="36630" y1="36800" x2="36630" y2="36800"/>
                        <a14:foregroundMark x1="30109" y1="29067" x2="30109" y2="29067"/>
                        <a14:foregroundMark x1="30326" y1="29067" x2="30326" y2="29067"/>
                        <a14:foregroundMark x1="29891" y1="34667" x2="29891" y2="34667"/>
                        <a14:foregroundMark x1="30109" y1="34667" x2="30109" y2="34667"/>
                        <a14:foregroundMark x1="30543" y1="35733" x2="30543" y2="35733"/>
                        <a14:foregroundMark x1="40326" y1="26400" x2="40326" y2="26400"/>
                        <a14:foregroundMark x1="40761" y1="26400" x2="40761" y2="26400"/>
                        <a14:foregroundMark x1="40761" y1="33067" x2="40761" y2="33067"/>
                        <a14:foregroundMark x1="39891" y1="37333" x2="39891" y2="37333"/>
                        <a14:foregroundMark x1="38261" y1="38667" x2="38261" y2="38667"/>
                        <a14:foregroundMark x1="44565" y1="22933" x2="44565" y2="22933"/>
                        <a14:foregroundMark x1="44783" y1="22933" x2="44783" y2="22933"/>
                        <a14:foregroundMark x1="49130" y1="15733" x2="49130" y2="15733"/>
                        <a14:foregroundMark x1="54783" y1="22400" x2="54783" y2="22400"/>
                        <a14:foregroundMark x1="52935" y1="29600" x2="52935" y2="29600"/>
                        <a14:foregroundMark x1="38043" y1="29600" x2="38043" y2="29600"/>
                        <a14:foregroundMark x1="67500" y1="26933" x2="67500" y2="26933"/>
                        <a14:foregroundMark x1="66739" y1="19733" x2="66739" y2="19733"/>
                        <a14:foregroundMark x1="88043" y1="16800" x2="88043" y2="16800"/>
                        <a14:foregroundMark x1="84674" y1="16800" x2="84674" y2="16800"/>
                        <a14:foregroundMark x1="85326" y1="22933" x2="85326" y2="22933"/>
                        <a14:foregroundMark x1="90326" y1="24800" x2="90326" y2="24800"/>
                        <a14:foregroundMark x1="91630" y1="18133" x2="91630" y2="18133"/>
                        <a14:foregroundMark x1="72174" y1="20267" x2="72174" y2="20267"/>
                        <a14:foregroundMark x1="72935" y1="25867" x2="72935" y2="25867"/>
                        <a14:foregroundMark x1="52935" y1="17067" x2="52935" y2="17067"/>
                        <a14:foregroundMark x1="53696" y1="17067" x2="53696" y2="17067"/>
                        <a14:foregroundMark x1="38696" y1="24800" x2="38696" y2="24800"/>
                        <a14:foregroundMark x1="17174" y1="20800" x2="17174" y2="20800"/>
                        <a14:foregroundMark x1="18152" y1="20800" x2="18152" y2="20800"/>
                        <a14:foregroundMark x1="18804" y1="17600" x2="18804" y2="17600"/>
                        <a14:foregroundMark x1="18804" y1="16267" x2="18804" y2="16267"/>
                        <a14:foregroundMark x1="12717" y1="32000" x2="12717" y2="32000"/>
                        <a14:foregroundMark x1="12500" y1="13067" x2="12500" y2="13067"/>
                        <a14:foregroundMark x1="12500" y1="12533" x2="12500" y2="12533"/>
                        <a14:foregroundMark x1="34457" y1="26400" x2="34457" y2="26400"/>
                        <a14:foregroundMark x1="49130" y1="22933" x2="49130" y2="22933"/>
                        <a14:foregroundMark x1="67283" y1="17067" x2="67283" y2="17067"/>
                        <a14:foregroundMark x1="67283" y1="16800" x2="67283" y2="16800"/>
                        <a14:foregroundMark x1="67283" y1="16267" x2="67283" y2="16267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24575" y="5324142"/>
            <a:ext cx="3037028" cy="1234618"/>
          </a:xfrm>
          <a:prstGeom prst="rect">
            <a:avLst/>
          </a:prstGeom>
        </p:spPr>
      </p:pic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5443535" y="889545"/>
            <a:ext cx="6667495" cy="41549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400" dirty="0">
                <a:latin typeface="Avenir"/>
                <a:cs typeface="Avenir"/>
              </a:rPr>
              <a:t>You are tasked with eliminating schistosomiasis from an entire Senegalese village. Their sole water-access point is shown at left. How would you do it?</a:t>
            </a:r>
          </a:p>
          <a:p>
            <a:pPr marL="457200" indent="-457200">
              <a:buFont typeface="+mj-lt"/>
              <a:buAutoNum type="arabicPeriod"/>
              <a:defRPr/>
            </a:pPr>
            <a:r>
              <a:rPr lang="en-US" sz="2400" dirty="0">
                <a:latin typeface="Avenir"/>
                <a:cs typeface="Avenir"/>
              </a:rPr>
              <a:t>Make a plan for what </a:t>
            </a:r>
            <a:r>
              <a:rPr lang="en-US" sz="2400" b="1" dirty="0">
                <a:latin typeface="Avenir"/>
                <a:cs typeface="Avenir"/>
              </a:rPr>
              <a:t>intervention</a:t>
            </a:r>
            <a:r>
              <a:rPr lang="en-US" sz="2400" dirty="0">
                <a:latin typeface="Avenir"/>
                <a:cs typeface="Avenir"/>
              </a:rPr>
              <a:t> you would put in place.</a:t>
            </a:r>
          </a:p>
          <a:p>
            <a:pPr marL="457200" indent="-457200">
              <a:buFont typeface="+mj-lt"/>
              <a:buAutoNum type="arabicPeriod"/>
              <a:defRPr/>
            </a:pPr>
            <a:r>
              <a:rPr lang="en-US" sz="2400" dirty="0">
                <a:latin typeface="Avenir"/>
                <a:cs typeface="Avenir"/>
              </a:rPr>
              <a:t>Design an </a:t>
            </a:r>
            <a:r>
              <a:rPr lang="en-US" sz="2400" b="1" dirty="0">
                <a:latin typeface="Avenir"/>
                <a:cs typeface="Avenir"/>
              </a:rPr>
              <a:t>experiment</a:t>
            </a:r>
            <a:r>
              <a:rPr lang="en-US" sz="2400" dirty="0">
                <a:latin typeface="Avenir"/>
                <a:cs typeface="Avenir"/>
              </a:rPr>
              <a:t> that would let you monitor whether your intervention is </a:t>
            </a:r>
            <a:r>
              <a:rPr lang="en-US" sz="2400" b="1" dirty="0">
                <a:latin typeface="Avenir"/>
                <a:cs typeface="Avenir"/>
              </a:rPr>
              <a:t>successful</a:t>
            </a:r>
            <a:r>
              <a:rPr lang="en-US" sz="2400" dirty="0">
                <a:latin typeface="Avenir"/>
                <a:cs typeface="Avenir"/>
              </a:rPr>
              <a:t>.</a:t>
            </a:r>
          </a:p>
          <a:p>
            <a:pPr marL="457200" indent="-457200">
              <a:buFont typeface="+mj-lt"/>
              <a:buAutoNum type="arabicPeriod"/>
              <a:defRPr/>
            </a:pPr>
            <a:r>
              <a:rPr lang="en-US" sz="2400" dirty="0">
                <a:latin typeface="Avenir"/>
                <a:cs typeface="Avenir"/>
              </a:rPr>
              <a:t>What could happen to </a:t>
            </a:r>
            <a:r>
              <a:rPr lang="en-US" sz="2400" b="1" dirty="0">
                <a:latin typeface="Avenir"/>
                <a:cs typeface="Avenir"/>
              </a:rPr>
              <a:t>derail your plans</a:t>
            </a:r>
            <a:r>
              <a:rPr lang="en-US" sz="2400" dirty="0">
                <a:latin typeface="Avenir"/>
                <a:cs typeface="Avenir"/>
              </a:rPr>
              <a:t>? Account for these possible contingencies.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901D8C9-8176-714D-8706-FA0ED3E111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727" y="1097212"/>
            <a:ext cx="4906966" cy="3680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61107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 bldLvl="5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ChangeArrowheads="1"/>
          </p:cNvSpPr>
          <p:nvPr/>
        </p:nvSpPr>
        <p:spPr bwMode="auto">
          <a:xfrm>
            <a:off x="304800" y="3013501"/>
            <a:ext cx="10896600" cy="83099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4800" b="1" dirty="0">
                <a:solidFill>
                  <a:schemeClr val="bg1">
                    <a:lumMod val="65000"/>
                  </a:schemeClr>
                </a:solidFill>
                <a:latin typeface="Avenir Book" panose="02000503020000020003" pitchFamily="2" charset="0"/>
                <a:cs typeface="Avenir"/>
              </a:rPr>
              <a:t>Class 5</a:t>
            </a:r>
            <a:r>
              <a:rPr lang="en-US" sz="4800" dirty="0">
                <a:solidFill>
                  <a:schemeClr val="bg1">
                    <a:lumMod val="65000"/>
                  </a:schemeClr>
                </a:solidFill>
                <a:latin typeface="Avenir Book" panose="02000503020000020003" pitchFamily="2" charset="0"/>
                <a:cs typeface="Avenir"/>
              </a:rPr>
              <a:t>: </a:t>
            </a:r>
            <a:r>
              <a:rPr lang="en-US" sz="4800" dirty="0">
                <a:solidFill>
                  <a:srgbClr val="FFFFFF"/>
                </a:solidFill>
                <a:latin typeface="Avenir Book" panose="02000503020000020003" pitchFamily="2" charset="0"/>
                <a:cs typeface="Avenir"/>
              </a:rPr>
              <a:t>Schistosomes 2</a:t>
            </a:r>
          </a:p>
        </p:txBody>
      </p:sp>
    </p:spTree>
    <p:extLst>
      <p:ext uri="{BB962C8B-B14F-4D97-AF65-F5344CB8AC3E}">
        <p14:creationId xmlns:p14="http://schemas.microsoft.com/office/powerpoint/2010/main" val="15688136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4701</TotalTime>
  <Words>225</Words>
  <Application>Microsoft Macintosh PowerPoint</Application>
  <PresentationFormat>Widescreen</PresentationFormat>
  <Paragraphs>15</Paragraphs>
  <Slides>9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6" baseType="lpstr">
      <vt:lpstr>Arial</vt:lpstr>
      <vt:lpstr>Avenir</vt:lpstr>
      <vt:lpstr>Avenir Book</vt:lpstr>
      <vt:lpstr>Calibri</vt:lpstr>
      <vt:lpstr>Calibri Light</vt:lpstr>
      <vt:lpstr>Times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Chelsea L. Wood</dc:creator>
  <cp:lastModifiedBy>Chelsea Wood</cp:lastModifiedBy>
  <cp:revision>70</cp:revision>
  <dcterms:created xsi:type="dcterms:W3CDTF">2020-04-03T14:55:00Z</dcterms:created>
  <dcterms:modified xsi:type="dcterms:W3CDTF">2025-10-08T19:15:53Z</dcterms:modified>
</cp:coreProperties>
</file>