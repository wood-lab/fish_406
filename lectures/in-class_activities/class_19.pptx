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480" r:id="rId2"/>
    <p:sldId id="723" r:id="rId3"/>
    <p:sldId id="1572" r:id="rId4"/>
    <p:sldId id="1578" r:id="rId5"/>
    <p:sldId id="1580" r:id="rId6"/>
    <p:sldId id="157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55"/>
    <p:restoredTop sz="95884"/>
  </p:normalViewPr>
  <p:slideViewPr>
    <p:cSldViewPr snapToGrid="0" snapToObjects="1">
      <p:cViewPr varScale="1">
        <p:scale>
          <a:sx n="109" d="100"/>
          <a:sy n="109" d="100"/>
        </p:scale>
        <p:origin x="192"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3753546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3</a:t>
            </a:fld>
            <a:endParaRPr lang="en-US"/>
          </a:p>
        </p:txBody>
      </p:sp>
    </p:spTree>
    <p:extLst>
      <p:ext uri="{BB962C8B-B14F-4D97-AF65-F5344CB8AC3E}">
        <p14:creationId xmlns:p14="http://schemas.microsoft.com/office/powerpoint/2010/main" val="284327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nematomorph life cycle spans terrestrial and freshwater environments – a tricky needle to thread! Can you think of other parasites that do the same?</a:t>
            </a:r>
          </a:p>
          <a:p>
            <a:r>
              <a:rPr lang="en-US"/>
              <a:t>https://www.polleverywhere.com/discourses/zEYTLmIgMAfERshhP1kFm</a:t>
            </a:r>
          </a:p>
        </p:txBody>
      </p:sp>
      <p:sp>
        <p:nvSpPr>
          <p:cNvPr id="4" name="Slide Number Placeholder 3"/>
          <p:cNvSpPr>
            <a:spLocks noGrp="1"/>
          </p:cNvSpPr>
          <p:nvPr>
            <p:ph type="sldNum" sz="quarter" idx="5"/>
          </p:nvPr>
        </p:nvSpPr>
        <p:spPr/>
        <p:txBody>
          <a:bodyPr/>
          <a:lstStyle/>
          <a:p>
            <a:fld id="{4218707C-A528-5347-B512-111D9A72273A}" type="slidenum">
              <a:rPr lang="en-US" smtClean="0"/>
              <a:t>4</a:t>
            </a:fld>
            <a:endParaRPr lang="en-US"/>
          </a:p>
        </p:txBody>
      </p:sp>
    </p:spTree>
    <p:extLst>
      <p:ext uri="{BB962C8B-B14F-4D97-AF65-F5344CB8AC3E}">
        <p14:creationId xmlns:p14="http://schemas.microsoft.com/office/powerpoint/2010/main" val="243704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2538840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6</a:t>
            </a:fld>
            <a:endParaRPr lang="en-US"/>
          </a:p>
        </p:txBody>
      </p:sp>
    </p:spTree>
    <p:extLst>
      <p:ext uri="{BB962C8B-B14F-4D97-AF65-F5344CB8AC3E}">
        <p14:creationId xmlns:p14="http://schemas.microsoft.com/office/powerpoint/2010/main" val="2688542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11/14/25</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11/14/25</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tiff"/><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52524" y="2644170"/>
            <a:ext cx="10896600" cy="1569660"/>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19</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Nematomorphs and acanthocephalans</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588304"/>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the evolution of behavioral manipulation</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517677" y="1521107"/>
            <a:ext cx="6384713" cy="3323987"/>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At this point, we’ve learned about many manipulative parasites. But in what contexts is manipulation most likely to evolve? What are the conditions that you think might lead to the evolution of behavioral manipulation?</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8" name="Picture 1">
            <a:extLst>
              <a:ext uri="{FF2B5EF4-FFF2-40B4-BE49-F238E27FC236}">
                <a16:creationId xmlns:a16="http://schemas.microsoft.com/office/drawing/2014/main" id="{DB836022-D906-9D4D-A5DA-4126D779350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7049" y="1839171"/>
            <a:ext cx="4778420" cy="268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F8B50B30-FBB3-D74D-8651-227EA0BC0B7E}"/>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(2 m), discuss with your group </a:t>
            </a:r>
          </a:p>
          <a:p>
            <a:pPr>
              <a:defRPr/>
            </a:pPr>
            <a:r>
              <a:rPr lang="en-US" sz="2600" b="1" dirty="0">
                <a:latin typeface="Avenir"/>
                <a:cs typeface="Avenir"/>
              </a:rPr>
              <a:t>(3 m), then share with the class (7 m).</a:t>
            </a:r>
          </a:p>
        </p:txBody>
      </p:sp>
    </p:spTree>
    <p:extLst>
      <p:ext uri="{BB962C8B-B14F-4D97-AF65-F5344CB8AC3E}">
        <p14:creationId xmlns:p14="http://schemas.microsoft.com/office/powerpoint/2010/main" val="77305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778932" y="1679453"/>
            <a:ext cx="10634133" cy="2554545"/>
          </a:xfrm>
          <a:prstGeom prst="rect">
            <a:avLst/>
          </a:prstGeom>
          <a:noFill/>
          <a:ln w="9525">
            <a:noFill/>
            <a:miter lim="800000"/>
            <a:headEnd/>
            <a:tailEnd/>
          </a:ln>
          <a:effectLst/>
        </p:spPr>
        <p:txBody>
          <a:bodyPr wrap="square">
            <a:spAutoFit/>
          </a:bodyPr>
          <a:lstStyle/>
          <a:p>
            <a:pPr>
              <a:defRPr/>
            </a:pPr>
            <a:r>
              <a:rPr lang="en-US" sz="4000" b="1" dirty="0">
                <a:latin typeface="Avenir"/>
                <a:cs typeface="Avenir"/>
              </a:rPr>
              <a:t>Q2. The nematomorph life cycle spans terrestrial and freshwater environments – a tricky needle to thread! Can you think of other parasites that do the same?</a:t>
            </a:r>
          </a:p>
        </p:txBody>
      </p:sp>
      <p:pic>
        <p:nvPicPr>
          <p:cNvPr id="2" name="Picture 1">
            <a:extLst>
              <a:ext uri="{FF2B5EF4-FFF2-40B4-BE49-F238E27FC236}">
                <a16:creationId xmlns:a16="http://schemas.microsoft.com/office/drawing/2014/main" id="{9FACBA41-11B5-F54D-A1B8-5709EE3A2B76}"/>
              </a:ext>
            </a:extLst>
          </p:cNvPr>
          <p:cNvPicPr>
            <a:picLocks noChangeAspect="1"/>
          </p:cNvPicPr>
          <p:nvPr/>
        </p:nvPicPr>
        <p:blipFill>
          <a:blip r:embed="rId3"/>
          <a:stretch>
            <a:fillRect/>
          </a:stretch>
        </p:blipFill>
        <p:spPr>
          <a:xfrm>
            <a:off x="4423139" y="4636973"/>
            <a:ext cx="3345721" cy="541574"/>
          </a:xfrm>
          <a:prstGeom prst="rect">
            <a:avLst/>
          </a:prstGeom>
        </p:spPr>
      </p:pic>
    </p:spTree>
    <p:extLst>
      <p:ext uri="{BB962C8B-B14F-4D97-AF65-F5344CB8AC3E}">
        <p14:creationId xmlns:p14="http://schemas.microsoft.com/office/powerpoint/2010/main" val="1369788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08B30-0D16-F442-B900-DAE5DFFF995F}"/>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F31C908-CC82-5642-B5F1-0869F65C340C}"/>
              </a:ext>
            </a:extLst>
          </p:cNvPr>
          <p:cNvSpPr>
            <a:spLocks noGrp="1"/>
          </p:cNvSpPr>
          <p:nvPr>
            <p:ph type="subTitle" idx="1"/>
          </p:nvPr>
        </p:nvSpPr>
        <p:spPr/>
        <p:txBody>
          <a:bodyPr/>
          <a:lstStyle/>
          <a:p>
            <a:endParaRPr lang="en-US"/>
          </a:p>
        </p:txBody>
      </p:sp>
      <p:pic>
        <p:nvPicPr>
          <p:cNvPr id="5" name="slide.url=https://www.polleverywhere.com/discourses/zEYTLmIgMAfERshhP1kFm">
            <a:extLst>
              <a:ext uri="{FF2B5EF4-FFF2-40B4-BE49-F238E27FC236}">
                <a16:creationId xmlns:a16="http://schemas.microsoft.com/office/drawing/2014/main" id="{E2FF7C4B-A7F5-904E-B9F3-DD8F6FA71A45}"/>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915626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396284"/>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Q3. nematomorphs: saviors of endangered trout?</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494817" y="1500021"/>
            <a:ext cx="6384713" cy="3323987"/>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In Sato et al. 2012, you learned about an experiment to estimate the energy contribution of nematomorphs to stream ecosystems. But no experiment is perfect. How would you make this study better?</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sp>
        <p:nvSpPr>
          <p:cNvPr id="7" name="Rectangle 6">
            <a:extLst>
              <a:ext uri="{FF2B5EF4-FFF2-40B4-BE49-F238E27FC236}">
                <a16:creationId xmlns:a16="http://schemas.microsoft.com/office/drawing/2014/main" id="{BA3732A3-F281-E845-A1CD-15A1C03B6F2E}"/>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(2 m), discuss with your group </a:t>
            </a:r>
          </a:p>
          <a:p>
            <a:pPr>
              <a:defRPr/>
            </a:pPr>
            <a:r>
              <a:rPr lang="en-US" sz="2600" b="1" dirty="0">
                <a:latin typeface="Avenir"/>
                <a:cs typeface="Avenir"/>
              </a:rPr>
              <a:t>(3 m), then share with the class (7 m).</a:t>
            </a:r>
          </a:p>
        </p:txBody>
      </p:sp>
      <p:pic>
        <p:nvPicPr>
          <p:cNvPr id="2" name="Picture 1">
            <a:extLst>
              <a:ext uri="{FF2B5EF4-FFF2-40B4-BE49-F238E27FC236}">
                <a16:creationId xmlns:a16="http://schemas.microsoft.com/office/drawing/2014/main" id="{38CE5130-A34E-4B47-87F5-F90A48172B90}"/>
              </a:ext>
            </a:extLst>
          </p:cNvPr>
          <p:cNvPicPr>
            <a:picLocks noChangeAspect="1"/>
          </p:cNvPicPr>
          <p:nvPr/>
        </p:nvPicPr>
        <p:blipFill>
          <a:blip r:embed="rId5"/>
          <a:stretch>
            <a:fillRect/>
          </a:stretch>
        </p:blipFill>
        <p:spPr>
          <a:xfrm>
            <a:off x="849948" y="1082086"/>
            <a:ext cx="4316411" cy="4012664"/>
          </a:xfrm>
          <a:prstGeom prst="rect">
            <a:avLst/>
          </a:prstGeom>
        </p:spPr>
      </p:pic>
    </p:spTree>
    <p:extLst>
      <p:ext uri="{BB962C8B-B14F-4D97-AF65-F5344CB8AC3E}">
        <p14:creationId xmlns:p14="http://schemas.microsoft.com/office/powerpoint/2010/main" val="300949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52524" y="2644170"/>
            <a:ext cx="10896600" cy="1569660"/>
          </a:xfrm>
          <a:prstGeom prst="rect">
            <a:avLst/>
          </a:prstGeom>
          <a:noFill/>
          <a:ln w="9525">
            <a:noFill/>
            <a:miter lim="800000"/>
            <a:headEnd/>
            <a:tailEnd/>
          </a:ln>
          <a:effectLst/>
        </p:spPr>
        <p:txBody>
          <a:bodyPr wrap="square">
            <a:spAutoFit/>
          </a:bodyPr>
          <a:lstStyle/>
          <a:p>
            <a:pPr>
              <a:defRPr/>
            </a:pPr>
            <a:r>
              <a:rPr lang="en-US" sz="4800" b="1">
                <a:solidFill>
                  <a:schemeClr val="bg1">
                    <a:lumMod val="65000"/>
                  </a:schemeClr>
                </a:solidFill>
                <a:latin typeface="Avenir Book" panose="02000503020000020003" pitchFamily="2" charset="0"/>
                <a:cs typeface="Avenir"/>
              </a:rPr>
              <a:t>Class 19</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Nematomorphs and acanthocephalans</a:t>
            </a:r>
          </a:p>
        </p:txBody>
      </p:sp>
    </p:spTree>
    <p:extLst>
      <p:ext uri="{BB962C8B-B14F-4D97-AF65-F5344CB8AC3E}">
        <p14:creationId xmlns:p14="http://schemas.microsoft.com/office/powerpoint/2010/main" val="693610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7863</TotalTime>
  <Words>226</Words>
  <Application>Microsoft Macintosh PowerPoint</Application>
  <PresentationFormat>Widescreen</PresentationFormat>
  <Paragraphs>19</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Avenir</vt:lpstr>
      <vt:lpstr>Avenir Book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170</cp:revision>
  <dcterms:created xsi:type="dcterms:W3CDTF">2020-04-03T14:55:00Z</dcterms:created>
  <dcterms:modified xsi:type="dcterms:W3CDTF">2025-11-15T00:46:40Z</dcterms:modified>
</cp:coreProperties>
</file>