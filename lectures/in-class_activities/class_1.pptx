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8" r:id="rId2"/>
    <p:sldId id="319" r:id="rId3"/>
    <p:sldId id="687" r:id="rId4"/>
    <p:sldId id="688" r:id="rId5"/>
    <p:sldId id="686" r:id="rId6"/>
    <p:sldId id="682" r:id="rId7"/>
    <p:sldId id="683" r:id="rId8"/>
    <p:sldId id="471" r:id="rId9"/>
    <p:sldId id="685" r:id="rId10"/>
    <p:sldId id="681" r:id="rId11"/>
    <p:sldId id="672" r:id="rId12"/>
    <p:sldId id="684" r:id="rId13"/>
    <p:sldId id="6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90"/>
    <p:restoredTop sz="92217"/>
  </p:normalViewPr>
  <p:slideViewPr>
    <p:cSldViewPr snapToGrid="0" snapToObjects="1">
      <p:cViewPr varScale="1">
        <p:scale>
          <a:sx n="101" d="100"/>
          <a:sy n="101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4T17:58:49.2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25465 2666 24575,'0'0'0</inkml:trace>
  <inkml:trace contextRef="#ctx0" brushRef="#br0" timeOffset="16946">15039 3698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45F56-4F69-014F-BF17-BBF57342F1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49269-E026-4E44-9951-397123D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C1D408F-3F93-4F43-8A63-5C97F2D4AA7C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06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6101AC86-C8CA-1847-A97E-2A060189EE9C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13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02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22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33DC-17F3-2FD1-DE9D-7E5F1BB9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3BC72-99A0-50F0-68C5-4F7AD9EF1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1FD66-5F6C-E94A-EBD7-14855ED4C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813DE-80C5-6DE3-11E3-B754A0085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82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1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C1D408F-3F93-4F43-8A63-5C97F2D4AA7C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785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Have you watched today's assigned video lectures on the course website?</a:t>
            </a:r>
          </a:p>
          <a:p>
            <a:r>
              <a:rPr lang="en-US"/>
              <a:t>https://www.polleverywhere.com/multiple_choice_polls/C5Mf4wqoOzxgPhTX3YZyj?state=opened&amp;flow=Default&amp;onscreen=persist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34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comes to mind when I say the word "parasite"?</a:t>
            </a:r>
          </a:p>
          <a:p>
            <a:r>
              <a:rPr lang="en-US"/>
              <a:t>https://www.polleverywhere.com/free_text_polls/n8mRsosII42qUWMLxN3aH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92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02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22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C1D408F-3F93-4F43-8A63-5C97F2D4AA7C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27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67DD-1156-554A-B839-48E328A60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D51DD-603B-AD49-B8EA-08FC308BC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2108-942D-FF47-9A0D-912647A5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9FED2-FED4-5348-8936-2901959F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653A6-9DDC-C546-944C-B8D5BA61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5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E5B1-55AA-5642-B010-96305D9A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2A0DF-BEFA-F143-AB83-39BE26DB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FB3C3-81C9-9C49-9060-93D853AF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53CFE-5DD8-914B-A55B-10354658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801B8-24A8-454A-8664-90F50159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4BCD-2ECC-6C45-B73F-C7F315ED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60E27-07BC-BB4D-92E7-9EC9C71E6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6E0C6-EC2B-8E4A-BDAB-7A56A925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FC224-AB3A-F64E-B971-C25F0B1D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26AA-1518-4E4B-8E25-75E9FE49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0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1126-3414-1B41-A773-8A2B0EF1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878A-3699-D142-B42C-CDB800B01C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022D4-6C9C-9242-A69F-EAF61FD04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02BE7-24AA-7648-8485-333E24B9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7BF87-3A76-B141-B06C-A80FBB37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60DA4-BFC8-4545-A413-CFECF61D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5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E26D-6D92-294E-B9BF-5FC7500B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9E26C-DC73-9C4C-A1BF-1465A825C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BCF19-F864-8141-B155-5F1E7189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6BD099-0C9B-794F-9318-C55BFCA12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9BBFD-ED7F-2148-B3CB-3B0B5C478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E0347-BC44-CC48-ACC4-C1767D65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A6FAF-234B-E44D-A759-0BBC654E4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5EF8A-36B6-214A-8048-E4A4752A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7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EEC9-6A29-254E-950B-68816C77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FB1EA-86AF-D14F-AD6C-E8C60E51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5B7CC-46AC-B741-A1E7-5349D35C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4BFD7-8AA9-EC43-A703-15DDA570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01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44AE4-341B-ED4D-B786-F61B55BD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7A0C9-39DF-754A-A8B1-4C06AB95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8A4EC-6270-D549-AFAE-F9F0E3B0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0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FCB2-7D22-8342-920E-1C6F2939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18FA-8546-B94E-B9AD-EC28EC030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C148A-9D80-2E4E-B56C-650C5BE12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D77C3-BE18-AF45-9081-B6FBBA6B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681AB-B950-544F-AC0C-B7531BC2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18BE0-ACFA-1545-9D6B-5A6A89CF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1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4AE0-6A08-A544-B1F9-51B3B99A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95BD3-A9BE-A44B-A6BC-E97DC2CD7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739BA-B012-464C-9630-570114B66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C475-43F9-4549-8556-062516DE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D14B-466B-B349-885B-F44B48FA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1410D-9C62-2440-AF49-E19F873B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0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1CD6-422E-794A-86C2-828BC956E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960A6-E98F-A34A-A76F-D83733AB4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0898B-E7A9-2644-94D9-813E95D9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0BE7A-21E8-A645-8D2A-37D7D7C9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02E61-8900-6945-8BD3-299E7E0D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0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E5AA8E-87C6-F848-BB10-D0FCE96BB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5D27A-E4B1-B746-9133-096AB6CAD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CF246-7948-2D4F-8E9D-0A6B6645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EC3A8-B445-D44C-9545-314A1C92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40EB0-7ADF-C345-AF0E-58222E57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8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C4BF38-EBF2-364F-BBDB-6B66AFD0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3372A-D024-9B46-94AF-F74DB3DA6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8D926-4AFF-F049-9B44-BEF474AAA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A9854-A5E3-9E47-A1CE-7B58FB794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EE434-D4CA-4E42-A5A8-0C12879F1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6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mKqE5d-POo?feature=oembed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image" Target="../media/image6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/>
          <p:cNvSpPr txBox="1">
            <a:spLocks noChangeArrowheads="1"/>
          </p:cNvSpPr>
          <p:nvPr/>
        </p:nvSpPr>
        <p:spPr bwMode="auto">
          <a:xfrm>
            <a:off x="6353176" y="3489326"/>
            <a:ext cx="6976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lang="en-US">
                <a:latin typeface="Times" charset="0"/>
              </a:rPr>
              <a:t>Bob</a:t>
            </a:r>
          </a:p>
          <a:p>
            <a:r>
              <a:rPr lang="en-US">
                <a:latin typeface="Times" charset="0"/>
              </a:rPr>
              <a:t>Bell</a:t>
            </a:r>
          </a:p>
        </p:txBody>
      </p:sp>
      <p:pic>
        <p:nvPicPr>
          <p:cNvPr id="1536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5" y="11151"/>
            <a:ext cx="5936166" cy="685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-1685597" y="1890712"/>
            <a:ext cx="7710488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Welcome to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FISH 406: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Parasite Ecology</a:t>
            </a:r>
          </a:p>
        </p:txBody>
      </p:sp>
    </p:spTree>
    <p:extLst>
      <p:ext uri="{BB962C8B-B14F-4D97-AF65-F5344CB8AC3E}">
        <p14:creationId xmlns:p14="http://schemas.microsoft.com/office/powerpoint/2010/main" val="127969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188948" y="1467536"/>
            <a:ext cx="96774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FISH 406</a:t>
            </a: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Parasite Ecology</a:t>
            </a: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Autumn 2026</a:t>
            </a:r>
          </a:p>
          <a:p>
            <a:pPr>
              <a:defRPr/>
            </a:pP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venir"/>
              <a:cs typeface="Avenir"/>
            </a:endParaRPr>
          </a:p>
          <a:p>
            <a:pPr lvl="2">
              <a:defRPr/>
            </a:pPr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Instructor: 	Dr. Chelsea Wood</a:t>
            </a:r>
          </a:p>
          <a:p>
            <a:pPr lvl="2">
              <a:defRPr/>
            </a:pPr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TAs:			Gabby Commisso and </a:t>
            </a:r>
          </a:p>
          <a:p>
            <a:pPr lvl="2">
              <a:defRPr/>
            </a:pPr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			Diana Perales Macedo	</a:t>
            </a:r>
          </a:p>
        </p:txBody>
      </p:sp>
    </p:spTree>
    <p:extLst>
      <p:ext uri="{BB962C8B-B14F-4D97-AF65-F5344CB8AC3E}">
        <p14:creationId xmlns:p14="http://schemas.microsoft.com/office/powerpoint/2010/main" val="35272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Hairworms collected near Lake Okukiso, Japan">
            <a:hlinkClick r:id="" action="ppaction://media"/>
            <a:extLst>
              <a:ext uri="{FF2B5EF4-FFF2-40B4-BE49-F238E27FC236}">
                <a16:creationId xmlns:a16="http://schemas.microsoft.com/office/drawing/2014/main" id="{6809B311-987F-D789-ACEF-C91C76B4B1E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994150" y="35964"/>
            <a:ext cx="3854450" cy="682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9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56887B-B52C-DF06-498E-83852EC4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376" y="0"/>
            <a:ext cx="5193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9F089-B822-D305-22B6-38366F04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CD3DD26-8185-4AE6-400C-00A883864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948" y="2686735"/>
            <a:ext cx="9677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Who are you?</a:t>
            </a:r>
          </a:p>
        </p:txBody>
      </p:sp>
    </p:spTree>
    <p:extLst>
      <p:ext uri="{BB962C8B-B14F-4D97-AF65-F5344CB8AC3E}">
        <p14:creationId xmlns:p14="http://schemas.microsoft.com/office/powerpoint/2010/main" val="142327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524D076-306C-BB7A-FF7C-13EB66877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490" y="2251307"/>
            <a:ext cx="9677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Course website: </a:t>
            </a:r>
          </a:p>
          <a:p>
            <a:pPr algn="ctr">
              <a:defRPr/>
            </a:pP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venir"/>
              <a:cs typeface="Avenir"/>
            </a:endParaRP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https://wood-</a:t>
            </a:r>
            <a:r>
              <a:rPr lang="en-US" sz="4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lab.github.io</a:t>
            </a: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/fish_406</a:t>
            </a:r>
          </a:p>
        </p:txBody>
      </p:sp>
    </p:spTree>
    <p:extLst>
      <p:ext uri="{BB962C8B-B14F-4D97-AF65-F5344CB8AC3E}">
        <p14:creationId xmlns:p14="http://schemas.microsoft.com/office/powerpoint/2010/main" val="240578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C0096-F98B-6232-876E-41380BE9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E8C28-3817-A241-2E96-0195316B0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490" y="2265821"/>
            <a:ext cx="9677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Course Canvas page: </a:t>
            </a:r>
          </a:p>
          <a:p>
            <a:pPr algn="ctr">
              <a:defRPr/>
            </a:pP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venir"/>
              <a:cs typeface="Avenir"/>
            </a:endParaRP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https://</a:t>
            </a:r>
            <a:r>
              <a:rPr lang="en-US" sz="4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canvas.uw.edu</a:t>
            </a: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/courses/1829825</a:t>
            </a:r>
          </a:p>
        </p:txBody>
      </p:sp>
    </p:spTree>
    <p:extLst>
      <p:ext uri="{BB962C8B-B14F-4D97-AF65-F5344CB8AC3E}">
        <p14:creationId xmlns:p14="http://schemas.microsoft.com/office/powerpoint/2010/main" val="337068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/>
          <p:cNvSpPr txBox="1">
            <a:spLocks noChangeArrowheads="1"/>
          </p:cNvSpPr>
          <p:nvPr/>
        </p:nvSpPr>
        <p:spPr bwMode="auto">
          <a:xfrm>
            <a:off x="6353176" y="3489326"/>
            <a:ext cx="6976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lang="en-US">
                <a:latin typeface="Times" charset="0"/>
              </a:rPr>
              <a:t>Bob</a:t>
            </a:r>
          </a:p>
          <a:p>
            <a:r>
              <a:rPr lang="en-US">
                <a:latin typeface="Times" charset="0"/>
              </a:rPr>
              <a:t>Bell</a:t>
            </a:r>
          </a:p>
        </p:txBody>
      </p:sp>
      <p:pic>
        <p:nvPicPr>
          <p:cNvPr id="1536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5" y="11151"/>
            <a:ext cx="5936166" cy="685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-1944330" y="2981494"/>
            <a:ext cx="771048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let’s dive in…</a:t>
            </a:r>
          </a:p>
        </p:txBody>
      </p:sp>
    </p:spTree>
    <p:extLst>
      <p:ext uri="{BB962C8B-B14F-4D97-AF65-F5344CB8AC3E}">
        <p14:creationId xmlns:p14="http://schemas.microsoft.com/office/powerpoint/2010/main" val="119860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28C8-E57A-4548-E685-7C8547826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1BAE9-70C8-C269-8AD4-7B4B3D134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C5Mf4wqoOzxgPhTX3YZyj?state=opened&amp;flow=Default&amp;onscreen=persist">
            <a:extLst>
              <a:ext uri="{FF2B5EF4-FFF2-40B4-BE49-F238E27FC236}">
                <a16:creationId xmlns:a16="http://schemas.microsoft.com/office/drawing/2014/main" id="{C1680DC4-93E8-614B-054E-9D7DCD24A5C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9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32B-DB9E-494A-B78D-F786D5645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C6761-0AFB-4A40-910C-04C7202DF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n8mRsosII42qUWMLxN3aH">
            <a:extLst>
              <a:ext uri="{FF2B5EF4-FFF2-40B4-BE49-F238E27FC236}">
                <a16:creationId xmlns:a16="http://schemas.microsoft.com/office/drawing/2014/main" id="{72EB74FD-A9DE-7F46-9103-F417496D3DB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19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6544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parasites on the spectrum of symbiosis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FDACC-4EF5-E74C-8D56-ECAC63222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893" y="5614537"/>
            <a:ext cx="907494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Collaborate with your group to come up </a:t>
            </a:r>
          </a:p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with as many examples as you can.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845587" y="1362630"/>
            <a:ext cx="9074944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Parasites are not the only organisms that live in </a:t>
            </a:r>
            <a:r>
              <a:rPr lang="en-US" sz="2200" b="1" dirty="0">
                <a:latin typeface="Avenir"/>
                <a:cs typeface="Avenir"/>
              </a:rPr>
              <a:t>intimate and durable relationships with their hosts</a:t>
            </a:r>
            <a:r>
              <a:rPr lang="en-US" sz="2200" dirty="0">
                <a:latin typeface="Avenir"/>
                <a:cs typeface="Avenir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The class will be split into groups.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Each group will be assigned one kind of symbiont: </a:t>
            </a:r>
            <a:r>
              <a:rPr lang="en-US" sz="2200" b="1" dirty="0">
                <a:latin typeface="Avenir"/>
                <a:cs typeface="Avenir"/>
              </a:rPr>
              <a:t>parasites, commensals, or mutualists</a:t>
            </a:r>
            <a:r>
              <a:rPr lang="en-US" sz="2200" dirty="0">
                <a:latin typeface="Avenir"/>
                <a:cs typeface="Avenir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Generate as many examples of the assigned symbiont as you can.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Each person should assume one role: 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Note-taker 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Timekeeper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Reporter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Avenir"/>
              <a:cs typeface="Avenir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Avenir"/>
              <a:cs typeface="Avenir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3BAC7D-6304-6245-A900-7875BC03293F}"/>
                  </a:ext>
                </a:extLst>
              </p14:cNvPr>
              <p14:cNvContentPartPr/>
              <p14:nvPr/>
            </p14:nvContentPartPr>
            <p14:xfrm>
              <a:off x="5414040" y="959760"/>
              <a:ext cx="3753720" cy="371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3BAC7D-6304-6245-A900-7875BC0329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4680" y="950400"/>
                <a:ext cx="3772440" cy="390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948A2C8-8419-3A41-81F6-A59B141890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605" y="5487368"/>
            <a:ext cx="1270000" cy="127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EC9A07-7880-2348-A1CF-88D10F73AA0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5765"/>
          <a:stretch/>
        </p:blipFill>
        <p:spPr>
          <a:xfrm>
            <a:off x="546863" y="1071420"/>
            <a:ext cx="2114407" cy="410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6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B001B-AA19-243B-C0B0-5F6C092F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08F228-F440-0446-E520-DEFF6265B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918" y="3151193"/>
            <a:ext cx="9677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Take the Qualtrics survey!</a:t>
            </a:r>
          </a:p>
        </p:txBody>
      </p:sp>
    </p:spTree>
    <p:extLst>
      <p:ext uri="{BB962C8B-B14F-4D97-AF65-F5344CB8AC3E}">
        <p14:creationId xmlns:p14="http://schemas.microsoft.com/office/powerpoint/2010/main" val="136383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/>
          <p:cNvSpPr txBox="1">
            <a:spLocks noChangeArrowheads="1"/>
          </p:cNvSpPr>
          <p:nvPr/>
        </p:nvSpPr>
        <p:spPr bwMode="auto">
          <a:xfrm>
            <a:off x="6353176" y="3489326"/>
            <a:ext cx="6976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lang="en-US">
                <a:latin typeface="Times" charset="0"/>
              </a:rPr>
              <a:t>Bob</a:t>
            </a:r>
          </a:p>
          <a:p>
            <a:r>
              <a:rPr lang="en-US">
                <a:latin typeface="Times" charset="0"/>
              </a:rPr>
              <a:t>Bell</a:t>
            </a:r>
          </a:p>
        </p:txBody>
      </p:sp>
      <p:pic>
        <p:nvPicPr>
          <p:cNvPr id="1536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5" y="11151"/>
            <a:ext cx="5936166" cy="685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-1685597" y="1890712"/>
            <a:ext cx="7710488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Welcome to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FISH 406: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Parasite Ecology</a:t>
            </a:r>
          </a:p>
        </p:txBody>
      </p:sp>
    </p:spTree>
    <p:extLst>
      <p:ext uri="{BB962C8B-B14F-4D97-AF65-F5344CB8AC3E}">
        <p14:creationId xmlns:p14="http://schemas.microsoft.com/office/powerpoint/2010/main" val="277118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310</Words>
  <Application>Microsoft Macintosh PowerPoint</Application>
  <PresentationFormat>Widescreen</PresentationFormat>
  <Paragraphs>56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</vt:lpstr>
      <vt:lpstr>Calibri</vt:lpstr>
      <vt:lpstr>Calibri Light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Chelsea Wood</cp:lastModifiedBy>
  <cp:revision>37</cp:revision>
  <dcterms:created xsi:type="dcterms:W3CDTF">2020-08-29T19:13:47Z</dcterms:created>
  <dcterms:modified xsi:type="dcterms:W3CDTF">2026-09-30T17:52:48Z</dcterms:modified>
</cp:coreProperties>
</file>