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480" r:id="rId2"/>
    <p:sldId id="306" r:id="rId3"/>
    <p:sldId id="1572" r:id="rId4"/>
    <p:sldId id="1578" r:id="rId5"/>
    <p:sldId id="723" r:id="rId6"/>
    <p:sldId id="1579" r:id="rId7"/>
    <p:sldId id="1580" r:id="rId8"/>
    <p:sldId id="1575" r:id="rId9"/>
    <p:sldId id="157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291"/>
    <p:restoredTop sz="95884"/>
  </p:normalViewPr>
  <p:slideViewPr>
    <p:cSldViewPr snapToGrid="0" snapToObjects="1">
      <p:cViewPr varScale="1">
        <p:scale>
          <a:sx n="79" d="100"/>
          <a:sy n="79" d="100"/>
        </p:scale>
        <p:origin x="216" y="9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DB66-C6D6-B24E-B345-FA3772C924EA}" type="datetimeFigureOut">
              <a:rPr lang="en-US" smtClean="0"/>
              <a:t>11/12/25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707C-A528-5347-B512-111D9A72273A}" type="slidenum">
              <a:rPr lang="en-US" smtClean="0"/>
              <a:t>‹#›</a:t>
            </a:fld>
            <a:endParaRPr lang="en-US"/>
          </a:p>
        </p:txBody>
      </p:sp>
    </p:spTree>
    <p:extLst>
      <p:ext uri="{BB962C8B-B14F-4D97-AF65-F5344CB8AC3E}">
        <p14:creationId xmlns:p14="http://schemas.microsoft.com/office/powerpoint/2010/main" val="19249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a:t>
            </a:fld>
            <a:endParaRPr lang="en-US"/>
          </a:p>
        </p:txBody>
      </p:sp>
    </p:spTree>
    <p:extLst>
      <p:ext uri="{BB962C8B-B14F-4D97-AF65-F5344CB8AC3E}">
        <p14:creationId xmlns:p14="http://schemas.microsoft.com/office/powerpoint/2010/main" val="241055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2</a:t>
            </a:fld>
            <a:endParaRPr lang="en-US"/>
          </a:p>
        </p:txBody>
      </p:sp>
    </p:spTree>
    <p:extLst>
      <p:ext uri="{BB962C8B-B14F-4D97-AF65-F5344CB8AC3E}">
        <p14:creationId xmlns:p14="http://schemas.microsoft.com/office/powerpoint/2010/main" val="3179797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3</a:t>
            </a:fld>
            <a:endParaRPr lang="en-US"/>
          </a:p>
        </p:txBody>
      </p:sp>
    </p:spTree>
    <p:extLst>
      <p:ext uri="{BB962C8B-B14F-4D97-AF65-F5344CB8AC3E}">
        <p14:creationId xmlns:p14="http://schemas.microsoft.com/office/powerpoint/2010/main" val="2574495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Given what you know about parasites transmitted by contact with feces, what human diseases do you think might be transmitted when house flies visit human food?</a:t>
            </a:r>
          </a:p>
          <a:p>
            <a:r>
              <a:rPr lang="en-US"/>
              <a:t>https://www.polleverywhere.com/discourses/yFGR56I4k9Fvt2SrSqSvt</a:t>
            </a:r>
          </a:p>
        </p:txBody>
      </p:sp>
      <p:sp>
        <p:nvSpPr>
          <p:cNvPr id="4" name="Slide Number Placeholder 3"/>
          <p:cNvSpPr>
            <a:spLocks noGrp="1"/>
          </p:cNvSpPr>
          <p:nvPr>
            <p:ph type="sldNum" sz="quarter" idx="5"/>
          </p:nvPr>
        </p:nvSpPr>
        <p:spPr/>
        <p:txBody>
          <a:bodyPr/>
          <a:lstStyle/>
          <a:p>
            <a:fld id="{4218707C-A528-5347-B512-111D9A72273A}" type="slidenum">
              <a:rPr lang="en-US" smtClean="0"/>
              <a:t>4</a:t>
            </a:fld>
            <a:endParaRPr lang="en-US"/>
          </a:p>
        </p:txBody>
      </p:sp>
    </p:spTree>
    <p:extLst>
      <p:ext uri="{BB962C8B-B14F-4D97-AF65-F5344CB8AC3E}">
        <p14:creationId xmlns:p14="http://schemas.microsoft.com/office/powerpoint/2010/main" val="374166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5</a:t>
            </a:fld>
            <a:endParaRPr lang="en-US"/>
          </a:p>
        </p:txBody>
      </p:sp>
    </p:spTree>
    <p:extLst>
      <p:ext uri="{BB962C8B-B14F-4D97-AF65-F5344CB8AC3E}">
        <p14:creationId xmlns:p14="http://schemas.microsoft.com/office/powerpoint/2010/main" val="3753546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6</a:t>
            </a:fld>
            <a:endParaRPr lang="en-US"/>
          </a:p>
        </p:txBody>
      </p:sp>
    </p:spTree>
    <p:extLst>
      <p:ext uri="{BB962C8B-B14F-4D97-AF65-F5344CB8AC3E}">
        <p14:creationId xmlns:p14="http://schemas.microsoft.com/office/powerpoint/2010/main" val="2624688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22B00-7C21-F7D0-6579-25B3EB35C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8FB7D-5EC0-DA0E-8C88-D1D9742F81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ECAF4-4F56-F985-8B8E-D8F24BBC55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F61C56-FB6B-A4F4-124C-C07DA9BF0CA9}"/>
              </a:ext>
            </a:extLst>
          </p:cNvPr>
          <p:cNvSpPr>
            <a:spLocks noGrp="1"/>
          </p:cNvSpPr>
          <p:nvPr>
            <p:ph type="sldNum" sz="quarter" idx="5"/>
          </p:nvPr>
        </p:nvSpPr>
        <p:spPr/>
        <p:txBody>
          <a:bodyPr/>
          <a:lstStyle/>
          <a:p>
            <a:fld id="{4218707C-A528-5347-B512-111D9A72273A}" type="slidenum">
              <a:rPr lang="en-US" smtClean="0"/>
              <a:t>7</a:t>
            </a:fld>
            <a:endParaRPr lang="en-US"/>
          </a:p>
        </p:txBody>
      </p:sp>
    </p:spTree>
    <p:extLst>
      <p:ext uri="{BB962C8B-B14F-4D97-AF65-F5344CB8AC3E}">
        <p14:creationId xmlns:p14="http://schemas.microsoft.com/office/powerpoint/2010/main" val="1729939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8</a:t>
            </a:fld>
            <a:endParaRPr lang="en-US"/>
          </a:p>
        </p:txBody>
      </p:sp>
    </p:spTree>
    <p:extLst>
      <p:ext uri="{BB962C8B-B14F-4D97-AF65-F5344CB8AC3E}">
        <p14:creationId xmlns:p14="http://schemas.microsoft.com/office/powerpoint/2010/main" val="2856052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9</a:t>
            </a:fld>
            <a:endParaRPr lang="en-US"/>
          </a:p>
        </p:txBody>
      </p:sp>
    </p:spTree>
    <p:extLst>
      <p:ext uri="{BB962C8B-B14F-4D97-AF65-F5344CB8AC3E}">
        <p14:creationId xmlns:p14="http://schemas.microsoft.com/office/powerpoint/2010/main" val="333717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838A5-77CF-4444-B9C4-4E86A2AEB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ABB0CE-1E17-7E44-A60C-C4870D47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47BE3-EFDF-DA44-AA27-F0607BEFBC36}"/>
              </a:ext>
            </a:extLst>
          </p:cNvPr>
          <p:cNvSpPr>
            <a:spLocks noGrp="1"/>
          </p:cNvSpPr>
          <p:nvPr>
            <p:ph type="dt" sz="half" idx="10"/>
          </p:nvPr>
        </p:nvSpPr>
        <p:spPr/>
        <p:txBody>
          <a:bodyPr/>
          <a:lstStyle/>
          <a:p>
            <a:fld id="{21DDE3A9-9D48-7D40-AF95-520AE186EA5D}" type="datetimeFigureOut">
              <a:rPr lang="en-US" smtClean="0"/>
              <a:t>11/12/25</a:t>
            </a:fld>
            <a:endParaRPr lang="en-US"/>
          </a:p>
        </p:txBody>
      </p:sp>
      <p:sp>
        <p:nvSpPr>
          <p:cNvPr id="5" name="Footer Placeholder 4">
            <a:extLst>
              <a:ext uri="{FF2B5EF4-FFF2-40B4-BE49-F238E27FC236}">
                <a16:creationId xmlns:a16="http://schemas.microsoft.com/office/drawing/2014/main" id="{F4FF08DB-758A-CE42-BF14-C796921CA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87E2-36DD-094B-976D-5D5908031C6D}"/>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20150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727-A794-4042-BF97-D4E5E2555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B6DC3-C8EA-0441-8F53-7878D4469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03028-8ABF-084B-958C-E5D9B41B38A8}"/>
              </a:ext>
            </a:extLst>
          </p:cNvPr>
          <p:cNvSpPr>
            <a:spLocks noGrp="1"/>
          </p:cNvSpPr>
          <p:nvPr>
            <p:ph type="dt" sz="half" idx="10"/>
          </p:nvPr>
        </p:nvSpPr>
        <p:spPr/>
        <p:txBody>
          <a:bodyPr/>
          <a:lstStyle/>
          <a:p>
            <a:fld id="{21DDE3A9-9D48-7D40-AF95-520AE186EA5D}" type="datetimeFigureOut">
              <a:rPr lang="en-US" smtClean="0"/>
              <a:t>11/12/25</a:t>
            </a:fld>
            <a:endParaRPr lang="en-US"/>
          </a:p>
        </p:txBody>
      </p:sp>
      <p:sp>
        <p:nvSpPr>
          <p:cNvPr id="5" name="Footer Placeholder 4">
            <a:extLst>
              <a:ext uri="{FF2B5EF4-FFF2-40B4-BE49-F238E27FC236}">
                <a16:creationId xmlns:a16="http://schemas.microsoft.com/office/drawing/2014/main" id="{D590AB7C-ECF7-2E4C-924B-4E91B62D2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AA8C5-6364-1B49-BF43-8C17388D5E01}"/>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4656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ED12-49A7-1148-AA33-34CAB4FC4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3A772-1ECD-0342-8A17-4FABBAEE73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0C112-BD32-3746-A4C3-943B604FC6F1}"/>
              </a:ext>
            </a:extLst>
          </p:cNvPr>
          <p:cNvSpPr>
            <a:spLocks noGrp="1"/>
          </p:cNvSpPr>
          <p:nvPr>
            <p:ph type="dt" sz="half" idx="10"/>
          </p:nvPr>
        </p:nvSpPr>
        <p:spPr/>
        <p:txBody>
          <a:bodyPr/>
          <a:lstStyle/>
          <a:p>
            <a:fld id="{21DDE3A9-9D48-7D40-AF95-520AE186EA5D}" type="datetimeFigureOut">
              <a:rPr lang="en-US" smtClean="0"/>
              <a:t>11/12/25</a:t>
            </a:fld>
            <a:endParaRPr lang="en-US"/>
          </a:p>
        </p:txBody>
      </p:sp>
      <p:sp>
        <p:nvSpPr>
          <p:cNvPr id="5" name="Footer Placeholder 4">
            <a:extLst>
              <a:ext uri="{FF2B5EF4-FFF2-40B4-BE49-F238E27FC236}">
                <a16:creationId xmlns:a16="http://schemas.microsoft.com/office/drawing/2014/main" id="{BC9B27BC-3697-B548-91F3-BCBF3F5CA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7D53-D2B9-684C-96F8-BB1044135D6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62451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9E-643B-7E4B-872E-9412A7003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B80E6-8617-AA4D-B46F-9CC4896C8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DB783B-B1E8-C54D-8F59-3F89A76D1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7AD1F-F077-684C-825B-C70FB96BD6FE}"/>
              </a:ext>
            </a:extLst>
          </p:cNvPr>
          <p:cNvSpPr>
            <a:spLocks noGrp="1"/>
          </p:cNvSpPr>
          <p:nvPr>
            <p:ph type="dt" sz="half" idx="10"/>
          </p:nvPr>
        </p:nvSpPr>
        <p:spPr/>
        <p:txBody>
          <a:bodyPr/>
          <a:lstStyle/>
          <a:p>
            <a:fld id="{21DDE3A9-9D48-7D40-AF95-520AE186EA5D}" type="datetimeFigureOut">
              <a:rPr lang="en-US" smtClean="0"/>
              <a:t>11/12/25</a:t>
            </a:fld>
            <a:endParaRPr lang="en-US"/>
          </a:p>
        </p:txBody>
      </p:sp>
      <p:sp>
        <p:nvSpPr>
          <p:cNvPr id="6" name="Footer Placeholder 5">
            <a:extLst>
              <a:ext uri="{FF2B5EF4-FFF2-40B4-BE49-F238E27FC236}">
                <a16:creationId xmlns:a16="http://schemas.microsoft.com/office/drawing/2014/main" id="{94975C02-EF59-8A48-A2C8-380404CF1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292BB-8AAE-DE4E-AEA5-D84CEBB00A0A}"/>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9878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2B8-927D-3440-A90F-CEE85721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37DF9-7AE9-244A-B880-477F51666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B2535-D060-6345-9A9D-248269C20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1F656-2CF8-3C40-BFA2-38D3E456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9AB57-D4A7-A44B-9DC2-3238EBA3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2D1E4-9846-5948-BE81-54250E2A19C6}"/>
              </a:ext>
            </a:extLst>
          </p:cNvPr>
          <p:cNvSpPr>
            <a:spLocks noGrp="1"/>
          </p:cNvSpPr>
          <p:nvPr>
            <p:ph type="dt" sz="half" idx="10"/>
          </p:nvPr>
        </p:nvSpPr>
        <p:spPr/>
        <p:txBody>
          <a:bodyPr/>
          <a:lstStyle/>
          <a:p>
            <a:fld id="{21DDE3A9-9D48-7D40-AF95-520AE186EA5D}" type="datetimeFigureOut">
              <a:rPr lang="en-US" smtClean="0"/>
              <a:t>11/12/25</a:t>
            </a:fld>
            <a:endParaRPr lang="en-US"/>
          </a:p>
        </p:txBody>
      </p:sp>
      <p:sp>
        <p:nvSpPr>
          <p:cNvPr id="8" name="Footer Placeholder 7">
            <a:extLst>
              <a:ext uri="{FF2B5EF4-FFF2-40B4-BE49-F238E27FC236}">
                <a16:creationId xmlns:a16="http://schemas.microsoft.com/office/drawing/2014/main" id="{AD127541-6DB6-BF46-9566-A28E02A60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06EEE-891D-834D-A782-1C80536A829E}"/>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08205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B81-6CFF-BB42-B48A-62FE961F09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95E796-21ED-0646-ACBF-271AEEB75975}"/>
              </a:ext>
            </a:extLst>
          </p:cNvPr>
          <p:cNvSpPr>
            <a:spLocks noGrp="1"/>
          </p:cNvSpPr>
          <p:nvPr>
            <p:ph type="dt" sz="half" idx="10"/>
          </p:nvPr>
        </p:nvSpPr>
        <p:spPr/>
        <p:txBody>
          <a:bodyPr/>
          <a:lstStyle/>
          <a:p>
            <a:fld id="{21DDE3A9-9D48-7D40-AF95-520AE186EA5D}" type="datetimeFigureOut">
              <a:rPr lang="en-US" smtClean="0"/>
              <a:t>11/12/25</a:t>
            </a:fld>
            <a:endParaRPr lang="en-US"/>
          </a:p>
        </p:txBody>
      </p:sp>
      <p:sp>
        <p:nvSpPr>
          <p:cNvPr id="4" name="Footer Placeholder 3">
            <a:extLst>
              <a:ext uri="{FF2B5EF4-FFF2-40B4-BE49-F238E27FC236}">
                <a16:creationId xmlns:a16="http://schemas.microsoft.com/office/drawing/2014/main" id="{F818FDD5-F21A-134E-AA9A-2830EBC81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6FD440-2197-894C-BBF5-275EB6A7E5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8853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E7DC6-C98E-4D41-8312-C6A00B9175D8}"/>
              </a:ext>
            </a:extLst>
          </p:cNvPr>
          <p:cNvSpPr>
            <a:spLocks noGrp="1"/>
          </p:cNvSpPr>
          <p:nvPr>
            <p:ph type="dt" sz="half" idx="10"/>
          </p:nvPr>
        </p:nvSpPr>
        <p:spPr/>
        <p:txBody>
          <a:bodyPr/>
          <a:lstStyle/>
          <a:p>
            <a:fld id="{21DDE3A9-9D48-7D40-AF95-520AE186EA5D}" type="datetimeFigureOut">
              <a:rPr lang="en-US" smtClean="0"/>
              <a:t>11/12/25</a:t>
            </a:fld>
            <a:endParaRPr lang="en-US"/>
          </a:p>
        </p:txBody>
      </p:sp>
      <p:sp>
        <p:nvSpPr>
          <p:cNvPr id="3" name="Footer Placeholder 2">
            <a:extLst>
              <a:ext uri="{FF2B5EF4-FFF2-40B4-BE49-F238E27FC236}">
                <a16:creationId xmlns:a16="http://schemas.microsoft.com/office/drawing/2014/main" id="{0D7D30B3-F181-1740-9B5B-0C72FEA43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48BF8-D524-E946-A5F8-6EDB8EC65ADC}"/>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6319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C6B-44FC-DF4B-A8BD-B9B86A46C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0512D-A868-3942-8652-3DCABEFC8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B6CDD-B55E-CF40-A890-84FFA90C2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9B9BC-EA10-2643-91D2-3C7BEB05A9F2}"/>
              </a:ext>
            </a:extLst>
          </p:cNvPr>
          <p:cNvSpPr>
            <a:spLocks noGrp="1"/>
          </p:cNvSpPr>
          <p:nvPr>
            <p:ph type="dt" sz="half" idx="10"/>
          </p:nvPr>
        </p:nvSpPr>
        <p:spPr/>
        <p:txBody>
          <a:bodyPr/>
          <a:lstStyle/>
          <a:p>
            <a:fld id="{21DDE3A9-9D48-7D40-AF95-520AE186EA5D}" type="datetimeFigureOut">
              <a:rPr lang="en-US" smtClean="0"/>
              <a:t>11/12/25</a:t>
            </a:fld>
            <a:endParaRPr lang="en-US"/>
          </a:p>
        </p:txBody>
      </p:sp>
      <p:sp>
        <p:nvSpPr>
          <p:cNvPr id="6" name="Footer Placeholder 5">
            <a:extLst>
              <a:ext uri="{FF2B5EF4-FFF2-40B4-BE49-F238E27FC236}">
                <a16:creationId xmlns:a16="http://schemas.microsoft.com/office/drawing/2014/main" id="{BBE1C55D-AE82-E348-AA9F-92C252030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800D4-D451-3941-ABED-C84A75035F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59121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4BDC-8058-8A4C-9BB2-057FDB83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7E264-76A7-5245-B655-C26D83912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22F39-AC8F-9242-8291-F11D54004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346B85-9220-174D-9DEE-0F36C1282C62}"/>
              </a:ext>
            </a:extLst>
          </p:cNvPr>
          <p:cNvSpPr>
            <a:spLocks noGrp="1"/>
          </p:cNvSpPr>
          <p:nvPr>
            <p:ph type="dt" sz="half" idx="10"/>
          </p:nvPr>
        </p:nvSpPr>
        <p:spPr/>
        <p:txBody>
          <a:bodyPr/>
          <a:lstStyle/>
          <a:p>
            <a:fld id="{21DDE3A9-9D48-7D40-AF95-520AE186EA5D}" type="datetimeFigureOut">
              <a:rPr lang="en-US" smtClean="0"/>
              <a:t>11/12/25</a:t>
            </a:fld>
            <a:endParaRPr lang="en-US"/>
          </a:p>
        </p:txBody>
      </p:sp>
      <p:sp>
        <p:nvSpPr>
          <p:cNvPr id="6" name="Footer Placeholder 5">
            <a:extLst>
              <a:ext uri="{FF2B5EF4-FFF2-40B4-BE49-F238E27FC236}">
                <a16:creationId xmlns:a16="http://schemas.microsoft.com/office/drawing/2014/main" id="{F2313209-F023-304D-B738-0493FEA82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32D87-2351-334C-BE56-4B8A31CED346}"/>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98447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A934-82C2-4642-9056-03D6888AC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7669D-25CA-F248-A4A3-81DBDBF73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BB9E-51D5-534F-9A5F-0DE70E1D6DD6}"/>
              </a:ext>
            </a:extLst>
          </p:cNvPr>
          <p:cNvSpPr>
            <a:spLocks noGrp="1"/>
          </p:cNvSpPr>
          <p:nvPr>
            <p:ph type="dt" sz="half" idx="10"/>
          </p:nvPr>
        </p:nvSpPr>
        <p:spPr/>
        <p:txBody>
          <a:bodyPr/>
          <a:lstStyle/>
          <a:p>
            <a:fld id="{21DDE3A9-9D48-7D40-AF95-520AE186EA5D}" type="datetimeFigureOut">
              <a:rPr lang="en-US" smtClean="0"/>
              <a:t>11/12/25</a:t>
            </a:fld>
            <a:endParaRPr lang="en-US"/>
          </a:p>
        </p:txBody>
      </p:sp>
      <p:sp>
        <p:nvSpPr>
          <p:cNvPr id="5" name="Footer Placeholder 4">
            <a:extLst>
              <a:ext uri="{FF2B5EF4-FFF2-40B4-BE49-F238E27FC236}">
                <a16:creationId xmlns:a16="http://schemas.microsoft.com/office/drawing/2014/main" id="{AFB600DF-C942-F44F-84F3-4E7BC2F0D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AEA3C-3249-9B4A-B424-1F83C20D484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78113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50C8A5-DD27-8040-BD1A-86BF1F2936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36609-7FEC-1340-94C8-5409F510C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A5258-5E66-DE42-A23B-E1D3C015A36C}"/>
              </a:ext>
            </a:extLst>
          </p:cNvPr>
          <p:cNvSpPr>
            <a:spLocks noGrp="1"/>
          </p:cNvSpPr>
          <p:nvPr>
            <p:ph type="dt" sz="half" idx="10"/>
          </p:nvPr>
        </p:nvSpPr>
        <p:spPr/>
        <p:txBody>
          <a:bodyPr/>
          <a:lstStyle/>
          <a:p>
            <a:fld id="{21DDE3A9-9D48-7D40-AF95-520AE186EA5D}" type="datetimeFigureOut">
              <a:rPr lang="en-US" smtClean="0"/>
              <a:t>11/12/25</a:t>
            </a:fld>
            <a:endParaRPr lang="en-US"/>
          </a:p>
        </p:txBody>
      </p:sp>
      <p:sp>
        <p:nvSpPr>
          <p:cNvPr id="5" name="Footer Placeholder 4">
            <a:extLst>
              <a:ext uri="{FF2B5EF4-FFF2-40B4-BE49-F238E27FC236}">
                <a16:creationId xmlns:a16="http://schemas.microsoft.com/office/drawing/2014/main" id="{7858C25B-3FDB-BD4C-8299-934B911F0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38FA-EF83-EA42-9E21-8B8892B656F5}"/>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4641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E0A7-698E-D742-A4C4-45629B746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4D6F1A-825E-2B4D-8FFE-066CF32E2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61E9B-BC61-3141-8DBB-53CB9EC8D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DE3A9-9D48-7D40-AF95-520AE186EA5D}" type="datetimeFigureOut">
              <a:rPr lang="en-US" smtClean="0"/>
              <a:t>11/12/25</a:t>
            </a:fld>
            <a:endParaRPr lang="en-US"/>
          </a:p>
        </p:txBody>
      </p:sp>
      <p:sp>
        <p:nvSpPr>
          <p:cNvPr id="5" name="Footer Placeholder 4">
            <a:extLst>
              <a:ext uri="{FF2B5EF4-FFF2-40B4-BE49-F238E27FC236}">
                <a16:creationId xmlns:a16="http://schemas.microsoft.com/office/drawing/2014/main" id="{4054E5A4-CAAB-9C49-8EEB-830328D99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F919D9-A8E0-C542-ADA8-7A31C9A61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6A688-FD6D-2B46-9274-DA17D6C87077}" type="slidenum">
              <a:rPr lang="en-US" smtClean="0"/>
              <a:t>‹#›</a:t>
            </a:fld>
            <a:endParaRPr lang="en-US"/>
          </a:p>
        </p:txBody>
      </p:sp>
    </p:spTree>
    <p:extLst>
      <p:ext uri="{BB962C8B-B14F-4D97-AF65-F5344CB8AC3E}">
        <p14:creationId xmlns:p14="http://schemas.microsoft.com/office/powerpoint/2010/main" val="34406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jpe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jpe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7.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420258" y="3013501"/>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18</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Arthropods 3</a:t>
            </a:r>
          </a:p>
        </p:txBody>
      </p:sp>
    </p:spTree>
    <p:extLst>
      <p:ext uri="{BB962C8B-B14F-4D97-AF65-F5344CB8AC3E}">
        <p14:creationId xmlns:p14="http://schemas.microsoft.com/office/powerpoint/2010/main" val="111664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7067162" y="3099871"/>
            <a:ext cx="4426854" cy="2786381"/>
          </a:xfrm>
          <a:prstGeom prst="rect">
            <a:avLst/>
          </a:prstGeom>
        </p:spPr>
      </p:pic>
      <p:sp>
        <p:nvSpPr>
          <p:cNvPr id="4" name="Rectangle 3"/>
          <p:cNvSpPr/>
          <p:nvPr/>
        </p:nvSpPr>
        <p:spPr>
          <a:xfrm>
            <a:off x="681923" y="779890"/>
            <a:ext cx="6214820" cy="2554545"/>
          </a:xfrm>
          <a:prstGeom prst="rect">
            <a:avLst/>
          </a:prstGeom>
        </p:spPr>
        <p:txBody>
          <a:bodyPr wrap="square">
            <a:spAutoFit/>
          </a:bodyPr>
          <a:lstStyle/>
          <a:p>
            <a:r>
              <a:rPr lang="en-US" sz="4000" dirty="0">
                <a:solidFill>
                  <a:schemeClr val="bg1"/>
                </a:solidFill>
                <a:latin typeface="Avenir Book" charset="0"/>
                <a:cs typeface="Avenir Book" charset="0"/>
              </a:rPr>
              <a:t>Order </a:t>
            </a:r>
            <a:r>
              <a:rPr lang="en-US" sz="4000" dirty="0" err="1">
                <a:solidFill>
                  <a:schemeClr val="bg1"/>
                </a:solidFill>
                <a:latin typeface="Avenir Book" charset="0"/>
                <a:cs typeface="Avenir Book" charset="0"/>
              </a:rPr>
              <a:t>Diptera</a:t>
            </a:r>
            <a:r>
              <a:rPr lang="en-US" sz="4000" dirty="0">
                <a:solidFill>
                  <a:schemeClr val="bg1"/>
                </a:solidFill>
                <a:latin typeface="Avenir Book" charset="0"/>
                <a:cs typeface="Avenir Book" charset="0"/>
              </a:rPr>
              <a:t> (flies)</a:t>
            </a:r>
          </a:p>
          <a:p>
            <a:r>
              <a:rPr lang="en-US" sz="4000" dirty="0">
                <a:solidFill>
                  <a:schemeClr val="bg1"/>
                </a:solidFill>
                <a:latin typeface="Avenir Book" charset="0"/>
                <a:cs typeface="Avenir Book" charset="0"/>
              </a:rPr>
              <a:t>	Family </a:t>
            </a:r>
            <a:r>
              <a:rPr lang="en-US" sz="4000" dirty="0" err="1">
                <a:solidFill>
                  <a:schemeClr val="bg1"/>
                </a:solidFill>
                <a:latin typeface="Avenir Book" charset="0"/>
                <a:cs typeface="Avenir Book" charset="0"/>
              </a:rPr>
              <a:t>Muscidae</a:t>
            </a:r>
            <a:endParaRPr lang="en-US" sz="4000" dirty="0">
              <a:solidFill>
                <a:schemeClr val="bg1"/>
              </a:solidFill>
              <a:latin typeface="Avenir Book" charset="0"/>
              <a:cs typeface="Avenir Book" charset="0"/>
            </a:endParaRPr>
          </a:p>
          <a:p>
            <a:r>
              <a:rPr lang="en-US" sz="4000" dirty="0">
                <a:solidFill>
                  <a:schemeClr val="bg1"/>
                </a:solidFill>
                <a:latin typeface="Avenir Book" charset="0"/>
                <a:cs typeface="Avenir Book" charset="0"/>
              </a:rPr>
              <a:t>		common house fly			</a:t>
            </a:r>
            <a:endParaRPr lang="en-US" sz="4000" i="1" dirty="0">
              <a:solidFill>
                <a:schemeClr val="bg1"/>
              </a:solidFill>
              <a:latin typeface="Avenir Book" charset="0"/>
              <a:cs typeface="Avenir Book" charset="0"/>
            </a:endParaRPr>
          </a:p>
        </p:txBody>
      </p:sp>
      <p:sp>
        <p:nvSpPr>
          <p:cNvPr id="16385" name="Text Box 1027"/>
          <p:cNvSpPr txBox="1">
            <a:spLocks noChangeArrowheads="1"/>
          </p:cNvSpPr>
          <p:nvPr/>
        </p:nvSpPr>
        <p:spPr bwMode="auto">
          <a:xfrm>
            <a:off x="697984" y="2908011"/>
            <a:ext cx="6679705" cy="31700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bg1"/>
                </a:solidFill>
                <a:latin typeface="Times" charset="0"/>
                <a:ea typeface="ＭＳ Ｐゴシック" charset="0"/>
                <a:cs typeface="ＭＳ Ｐゴシック" charset="0"/>
              </a:defRPr>
            </a:lvl1pPr>
            <a:lvl2pPr marL="742950" indent="-285750">
              <a:defRPr sz="2400">
                <a:solidFill>
                  <a:schemeClr val="bg1"/>
                </a:solidFill>
                <a:latin typeface="Times" charset="0"/>
                <a:ea typeface="ＭＳ Ｐゴシック" charset="0"/>
              </a:defRPr>
            </a:lvl2pPr>
            <a:lvl3pPr marL="1143000" indent="-228600">
              <a:defRPr sz="2400">
                <a:solidFill>
                  <a:schemeClr val="bg1"/>
                </a:solidFill>
                <a:latin typeface="Times" charset="0"/>
                <a:ea typeface="ＭＳ Ｐゴシック" charset="0"/>
              </a:defRPr>
            </a:lvl3pPr>
            <a:lvl4pPr marL="1600200" indent="-228600">
              <a:defRPr sz="2400">
                <a:solidFill>
                  <a:schemeClr val="bg1"/>
                </a:solidFill>
                <a:latin typeface="Times" charset="0"/>
                <a:ea typeface="ＭＳ Ｐゴシック" charset="0"/>
              </a:defRPr>
            </a:lvl4pPr>
            <a:lvl5pPr marL="2057400" indent="-228600">
              <a:defRPr sz="2400">
                <a:solidFill>
                  <a:schemeClr val="bg1"/>
                </a:solidFill>
                <a:latin typeface="Times" charset="0"/>
                <a:ea typeface="ＭＳ Ｐゴシック" charset="0"/>
              </a:defRPr>
            </a:lvl5pPr>
            <a:lvl6pPr marL="2514600" indent="-228600" eaLnBrk="0" fontAlgn="base" hangingPunct="0">
              <a:spcBef>
                <a:spcPct val="0"/>
              </a:spcBef>
              <a:spcAft>
                <a:spcPct val="0"/>
              </a:spcAft>
              <a:defRPr sz="2400">
                <a:solidFill>
                  <a:schemeClr val="bg1"/>
                </a:solidFill>
                <a:latin typeface="Times" charset="0"/>
                <a:ea typeface="ＭＳ Ｐゴシック" charset="0"/>
              </a:defRPr>
            </a:lvl6pPr>
            <a:lvl7pPr marL="2971800" indent="-228600" eaLnBrk="0" fontAlgn="base" hangingPunct="0">
              <a:spcBef>
                <a:spcPct val="0"/>
              </a:spcBef>
              <a:spcAft>
                <a:spcPct val="0"/>
              </a:spcAft>
              <a:defRPr sz="2400">
                <a:solidFill>
                  <a:schemeClr val="bg1"/>
                </a:solidFill>
                <a:latin typeface="Times" charset="0"/>
                <a:ea typeface="ＭＳ Ｐゴシック" charset="0"/>
              </a:defRPr>
            </a:lvl7pPr>
            <a:lvl8pPr marL="3429000" indent="-228600" eaLnBrk="0" fontAlgn="base" hangingPunct="0">
              <a:spcBef>
                <a:spcPct val="0"/>
              </a:spcBef>
              <a:spcAft>
                <a:spcPct val="0"/>
              </a:spcAft>
              <a:defRPr sz="2400">
                <a:solidFill>
                  <a:schemeClr val="bg1"/>
                </a:solidFill>
                <a:latin typeface="Times" charset="0"/>
                <a:ea typeface="ＭＳ Ｐゴシック" charset="0"/>
              </a:defRPr>
            </a:lvl8pPr>
            <a:lvl9pPr marL="3886200" indent="-228600" eaLnBrk="0" fontAlgn="base" hangingPunct="0">
              <a:spcBef>
                <a:spcPct val="0"/>
              </a:spcBef>
              <a:spcAft>
                <a:spcPct val="0"/>
              </a:spcAft>
              <a:defRPr sz="2400">
                <a:solidFill>
                  <a:schemeClr val="bg1"/>
                </a:solidFill>
                <a:latin typeface="Times" charset="0"/>
                <a:ea typeface="ＭＳ Ｐゴシック" charset="0"/>
              </a:defRPr>
            </a:lvl9pPr>
          </a:lstStyle>
          <a:p>
            <a:pPr marL="457200" indent="-457200">
              <a:buFont typeface="Arial"/>
              <a:buChar char="•"/>
            </a:pPr>
            <a:r>
              <a:rPr lang="en-US" sz="2500" dirty="0" err="1">
                <a:solidFill>
                  <a:srgbClr val="FFFFFF"/>
                </a:solidFill>
                <a:latin typeface="Avenir Book" charset="0"/>
                <a:cs typeface="Avenir Book" charset="0"/>
              </a:rPr>
              <a:t>synanthropic</a:t>
            </a:r>
            <a:endParaRPr lang="en-US" sz="2500" dirty="0">
              <a:solidFill>
                <a:srgbClr val="FFFFFF"/>
              </a:solidFill>
              <a:latin typeface="Avenir Book" charset="0"/>
              <a:cs typeface="Avenir Book" charset="0"/>
            </a:endParaRPr>
          </a:p>
          <a:p>
            <a:pPr marL="457200" indent="-457200">
              <a:buFont typeface="Arial"/>
              <a:buChar char="•"/>
            </a:pPr>
            <a:r>
              <a:rPr lang="en-US" sz="2500" dirty="0">
                <a:solidFill>
                  <a:srgbClr val="FFFFFF"/>
                </a:solidFill>
                <a:latin typeface="Avenir Book" charset="0"/>
                <a:cs typeface="Avenir Book" charset="0"/>
              </a:rPr>
              <a:t>not vectors, but do transport parasites</a:t>
            </a:r>
          </a:p>
          <a:p>
            <a:pPr marL="457200" indent="-457200">
              <a:buFont typeface="Arial"/>
              <a:buChar char="•"/>
            </a:pPr>
            <a:r>
              <a:rPr lang="en-US" sz="2500" dirty="0">
                <a:solidFill>
                  <a:srgbClr val="FFFFFF"/>
                </a:solidFill>
                <a:latin typeface="Avenir Book" charset="0"/>
                <a:cs typeface="Avenir Book" charset="0"/>
              </a:rPr>
              <a:t>how?</a:t>
            </a:r>
          </a:p>
          <a:p>
            <a:pPr marL="1200150" lvl="1" indent="-457200">
              <a:buFont typeface="Arial"/>
              <a:buChar char="•"/>
            </a:pPr>
            <a:r>
              <a:rPr lang="en-US" sz="2500" dirty="0">
                <a:solidFill>
                  <a:srgbClr val="FFFFFF"/>
                </a:solidFill>
                <a:latin typeface="Avenir Book" charset="0"/>
                <a:cs typeface="Avenir Book" charset="0"/>
              </a:rPr>
              <a:t>hairy</a:t>
            </a:r>
          </a:p>
          <a:p>
            <a:pPr marL="1200150" lvl="1" indent="-457200">
              <a:buFont typeface="Arial"/>
              <a:buChar char="•"/>
            </a:pPr>
            <a:r>
              <a:rPr lang="en-US" sz="2500" dirty="0">
                <a:solidFill>
                  <a:srgbClr val="FFFFFF"/>
                </a:solidFill>
                <a:latin typeface="Avenir Book" charset="0"/>
                <a:cs typeface="Avenir Book" charset="0"/>
              </a:rPr>
              <a:t>sticky foot pads</a:t>
            </a:r>
          </a:p>
          <a:p>
            <a:pPr marL="1200150" lvl="1" indent="-457200">
              <a:buFont typeface="Arial"/>
              <a:buChar char="•"/>
            </a:pPr>
            <a:r>
              <a:rPr lang="en-US" sz="2500" dirty="0">
                <a:solidFill>
                  <a:srgbClr val="FFFFFF"/>
                </a:solidFill>
                <a:latin typeface="Avenir Book" charset="0"/>
                <a:cs typeface="Avenir Book" charset="0"/>
              </a:rPr>
              <a:t>love human food and human poo</a:t>
            </a:r>
          </a:p>
          <a:p>
            <a:pPr marL="1200150" lvl="1" indent="-457200">
              <a:buFont typeface="Arial"/>
              <a:buChar char="•"/>
            </a:pPr>
            <a:r>
              <a:rPr lang="en-US" sz="2500" dirty="0">
                <a:solidFill>
                  <a:srgbClr val="FFFFFF"/>
                </a:solidFill>
                <a:latin typeface="Avenir Book" charset="0"/>
                <a:cs typeface="Avenir Book" charset="0"/>
              </a:rPr>
              <a:t>move easily between indoor and outdoor</a:t>
            </a:r>
          </a:p>
        </p:txBody>
      </p:sp>
    </p:spTree>
    <p:extLst>
      <p:ext uri="{BB962C8B-B14F-4D97-AF65-F5344CB8AC3E}">
        <p14:creationId xmlns:p14="http://schemas.microsoft.com/office/powerpoint/2010/main" val="3123389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8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8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38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38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38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5" grpId="0" build="p" bldLvl="5"/>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801509" y="1280894"/>
            <a:ext cx="10634133" cy="3170099"/>
          </a:xfrm>
          <a:prstGeom prst="rect">
            <a:avLst/>
          </a:prstGeom>
          <a:noFill/>
          <a:ln w="9525">
            <a:noFill/>
            <a:miter lim="800000"/>
            <a:headEnd/>
            <a:tailEnd/>
          </a:ln>
          <a:effectLst/>
        </p:spPr>
        <p:txBody>
          <a:bodyPr wrap="square">
            <a:spAutoFit/>
          </a:bodyPr>
          <a:lstStyle/>
          <a:p>
            <a:pPr>
              <a:defRPr/>
            </a:pPr>
            <a:r>
              <a:rPr lang="en-US" sz="4000" b="1" dirty="0">
                <a:latin typeface="Avenir"/>
                <a:cs typeface="Avenir"/>
              </a:rPr>
              <a:t>Q1. Given what you know about parasites transmitted by contact with feces, what human diseases do you think might be transmitted when house flies visit human food?</a:t>
            </a:r>
          </a:p>
        </p:txBody>
      </p:sp>
      <p:pic>
        <p:nvPicPr>
          <p:cNvPr id="2" name="Picture 1">
            <a:extLst>
              <a:ext uri="{FF2B5EF4-FFF2-40B4-BE49-F238E27FC236}">
                <a16:creationId xmlns:a16="http://schemas.microsoft.com/office/drawing/2014/main" id="{9FACBA41-11B5-F54D-A1B8-5709EE3A2B76}"/>
              </a:ext>
            </a:extLst>
          </p:cNvPr>
          <p:cNvPicPr>
            <a:picLocks noChangeAspect="1"/>
          </p:cNvPicPr>
          <p:nvPr/>
        </p:nvPicPr>
        <p:blipFill>
          <a:blip r:embed="rId3"/>
          <a:stretch>
            <a:fillRect/>
          </a:stretch>
        </p:blipFill>
        <p:spPr>
          <a:xfrm>
            <a:off x="4423139" y="4636973"/>
            <a:ext cx="3345721" cy="541574"/>
          </a:xfrm>
          <a:prstGeom prst="rect">
            <a:avLst/>
          </a:prstGeom>
        </p:spPr>
      </p:pic>
    </p:spTree>
    <p:extLst>
      <p:ext uri="{BB962C8B-B14F-4D97-AF65-F5344CB8AC3E}">
        <p14:creationId xmlns:p14="http://schemas.microsoft.com/office/powerpoint/2010/main" val="1373655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CBFB2-BFFB-3599-EF8A-78CC1DECEFE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29B0A6A-5D84-5892-3740-AC99135DCAC6}"/>
              </a:ext>
            </a:extLst>
          </p:cNvPr>
          <p:cNvSpPr>
            <a:spLocks noGrp="1"/>
          </p:cNvSpPr>
          <p:nvPr>
            <p:ph type="subTitle" idx="1"/>
          </p:nvPr>
        </p:nvSpPr>
        <p:spPr/>
        <p:txBody>
          <a:bodyPr/>
          <a:lstStyle/>
          <a:p>
            <a:endParaRPr lang="en-US"/>
          </a:p>
        </p:txBody>
      </p:sp>
      <p:pic>
        <p:nvPicPr>
          <p:cNvPr id="5" name="slide.url=https://www.polleverywhere.com/discourses/yFGR56I4k9Fvt2SrSqSvt">
            <a:extLst>
              <a:ext uri="{FF2B5EF4-FFF2-40B4-BE49-F238E27FC236}">
                <a16:creationId xmlns:a16="http://schemas.microsoft.com/office/drawing/2014/main" id="{E87AE415-3190-A5B6-3CFA-838CC34161AE}"/>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2591673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541339" y="456681"/>
            <a:ext cx="11109322"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Q2. mosquito control</a:t>
            </a:r>
            <a:endParaRPr lang="en-US" sz="35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5541116" y="1389408"/>
            <a:ext cx="6384713" cy="3554819"/>
          </a:xfrm>
          <a:prstGeom prst="rect">
            <a:avLst/>
          </a:prstGeom>
          <a:noFill/>
          <a:ln w="9525">
            <a:noFill/>
            <a:miter lim="800000"/>
            <a:headEnd/>
            <a:tailEnd/>
          </a:ln>
          <a:effectLst/>
        </p:spPr>
        <p:txBody>
          <a:bodyPr wrap="square">
            <a:spAutoFit/>
          </a:bodyPr>
          <a:lstStyle/>
          <a:p>
            <a:pPr>
              <a:defRPr/>
            </a:pPr>
            <a:r>
              <a:rPr lang="en-US" sz="2500" dirty="0">
                <a:latin typeface="Avenir"/>
                <a:cs typeface="Avenir"/>
              </a:rPr>
              <a:t>Imagine that you work for the Washington State Department of Health and imagine that the Asian tiger mosquito (an invasive species that can vector dengue, Zika, and chikungunya) arrives in Seattle. You are tasked with developing a response.</a:t>
            </a:r>
          </a:p>
          <a:p>
            <a:pPr marL="457200" indent="-457200">
              <a:buFont typeface="Arial" panose="020B0604020202020204" pitchFamily="34" charset="0"/>
              <a:buChar char="•"/>
              <a:defRPr/>
            </a:pPr>
            <a:r>
              <a:rPr lang="en-US" sz="2500" dirty="0">
                <a:latin typeface="Avenir"/>
                <a:cs typeface="Avenir"/>
              </a:rPr>
              <a:t>What do you do?</a:t>
            </a:r>
          </a:p>
          <a:p>
            <a:pPr marL="457200" indent="-457200">
              <a:buFont typeface="Arial" panose="020B0604020202020204" pitchFamily="34" charset="0"/>
              <a:buChar char="•"/>
              <a:defRPr/>
            </a:pPr>
            <a:r>
              <a:rPr lang="en-US" sz="2500" dirty="0">
                <a:latin typeface="Avenir"/>
                <a:cs typeface="Avenir"/>
              </a:rPr>
              <a:t>How will you know whether your approach is working?  </a:t>
            </a:r>
          </a:p>
        </p:txBody>
      </p:sp>
      <p:sp>
        <p:nvSpPr>
          <p:cNvPr id="5" name="Rectangle 4">
            <a:extLst>
              <a:ext uri="{FF2B5EF4-FFF2-40B4-BE49-F238E27FC236}">
                <a16:creationId xmlns:a16="http://schemas.microsoft.com/office/drawing/2014/main" id="{04ACF7BE-A912-524C-AD45-3381DA4E8D59}"/>
              </a:ext>
            </a:extLst>
          </p:cNvPr>
          <p:cNvSpPr>
            <a:spLocks noChangeArrowheads="1"/>
          </p:cNvSpPr>
          <p:nvPr/>
        </p:nvSpPr>
        <p:spPr bwMode="auto">
          <a:xfrm>
            <a:off x="3394451" y="5550137"/>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(4 m), discuss with your group </a:t>
            </a:r>
          </a:p>
          <a:p>
            <a:pPr>
              <a:defRPr/>
            </a:pPr>
            <a:r>
              <a:rPr lang="en-US" sz="2600" b="1" dirty="0">
                <a:latin typeface="Avenir"/>
                <a:cs typeface="Avenir"/>
              </a:rPr>
              <a:t>(6 m), then share with the class.</a:t>
            </a:r>
          </a:p>
        </p:txBody>
      </p:sp>
      <p:pic>
        <p:nvPicPr>
          <p:cNvPr id="6" name="Picture 5">
            <a:extLst>
              <a:ext uri="{FF2B5EF4-FFF2-40B4-BE49-F238E27FC236}">
                <a16:creationId xmlns:a16="http://schemas.microsoft.com/office/drawing/2014/main" id="{97D70B30-0637-3040-852E-BF4B78D0FE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pic>
        <p:nvPicPr>
          <p:cNvPr id="1026" name="Picture 2" descr="undefined">
            <a:extLst>
              <a:ext uri="{FF2B5EF4-FFF2-40B4-BE49-F238E27FC236}">
                <a16:creationId xmlns:a16="http://schemas.microsoft.com/office/drawing/2014/main" id="{F7463CF8-2035-732F-54C8-A12D5865D3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648" y="1574154"/>
            <a:ext cx="4810393" cy="313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05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wo maps of the United States showing potential range of Aedes aegypti and Aedes albopictus in 2017. The maps use colors to indicate the ability for the mosquitoes to live and reproduce.">
            <a:extLst>
              <a:ext uri="{FF2B5EF4-FFF2-40B4-BE49-F238E27FC236}">
                <a16:creationId xmlns:a16="http://schemas.microsoft.com/office/drawing/2014/main" id="{9E60635B-C804-C421-6AD8-94A01A1E8DC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082"/>
          <a:stretch>
            <a:fillRect/>
          </a:stretch>
        </p:blipFill>
        <p:spPr bwMode="auto">
          <a:xfrm>
            <a:off x="2905245" y="0"/>
            <a:ext cx="620788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74C470F-4827-B959-CEB8-3F32D612EDB2}"/>
              </a:ext>
            </a:extLst>
          </p:cNvPr>
          <p:cNvSpPr>
            <a:spLocks noChangeArrowheads="1"/>
          </p:cNvSpPr>
          <p:nvPr/>
        </p:nvSpPr>
        <p:spPr bwMode="auto">
          <a:xfrm>
            <a:off x="7917466" y="5239894"/>
            <a:ext cx="1357163" cy="492443"/>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CDC</a:t>
            </a:r>
          </a:p>
        </p:txBody>
      </p:sp>
    </p:spTree>
    <p:extLst>
      <p:ext uri="{BB962C8B-B14F-4D97-AF65-F5344CB8AC3E}">
        <p14:creationId xmlns:p14="http://schemas.microsoft.com/office/powerpoint/2010/main" val="1204777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02112-9E6B-1545-CF76-0E239F1FC7A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0A90DBF-2726-806F-900C-3D69FA185D5E}"/>
              </a:ext>
            </a:extLst>
          </p:cNvPr>
          <p:cNvSpPr>
            <a:spLocks noChangeArrowheads="1"/>
          </p:cNvSpPr>
          <p:nvPr/>
        </p:nvSpPr>
        <p:spPr bwMode="auto">
          <a:xfrm>
            <a:off x="541339" y="456681"/>
            <a:ext cx="11109322"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Q2. mosquito control</a:t>
            </a:r>
            <a:endParaRPr lang="en-US" sz="3500" b="1" i="1" dirty="0">
              <a:latin typeface="Avenir"/>
              <a:cs typeface="Avenir"/>
            </a:endParaRPr>
          </a:p>
        </p:txBody>
      </p:sp>
      <p:sp>
        <p:nvSpPr>
          <p:cNvPr id="4" name="Rectangle 3">
            <a:extLst>
              <a:ext uri="{FF2B5EF4-FFF2-40B4-BE49-F238E27FC236}">
                <a16:creationId xmlns:a16="http://schemas.microsoft.com/office/drawing/2014/main" id="{18C7B913-A92A-4477-6C4E-ACA6D20E2113}"/>
              </a:ext>
            </a:extLst>
          </p:cNvPr>
          <p:cNvSpPr>
            <a:spLocks noChangeArrowheads="1"/>
          </p:cNvSpPr>
          <p:nvPr/>
        </p:nvSpPr>
        <p:spPr bwMode="auto">
          <a:xfrm>
            <a:off x="5541116" y="1389408"/>
            <a:ext cx="6384713" cy="3554819"/>
          </a:xfrm>
          <a:prstGeom prst="rect">
            <a:avLst/>
          </a:prstGeom>
          <a:noFill/>
          <a:ln w="9525">
            <a:noFill/>
            <a:miter lim="800000"/>
            <a:headEnd/>
            <a:tailEnd/>
          </a:ln>
          <a:effectLst/>
        </p:spPr>
        <p:txBody>
          <a:bodyPr wrap="square">
            <a:spAutoFit/>
          </a:bodyPr>
          <a:lstStyle/>
          <a:p>
            <a:pPr>
              <a:defRPr/>
            </a:pPr>
            <a:r>
              <a:rPr lang="en-US" sz="2500" dirty="0">
                <a:latin typeface="Avenir"/>
                <a:cs typeface="Avenir"/>
              </a:rPr>
              <a:t>Imagine that you work for the Washington State Department of Health and imagine that the Asian tiger mosquito (an invasive species that can vector dengue, Zika, and chikungunya) arrives in Seattle. You are tasked with developing a response.</a:t>
            </a:r>
          </a:p>
          <a:p>
            <a:pPr marL="457200" indent="-457200">
              <a:buFont typeface="Arial" panose="020B0604020202020204" pitchFamily="34" charset="0"/>
              <a:buChar char="•"/>
              <a:defRPr/>
            </a:pPr>
            <a:r>
              <a:rPr lang="en-US" sz="2500" dirty="0">
                <a:latin typeface="Avenir"/>
                <a:cs typeface="Avenir"/>
              </a:rPr>
              <a:t>What do you do?</a:t>
            </a:r>
          </a:p>
          <a:p>
            <a:pPr marL="457200" indent="-457200">
              <a:buFont typeface="Arial" panose="020B0604020202020204" pitchFamily="34" charset="0"/>
              <a:buChar char="•"/>
              <a:defRPr/>
            </a:pPr>
            <a:r>
              <a:rPr lang="en-US" sz="2500" dirty="0">
                <a:latin typeface="Avenir"/>
                <a:cs typeface="Avenir"/>
              </a:rPr>
              <a:t>How will you know whether your approach is working?  </a:t>
            </a:r>
          </a:p>
        </p:txBody>
      </p:sp>
      <p:sp>
        <p:nvSpPr>
          <p:cNvPr id="5" name="Rectangle 4">
            <a:extLst>
              <a:ext uri="{FF2B5EF4-FFF2-40B4-BE49-F238E27FC236}">
                <a16:creationId xmlns:a16="http://schemas.microsoft.com/office/drawing/2014/main" id="{F7D3AE2E-AA6D-7F2C-9E67-52E9F9BD4314}"/>
              </a:ext>
            </a:extLst>
          </p:cNvPr>
          <p:cNvSpPr>
            <a:spLocks noChangeArrowheads="1"/>
          </p:cNvSpPr>
          <p:nvPr/>
        </p:nvSpPr>
        <p:spPr bwMode="auto">
          <a:xfrm>
            <a:off x="3394451" y="5550137"/>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(4 m), discuss with your group </a:t>
            </a:r>
          </a:p>
          <a:p>
            <a:pPr>
              <a:defRPr/>
            </a:pPr>
            <a:r>
              <a:rPr lang="en-US" sz="2600" b="1" dirty="0">
                <a:latin typeface="Avenir"/>
                <a:cs typeface="Avenir"/>
              </a:rPr>
              <a:t>(6 m), then share with the class.</a:t>
            </a:r>
          </a:p>
        </p:txBody>
      </p:sp>
      <p:pic>
        <p:nvPicPr>
          <p:cNvPr id="6" name="Picture 5">
            <a:extLst>
              <a:ext uri="{FF2B5EF4-FFF2-40B4-BE49-F238E27FC236}">
                <a16:creationId xmlns:a16="http://schemas.microsoft.com/office/drawing/2014/main" id="{658DE8E2-D6E9-794F-B7CF-CAE7CF98532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pic>
        <p:nvPicPr>
          <p:cNvPr id="1026" name="Picture 2" descr="undefined">
            <a:extLst>
              <a:ext uri="{FF2B5EF4-FFF2-40B4-BE49-F238E27FC236}">
                <a16:creationId xmlns:a16="http://schemas.microsoft.com/office/drawing/2014/main" id="{4E627CC0-7F3E-535C-76FB-158D59B692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648" y="1574154"/>
            <a:ext cx="4810393" cy="313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17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541339" y="502244"/>
            <a:ext cx="11109322"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Q3. ecology of onchocerciasis</a:t>
            </a:r>
            <a:endParaRPr lang="en-US" sz="35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5935851" y="1558714"/>
            <a:ext cx="5943679" cy="3323987"/>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You are in charge of a forest restoration project in East Africa. Your job is to make sure that there are no negative human health consequences of this restoration project. How do you proceed?</a:t>
            </a:r>
          </a:p>
        </p:txBody>
      </p:sp>
      <p:sp>
        <p:nvSpPr>
          <p:cNvPr id="5" name="Rectangle 4">
            <a:extLst>
              <a:ext uri="{FF2B5EF4-FFF2-40B4-BE49-F238E27FC236}">
                <a16:creationId xmlns:a16="http://schemas.microsoft.com/office/drawing/2014/main" id="{04ACF7BE-A912-524C-AD45-3381DA4E8D59}"/>
              </a:ext>
            </a:extLst>
          </p:cNvPr>
          <p:cNvSpPr>
            <a:spLocks noChangeArrowheads="1"/>
          </p:cNvSpPr>
          <p:nvPr/>
        </p:nvSpPr>
        <p:spPr bwMode="auto">
          <a:xfrm>
            <a:off x="3394451" y="5550137"/>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(4 m), discuss with your group </a:t>
            </a:r>
          </a:p>
          <a:p>
            <a:pPr>
              <a:defRPr/>
            </a:pPr>
            <a:r>
              <a:rPr lang="en-US" sz="2600" b="1">
                <a:latin typeface="Avenir"/>
                <a:cs typeface="Avenir"/>
              </a:rPr>
              <a:t>(6 </a:t>
            </a:r>
            <a:r>
              <a:rPr lang="en-US" sz="2600" b="1" dirty="0">
                <a:latin typeface="Avenir"/>
                <a:cs typeface="Avenir"/>
              </a:rPr>
              <a:t>m), then share with the class.</a:t>
            </a:r>
          </a:p>
        </p:txBody>
      </p:sp>
      <p:pic>
        <p:nvPicPr>
          <p:cNvPr id="6" name="Picture 5">
            <a:extLst>
              <a:ext uri="{FF2B5EF4-FFF2-40B4-BE49-F238E27FC236}">
                <a16:creationId xmlns:a16="http://schemas.microsoft.com/office/drawing/2014/main" id="{97D70B30-0637-3040-852E-BF4B78D0FE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pic>
        <p:nvPicPr>
          <p:cNvPr id="8" name="Picture 7">
            <a:extLst>
              <a:ext uri="{FF2B5EF4-FFF2-40B4-BE49-F238E27FC236}">
                <a16:creationId xmlns:a16="http://schemas.microsoft.com/office/drawing/2014/main" id="{D6114BB7-4799-0343-8B78-C54F467BFE7C}"/>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541339" y="1466904"/>
            <a:ext cx="5232414" cy="3416400"/>
          </a:xfrm>
          <a:prstGeom prst="rect">
            <a:avLst/>
          </a:prstGeom>
        </p:spPr>
      </p:pic>
    </p:spTree>
    <p:extLst>
      <p:ext uri="{BB962C8B-B14F-4D97-AF65-F5344CB8AC3E}">
        <p14:creationId xmlns:p14="http://schemas.microsoft.com/office/powerpoint/2010/main" val="125562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420258" y="3013501"/>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18</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Arthropods 3</a:t>
            </a:r>
          </a:p>
        </p:txBody>
      </p:sp>
    </p:spTree>
    <p:extLst>
      <p:ext uri="{BB962C8B-B14F-4D97-AF65-F5344CB8AC3E}">
        <p14:creationId xmlns:p14="http://schemas.microsoft.com/office/powerpoint/2010/main" val="1082973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7876</TotalTime>
  <Words>393</Words>
  <Application>Microsoft Macintosh PowerPoint</Application>
  <PresentationFormat>Widescreen</PresentationFormat>
  <Paragraphs>41</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Avenir</vt:lpstr>
      <vt:lpstr>Avenir Book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Chelsea L. Wood</dc:creator>
  <cp:lastModifiedBy>Chelsea Wood</cp:lastModifiedBy>
  <cp:revision>171</cp:revision>
  <dcterms:created xsi:type="dcterms:W3CDTF">2020-04-03T14:55:00Z</dcterms:created>
  <dcterms:modified xsi:type="dcterms:W3CDTF">2025-11-12T19:28:53Z</dcterms:modified>
</cp:coreProperties>
</file>