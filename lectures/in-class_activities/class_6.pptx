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80" r:id="rId2"/>
    <p:sldId id="715" r:id="rId3"/>
    <p:sldId id="716" r:id="rId4"/>
    <p:sldId id="714" r:id="rId5"/>
    <p:sldId id="712" r:id="rId6"/>
    <p:sldId id="720" r:id="rId7"/>
    <p:sldId id="721" r:id="rId8"/>
    <p:sldId id="7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84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42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8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5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15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07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Name one microparasite</a:t>
            </a:r>
          </a:p>
          <a:p>
            <a:r>
              <a:rPr lang="en-US"/>
              <a:t>https://www.polleverywhere.com/free_text_polls/1tmJyt0UcEOmnwFFsYh1n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10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Name one macroparasite</a:t>
            </a:r>
          </a:p>
          <a:p>
            <a:r>
              <a:rPr lang="en-US"/>
              <a:t>https://www.polleverywhere.com/free_text_polls/FzcFp94mZGXZ0OD73sF5S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86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3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6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Turbellarians, </a:t>
            </a:r>
            <a:r>
              <a:rPr lang="en-US" sz="4800" dirty="0" err="1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fecampiids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, and </a:t>
            </a:r>
            <a:r>
              <a:rPr lang="en-US" sz="4800" dirty="0" err="1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monogenes</a:t>
            </a:r>
            <a:endParaRPr lang="en-US" sz="4800" dirty="0">
              <a:solidFill>
                <a:srgbClr val="FFFFFF"/>
              </a:solidFill>
              <a:latin typeface="Avenir Book" panose="02000503020000020003" pitchFamily="2" charset="0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983" y="334863"/>
            <a:ext cx="7066033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b="1" dirty="0">
                <a:latin typeface="Avenir"/>
                <a:cs typeface="Avenir"/>
              </a:rPr>
              <a:t>Q1. commensal versus parasite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46C97-D958-FD43-966A-BF2A6706D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431211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(5 m) then share with the class (5 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FFA79-A980-C544-9079-7FB56D39B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183" y="5321734"/>
            <a:ext cx="3037028" cy="1234618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2D266CA3-B538-C74E-B5C0-0CFEC902BA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35" y="1771245"/>
            <a:ext cx="4598019" cy="26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DA32B6-642D-E045-9838-AFB157F1A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418" y="1249200"/>
            <a:ext cx="666749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Avenir"/>
                <a:cs typeface="Avenir"/>
              </a:rPr>
              <a:t>Turbellarians are generally considered to be commensals, but the line between commensal and parasite can sometimes get blurry.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Think about the </a:t>
            </a:r>
            <a:r>
              <a:rPr lang="en-US" sz="2400" dirty="0" err="1">
                <a:latin typeface="Avenir"/>
                <a:cs typeface="Avenir"/>
              </a:rPr>
              <a:t>temnocephalids</a:t>
            </a:r>
            <a:r>
              <a:rPr lang="en-US" sz="2400" dirty="0">
                <a:latin typeface="Avenir"/>
                <a:cs typeface="Avenir"/>
              </a:rPr>
              <a:t> (turbellarians parasitic on freshwater crustaceans like crayfish).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What are some circumstances in which </a:t>
            </a:r>
            <a:r>
              <a:rPr lang="en-US" sz="2400" dirty="0" err="1">
                <a:latin typeface="Avenir"/>
                <a:cs typeface="Avenir"/>
              </a:rPr>
              <a:t>temnocephalid</a:t>
            </a:r>
            <a:r>
              <a:rPr lang="en-US" sz="2400" dirty="0">
                <a:latin typeface="Avenir"/>
                <a:cs typeface="Avenir"/>
              </a:rPr>
              <a:t> commensals might become parasitic?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Generate at least three ideas.</a:t>
            </a:r>
          </a:p>
        </p:txBody>
      </p:sp>
    </p:spTree>
    <p:extLst>
      <p:ext uri="{BB962C8B-B14F-4D97-AF65-F5344CB8AC3E}">
        <p14:creationId xmlns:p14="http://schemas.microsoft.com/office/powerpoint/2010/main" val="316055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983" y="136004"/>
            <a:ext cx="7066033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Q2. killing your host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46C97-D958-FD43-966A-BF2A6706D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545514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(5 m), discuss with a partner (5 m), then share with the class (5 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FFA79-A980-C544-9079-7FB56D39B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183" y="5436037"/>
            <a:ext cx="3037028" cy="12346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DA32B6-642D-E045-9838-AFB157F1A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6" y="785493"/>
            <a:ext cx="9572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Avenir"/>
                <a:cs typeface="Avenir"/>
              </a:rPr>
              <a:t>Generally parasites don’t have incentives to kill their hosts. </a:t>
            </a:r>
          </a:p>
          <a:p>
            <a:pPr algn="ctr">
              <a:defRPr/>
            </a:pPr>
            <a:r>
              <a:rPr lang="en-US" sz="2400" dirty="0">
                <a:latin typeface="Avenir"/>
                <a:cs typeface="Avenir"/>
              </a:rPr>
              <a:t>So why do the </a:t>
            </a:r>
            <a:r>
              <a:rPr lang="en-US" sz="2400" dirty="0" err="1">
                <a:latin typeface="Avenir"/>
                <a:cs typeface="Avenir"/>
              </a:rPr>
              <a:t>fecampiids</a:t>
            </a:r>
            <a:r>
              <a:rPr lang="en-US" sz="2400" dirty="0">
                <a:latin typeface="Avenir"/>
                <a:cs typeface="Avenir"/>
              </a:rPr>
              <a:t> do it?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3481930-32CA-E149-9C09-41CED1B8C8A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46" t="2284" r="-10496"/>
          <a:stretch/>
        </p:blipFill>
        <p:spPr bwMode="auto">
          <a:xfrm>
            <a:off x="1209675" y="1725967"/>
            <a:ext cx="10684142" cy="3595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07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190858"/>
            <a:ext cx="11649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host specificity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FDACC-4EF5-E74C-8D56-ECAC63222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8774" y="5203918"/>
            <a:ext cx="849034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Google Doc on your own (5 m), then discuss and make a debate plan with your group       (5 m), then debate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76115-8B07-BF49-9DDC-5F3B697C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3164" y="5295566"/>
            <a:ext cx="3037028" cy="1234618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981565" y="1052777"/>
            <a:ext cx="666749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Avenir"/>
                <a:cs typeface="Avenir"/>
              </a:rPr>
              <a:t>The </a:t>
            </a:r>
            <a:r>
              <a:rPr lang="en-US" sz="2400" dirty="0" err="1">
                <a:latin typeface="Avenir"/>
                <a:cs typeface="Avenir"/>
              </a:rPr>
              <a:t>monogenes</a:t>
            </a:r>
            <a:r>
              <a:rPr lang="en-US" sz="2400" dirty="0">
                <a:latin typeface="Avenir"/>
                <a:cs typeface="Avenir"/>
              </a:rPr>
              <a:t> exhibit extreme host specificity. If you are a species looking to increase your fitness, is it good or bad to evolve extreme host specificity?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First, brainstorm ideas on our Google Doc.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Then, the class will be split into six groups.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Three groups will argue for the benefits of extreme host specificity.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Three groups will argue for the risks of extreme host specificity.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B7E6B50-3575-AF4C-B3FA-F301641E4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58"/>
          <a:stretch/>
        </p:blipFill>
        <p:spPr bwMode="auto">
          <a:xfrm>
            <a:off x="982655" y="947947"/>
            <a:ext cx="3675063" cy="39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611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2516451"/>
            <a:ext cx="116490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Q4. </a:t>
            </a:r>
            <a:r>
              <a:rPr lang="en-US" sz="4000" b="1" dirty="0" err="1">
                <a:latin typeface="Avenir"/>
                <a:cs typeface="Avenir"/>
              </a:rPr>
              <a:t>macroparasites</a:t>
            </a:r>
            <a:r>
              <a:rPr lang="en-US" sz="4000" b="1" dirty="0">
                <a:latin typeface="Avenir"/>
                <a:cs typeface="Avenir"/>
              </a:rPr>
              <a:t> versus microparasites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3484755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2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818-9C93-6725-04C0-97E7EBE41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3245C-DD27-66E5-A94E-10E338629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1tmJyt0UcEOmnwFFsYh1n">
            <a:extLst>
              <a:ext uri="{FF2B5EF4-FFF2-40B4-BE49-F238E27FC236}">
                <a16:creationId xmlns:a16="http://schemas.microsoft.com/office/drawing/2014/main" id="{17088A43-A610-8331-129F-D82B0536340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98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C8B7-B36C-3B54-9BFA-DEEA48D63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F5A37-6138-4221-9B26-26511483CD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FzcFp94mZGXZ0OD73sF5S">
            <a:extLst>
              <a:ext uri="{FF2B5EF4-FFF2-40B4-BE49-F238E27FC236}">
                <a16:creationId xmlns:a16="http://schemas.microsoft.com/office/drawing/2014/main" id="{9046046F-2FA1-F6D4-DA80-EE76CA1AB4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9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6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Turbellarians, </a:t>
            </a:r>
            <a:r>
              <a:rPr lang="en-US" sz="4800" dirty="0" err="1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fecampiids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, and </a:t>
            </a:r>
            <a:r>
              <a:rPr lang="en-US" sz="4800" dirty="0" err="1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monogenes</a:t>
            </a:r>
            <a:endParaRPr lang="en-US" sz="4800" dirty="0">
              <a:solidFill>
                <a:srgbClr val="FFFFFF"/>
              </a:solidFill>
              <a:latin typeface="Avenir Book" panose="02000503020000020003" pitchFamily="2" charset="0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2439505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4695</TotalTime>
  <Words>353</Words>
  <Application>Microsoft Macintosh PowerPoint</Application>
  <PresentationFormat>Widescreen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79</cp:revision>
  <dcterms:created xsi:type="dcterms:W3CDTF">2020-04-03T14:55:00Z</dcterms:created>
  <dcterms:modified xsi:type="dcterms:W3CDTF">2025-10-10T18:22:25Z</dcterms:modified>
</cp:coreProperties>
</file>